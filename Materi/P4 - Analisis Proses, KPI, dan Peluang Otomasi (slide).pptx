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6"/>
    <p:sldId id="286" r:id="rId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Pertemuan terakhir Bagian 1. Setelah ini kita pindah ke cara kerja AI agent, jadi hari ini semacam penutup cara berpikir proses.</a:t>
            </a:r>
          </a:p>
          <a:p/>
          <a:p>
            <a:r>
              <a:t>Sebut juga dari awal: Tugas 1 terbit di akhir sesi. Biasanya kelas jadi lebih fokus.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titik konflik nomor 7 dari studi kasus Pertemuan 2. Tanya kelas: waktu mengerjakan Latihan 1, kalian pakai angka yang mana? Kebanyakan pakai 7 hari karena itu yang tertulis.</a:t>
            </a:r>
          </a:p>
          <a:p/>
          <a:p>
            <a:r>
              <a:t>Jangan dijawab dulu siapa yang benar. Poinnya: tanpa data, keduanya cuma klaim.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GANTI ISI SLIDE INI dengan pola yang benar-benar kamu temukan waktu memeriksa Latihan 2. Yang tertulis sekarang tebakan pola yang paling mungkin.</a:t>
            </a:r>
          </a:p>
          <a:p/>
          <a:p>
            <a:r>
              <a:t>Bahas sebagai pola, tanpa nama. Lima menit cukup. Semua poin ini akan dinilai lagi di Tugas 1, jadi sampaikan juga bahwa mereka masih bisa memperbaikinya.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peta, satu menit. Kaitkan dengan proyek akhir: Bagian 1 dan 2 proyek akhir (proses as-is dan penilaian peluang otomasi) dikerjakan dengan materi hari ini.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Cepat saja. Bilang studi kasusnya mulai menit ke-60 dan butuh laptop atau kalkulator.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Bacaan untuk bagian ini Dumas dkk Bab 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Minta kelas mengelompokkan lima langkah dari model Latihan 1 mereka sendiri. Biasanya ada perdebatan di BVA: apakah survei itu VA atau BVA? Bagus, karena jawabannya tergantung sudut pandang nasabah.</a:t>
            </a:r>
          </a:p>
          <a:p/>
          <a:p>
            <a:r>
              <a:t>BVA bukan berarti boleh dibiarkan. BVA biasanya kandidat yang bagus untuk diotomasi, karena harus ada tapi tidak perlu dikerjakan orang.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Pengelompokan ini mengikuti Dumas dkk: move, hold, overdo. Asalnya dari tujuh pemborosan di manufaktur (Toyota), diadaptasi untuk proses jasa.</a:t>
            </a:r>
          </a:p>
          <a:p/>
          <a:p>
            <a:r>
              <a:t>Tanyakan: di kasus klaim Pertemuan 2, pemborosan apa yang paling banyak disebut? Jawabannya menunggu: dokumen, survei, persetujuan.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Masalahnya diambil dari cerita Pak Agus: klaim tertahan hampir sebulan, dan tidak ada yang tahu kenapa.</a:t>
            </a:r>
          </a:p>
          <a:p/>
          <a:p>
            <a:r>
              <a:t>Tiap cabang berhenti di sesuatu yang bisa diperbaiki. Cabang yang berhenti di “Korwil sibuk” belum selesai, karena itu bukan akar yang bisa ditindaklanjuti.</a:t>
            </a:r>
          </a:p>
          <a:p/>
          <a:p>
            <a:r>
              <a:t>Tekankan bahwa semua kotak paling kanan masih dugaan. Itu jembatan ke Modul 2: dugaan dicek dengan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Kolom yang biasanya dilupakan mahasiswa: data dan asumsi. Tanpa kolom itu, issue register cuma daftar keluhan.</a:t>
            </a:r>
          </a:p>
          <a:p/>
          <a:p>
            <a:r>
              <a:t>Asumsi “1 dari 6 klaim di atas 25 juta” itu karangan untuk contoh, dan itu yang harus disampaikan: asumsi boleh, asal ditulis dan bisa dicek nanti. Di Dumas dkk, dampak dibagi jadi kualitatif dan kuantitatif. Di slide ini disatukan biar muat.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Angka lima hari di slide ini contoh, bukan data. Penutup Modul 1. Cek waktu: menit ke-30.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Bacaan: Dumas dkk Bab 7, dan van der Aalst Bab 1 sampai 2 untuk process mining.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satu permintaan endorsement. Batang gelap itu waktu dikerjakan, batang terang waktu menunggu. Hampir seluruh garis isinya menunggu.</a:t>
            </a:r>
          </a:p>
          <a:p/>
          <a:p>
            <a:r>
              <a:t>Istilahnya cycle time efficiency: waktu dikerjakan dibagi cycle time. Angka sekecil ini biasa di proses berbasis dokumen. Yang jarang adalah orang yang mau menghitungnya.</a:t>
            </a:r>
          </a:p>
          <a:p/>
          <a:p>
            <a:r>
              <a:t>Pertanyaan untuk kelas: kalau AI membuat semua batang gelap jadi nol detik, cycle time-nya turun berapa? Hampir tidak turun. Simpan pertanyaan ini sampai studi kasus.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Tugas 1 minta minimal cycle time, waiting time, dan satu ukuran kualitas. Rework rate atau error rate paling gampang.</a:t>
            </a:r>
          </a:p>
          <a:p/>
          <a:p>
            <a:r>
              <a:t>Cost per case juga ada di silabus. Sebut saja secara lisan: biaya orang dan sistem dibagi jumlah kasus. Jarang ada datanya di level mahasiswa, jadi tidak diwajibkan.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pola dari Dumas dkk Bab 7. Berurutan: dijumlah. Percabangan XOR: dirata-rata dengan peluangnya. Rework: waktu satu putaran dibagi (1 dikurangi peluang mengulang).</a:t>
            </a:r>
          </a:p>
          <a:p/>
          <a:p>
            <a:r>
              <a:t>Contoh rework diambil dari Dewi: bolak-balik 2 sampai 3 kali, artinya rata-rata sekitar 2,5 putaran. Itu sama dengan peluang mengulang 0,6. Kalau satu putaran pemeriksaan butuh 2 hari, rata-ratanya jadi 5 hari.</a:t>
            </a:r>
          </a:p>
          <a:p/>
          <a:p>
            <a:r>
              <a:t>Pola AND (paralel) juga ada: ambil yang paling lama. Cukup disebut lisan.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Rumusnya L = λ × W. Kelihatannya sepele, tapi ini cara cepat mengecek klaim atasan. Kalau ada yang bilang “tumpukan klaim kita cuma 20” padahal yang masuk 40 per minggu, berarti cycle time-nya setengah minggu. Masuk akal atau tidak?</a:t>
            </a:r>
          </a:p>
          <a:p/>
          <a:p>
            <a:r>
              <a:t>Angka 40 klaim per minggu di slide ini contoh.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Tiap sistem yang mencatat siapa mengerjakan apa dan kapan sebenarnya menyimpan event log. Minimal tiga kolom: nomor kasus, aktivitas, dan waktu. Kolom petugas bagus kalau ada.</a:t>
            </a:r>
          </a:p>
          <a:p/>
          <a:p>
            <a:r>
              <a:t>Dari tabel seperti ini, peta prosesnya bisa digambar otomatis lengkap dengan angka frekuensi. Itu yang dikerjakan alat process mining. Hari ini kita kerjakan sebagian dengan tangan di studi kasus.</a:t>
            </a:r>
          </a:p>
          <a:p/>
          <a:p>
            <a:r>
              <a:t>Peta di slide sengaja disederhanakan. Peta hasil alat sungguhan juga akan menunjukkan jalur pintas untuk endorsement administratif (tanpa hitung premi dan persetujuan) dan satu jalur koreksi. Kalau ada mahasiswa yang bertanya kenapa angkanya tidak sama di tiap kotak, itu jawabannya.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Istilah dari van der Aalst. Conformance checking paling menarik untuk asuransi, karena regulator dan auditor peduli apakah prosesnya sesuai prosedur.</a:t>
            </a:r>
          </a:p>
          <a:p/>
          <a:p>
            <a:r>
              <a:t>Tutup dengan takeaway: process mining tidak menggantikan wawancara. Keduanya saling mengecek.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Penutup Modul 2. Cek waktu: menit ke-45.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Bagian ini jembatan ke Bagian 2 mata kuliah. Mulai Pertemuan 5 kita bahas AI agent.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sumbu dari silabus: volume, variasi masukan, kadar judgment, dan tingkat risiko.</a:t>
            </a:r>
          </a:p>
          <a:p/>
          <a:p>
            <a:r>
              <a:t>Cara bacanya: volume menentukan apakah layak diotomasi. Tiga sumbu sisanya menentukan pakai apa. Volume rendah tapi risiko tinggi, biasanya tidak perlu diotomasi sama sekali.</a:t>
            </a:r>
          </a:p>
          <a:p/>
          <a:p>
            <a:r>
              <a:t>Hubungkan ke Pertemuan 3: kadar judgment itu yang kemarin kita labeli J, dan kebijakan yang kabur (label K) bahkan belum boleh masuk matriks ini.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Baris terakhir yang paling penting disampaikan. Mahasiswa cenderung menganggap “tetap manusia” sebagai jawaban yang kalah. Padahal memutuskan bagian mana yang tetap dipegang manusia itu sama pentingnya dengan memilih teknologinya.</a:t>
            </a:r>
          </a:p>
          <a:p/>
          <a:p>
            <a:r>
              <a:t>RPA layak dibahas sebentar: dulu dianggap jalan pintas, sekarang banyak dipakai sebagai solusi sementara sampai sistemnya punya API.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kasus tagihan: yang lebih efektif mungkin memberi bengkel daftar periksa Foto Epoxy sebelum mengirim. Tidak butuh AI sama sekali.</a:t>
            </a:r>
          </a:p>
          <a:p/>
          <a:p>
            <a:r>
              <a:t>Cek waktu: menit ke-60. Bagikan bahan kasus sekarang.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BAGIKAN BAHAN KASUS: event log versi cetak atau berkas Excel, lembar hitung, dan daftar sepuluh aktivitas klaim.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endorsement singkat: perubahan pada polis yang sudah terbit. Contohnya ganti nomor polisi kendaraan, ganti alamat, menaikkan nilai pertanggungan, atau menambah perluasan jaminan. Dua jenis terakhir mengubah premi, jadi harus dihitung dan disetujui underwriter.</a:t>
            </a:r>
          </a:p>
          <a:p/>
          <a:p>
            <a:r>
              <a:t>Jangan bocorkan apa-apa soal jadwal persetujuan. Biar mereka menemukan sendiri dari data.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tidak ada laptop, cukup hitung cycle time dalam hari dari tanggal dan jam. Tidak perlu presisi sampai menit.</a:t>
            </a:r>
          </a:p>
          <a:p/>
          <a:p>
            <a:r>
              <a:t>Keliling saat Tahap A. Yang dicari: kelompok yang sadar persetujuan selalu terjadi Selasa atau Kamis jam 14.00. Itu kelompok yang paling layak diminta cerita.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Tampilkan satu per satu, setelah kelompok menyampaikan hasilnya.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angka di slide ini dihitung langsung dari event log. Rincian per kasus dan per aktivitas ada di kunci.</a:t>
            </a:r>
          </a:p>
          <a:p/>
          <a:p>
            <a:r>
              <a:t>Perhatikan juga: rata-rata jenis yang mengubah premi 6,0 hari, yang tidak 4,5 hari. Selisihnya tidak sebesar yang orang duga, karena kasus administratif juga kena dokumen kurang dan satu koreksi. Ini contoh bagus kenapa rata-rata per jenis harus dibaca bareng penyebabnya.</a:t>
            </a:r>
          </a:p>
          <a:p/>
          <a:p>
            <a:r>
              <a:t>Pertanyaan lanjutan untuk kelas: kenapa persetujuan dikumpulkan dua kali seminggu? Bisa jadi ada alasannya, misalnya underwriter senior cuma satu orang. Itu pertanyaan untuk wawancara berikutnya, bukan alasan untuk langsung mengubahnya.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 saja, tidak perlu diperluas.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Tegaskan dua hal. Pertama, ini tugas berbobot pertama, bukan latihan. Kedua, yang sudah mengerjakan Latihan 1 dan 2 dengan serius tinggal merapikan dan menambah tiga bagian.</a:t>
            </a:r>
          </a:p>
          <a:p/>
          <a:p>
            <a:r>
              <a:t>Boleh pakai proses klaim kendaraan atau proses asuransi lain. Yang ganti proses kehilangan bahan dari dua latihan, jadi sampaikan itu terang-terangan.</a:t>
            </a:r>
          </a:p>
          <a:p/>
          <a:p>
            <a:r>
              <a:t>Ingatkan AI Usage Statement wajib.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Pertemuan 5 masuk Bagian 2: anatomi AI agent. Pengalaman “AI yang salah” akan dipakai sebagai bahan diskusi mode kegagalan.</a:t>
            </a:r>
          </a:p>
          <a:p/>
          <a:p>
            <a:r>
              <a:t>Dokumentasi Claude Code bisa dibaca gratis tanpa akun.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7C86"/>
        </a:solidFill>
        <a:effectLst/>
      </p:bgPr>
    </p:bg>
    <p:spTree>
      <p:nvGrpSpPr>
        <p:cNvPr id="1" name=""/>
        <p:cNvGrpSpPr/>
        <p:nvPr/>
      </p:nvGrpSpPr>
      <p:grpSpPr/>
      <p:sp>
        <p:nvSpPr>
          <p:cNvPr id="2" name="Oval 1"/>
          <p:cNvSpPr/>
          <p:nvPr/>
        </p:nvSpPr>
        <p:spPr>
          <a:xfrm>
            <a:off x="9052560" y="-1371600"/>
            <a:ext cx="4754880" cy="475488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3200400"/>
            <a:ext cx="4023360" cy="40233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663440"/>
            <a:ext cx="3108960" cy="3108960"/>
          </a:xfrm>
          <a:prstGeom prst="ellipse">
            <a:avLst/>
          </a:prstGeom>
          <a:solidFill>
            <a:srgbClr val="2B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61320" y="658368"/>
            <a:ext cx="1005840" cy="100584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993392"/>
            <a:ext cx="8229600" cy="292608"/>
          </a:xfrm>
          <a:prstGeom prst="rect">
            <a:avLst/>
          </a:prstGeom>
          <a:noFill/>
        </p:spPr>
        <p:txBody>
          <a:bodyPr wrap="square" lIns="0" rIns="0" tIns="0" bIns="0" anchor="t">
            <a:spAutoFit/>
          </a:bodyPr>
          <a:lstStyle/>
          <a:p>
            <a:pPr algn="l">
              <a:lnSpc>
                <a:spcPct val="100000"/>
              </a:lnSpc>
              <a:spcAft>
                <a:spcPts val="0"/>
              </a:spcAft>
            </a:pPr>
            <a:r>
              <a:rPr sz="1250" b="1" i="0">
                <a:solidFill>
                  <a:srgbClr val="AFE4E9"/>
                </a:solidFill>
                <a:latin typeface="Calibri"/>
              </a:rPr>
              <a:t>PERTEMUAN 4  |  AGENTIC CODING WITH AI</a:t>
            </a:r>
          </a:p>
        </p:txBody>
      </p:sp>
      <p:sp>
        <p:nvSpPr>
          <p:cNvPr id="7" name="TextBox 6"/>
          <p:cNvSpPr txBox="1"/>
          <p:nvPr/>
        </p:nvSpPr>
        <p:spPr>
          <a:xfrm>
            <a:off x="658368" y="2395728"/>
            <a:ext cx="8686800" cy="822960"/>
          </a:xfrm>
          <a:prstGeom prst="rect">
            <a:avLst/>
          </a:prstGeom>
          <a:noFill/>
        </p:spPr>
        <p:txBody>
          <a:bodyPr wrap="square" lIns="0" rIns="0" tIns="0" bIns="0" anchor="t">
            <a:spAutoFit/>
          </a:bodyPr>
          <a:lstStyle/>
          <a:p>
            <a:pPr algn="l">
              <a:lnSpc>
                <a:spcPct val="100000"/>
              </a:lnSpc>
              <a:spcAft>
                <a:spcPts val="0"/>
              </a:spcAft>
            </a:pPr>
            <a:r>
              <a:rPr sz="4600" b="1" i="0">
                <a:solidFill>
                  <a:srgbClr val="FFFFFF"/>
                </a:solidFill>
                <a:latin typeface="Calibri"/>
              </a:rPr>
              <a:t>Analisis Proses, KPI, dan</a:t>
            </a:r>
          </a:p>
        </p:txBody>
      </p:sp>
      <p:sp>
        <p:nvSpPr>
          <p:cNvPr id="8" name="TextBox 7"/>
          <p:cNvSpPr txBox="1"/>
          <p:nvPr/>
        </p:nvSpPr>
        <p:spPr>
          <a:xfrm>
            <a:off x="658368" y="3127248"/>
            <a:ext cx="8686800" cy="822960"/>
          </a:xfrm>
          <a:prstGeom prst="rect">
            <a:avLst/>
          </a:prstGeom>
          <a:noFill/>
        </p:spPr>
        <p:txBody>
          <a:bodyPr wrap="square" lIns="0" rIns="0" tIns="0" bIns="0" anchor="t">
            <a:spAutoFit/>
          </a:bodyPr>
          <a:lstStyle/>
          <a:p>
            <a:pPr algn="l">
              <a:lnSpc>
                <a:spcPct val="100000"/>
              </a:lnSpc>
              <a:spcAft>
                <a:spcPts val="0"/>
              </a:spcAft>
            </a:pPr>
            <a:r>
              <a:rPr sz="4600" b="1" i="0">
                <a:solidFill>
                  <a:srgbClr val="FFFFFF"/>
                </a:solidFill>
                <a:latin typeface="Calibri"/>
              </a:rPr>
              <a:t>Peluang Otomasi</a:t>
            </a:r>
          </a:p>
        </p:txBody>
      </p:sp>
      <p:sp>
        <p:nvSpPr>
          <p:cNvPr id="9" name="TextBox 8"/>
          <p:cNvSpPr txBox="1"/>
          <p:nvPr/>
        </p:nvSpPr>
        <p:spPr>
          <a:xfrm>
            <a:off x="658368" y="4114800"/>
            <a:ext cx="8046720" cy="548640"/>
          </a:xfrm>
          <a:prstGeom prst="rect">
            <a:avLst/>
          </a:prstGeom>
          <a:noFill/>
        </p:spPr>
        <p:txBody>
          <a:bodyPr wrap="square" lIns="0" rIns="0" tIns="0" bIns="0" anchor="t">
            <a:spAutoFit/>
          </a:bodyPr>
          <a:lstStyle/>
          <a:p>
            <a:pPr algn="l">
              <a:lnSpc>
                <a:spcPct val="120000"/>
              </a:lnSpc>
              <a:spcAft>
                <a:spcPts val="0"/>
              </a:spcAft>
            </a:pPr>
            <a:r>
              <a:rPr sz="1600" b="0" i="0">
                <a:solidFill>
                  <a:srgbClr val="AFE4E9"/>
                </a:solidFill>
                <a:latin typeface="Calibri"/>
              </a:rPr>
              <a:t>Sebelum bilang “ini bisa diotomasi”, ukur dulu prosesnya.</a:t>
            </a:r>
          </a:p>
        </p:txBody>
      </p:sp>
      <p:sp>
        <p:nvSpPr>
          <p:cNvPr id="10" name="TextBox 9"/>
          <p:cNvSpPr txBox="1"/>
          <p:nvPr/>
        </p:nvSpPr>
        <p:spPr>
          <a:xfrm>
            <a:off x="658368" y="5074920"/>
            <a:ext cx="8229600" cy="320040"/>
          </a:xfrm>
          <a:prstGeom prst="rect">
            <a:avLst/>
          </a:prstGeom>
          <a:noFill/>
        </p:spPr>
        <p:txBody>
          <a:bodyPr wrap="square" lIns="0" rIns="0" tIns="0" bIns="0" anchor="t">
            <a:spAutoFit/>
          </a:bodyPr>
          <a:lstStyle/>
          <a:p>
            <a:pPr algn="l">
              <a:lnSpc>
                <a:spcPct val="100000"/>
              </a:lnSpc>
              <a:spcAft>
                <a:spcPts val="0"/>
              </a:spcAft>
            </a:pPr>
            <a:r>
              <a:rPr sz="1250" b="0" i="0">
                <a:solidFill>
                  <a:srgbClr val="AFE4E9"/>
                </a:solidFill>
                <a:latin typeface="Calibri"/>
              </a:rPr>
              <a:t>Untuk Mahasiswa Informatika  Universitas Kristen Satya Wacana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BALIK KE PERTEMUAN 2</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Tujuh hari atau dua minggu?</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2</a:t>
            </a:r>
          </a:p>
        </p:txBody>
      </p:sp>
      <p:sp>
        <p:nvSpPr>
          <p:cNvPr id="6" name="Rectangle 5"/>
          <p:cNvSpPr/>
          <p:nvPr/>
        </p:nvSpPr>
        <p:spPr>
          <a:xfrm>
            <a:off x="658368" y="2578608"/>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688336"/>
            <a:ext cx="9960864" cy="832103"/>
          </a:xfrm>
          <a:prstGeom prst="rect">
            <a:avLst/>
          </a:prstGeom>
          <a:noFill/>
        </p:spPr>
        <p:txBody>
          <a:bodyPr wrap="square" lIns="0" rIns="0" tIns="0" bIns="0" anchor="ctr">
            <a:spAutoFit/>
          </a:bodyPr>
          <a:lstStyle/>
          <a:p>
            <a:pPr algn="l">
              <a:lnSpc>
                <a:spcPct val="118000"/>
              </a:lnSpc>
              <a:spcAft>
                <a:spcPts val="0"/>
              </a:spcAft>
            </a:pPr>
            <a:r>
              <a:rPr sz="2000" b="1" i="0">
                <a:solidFill>
                  <a:srgbClr val="FFFFFF"/>
                </a:solidFill>
                <a:latin typeface="Calibri"/>
              </a:rPr>
              <a:t>SOP bilang klaim selesai 7 hari kerja. Dewi bilang rata-rata dua minggu, kadang sebulan.</a:t>
            </a:r>
          </a:p>
        </p:txBody>
      </p:sp>
      <p:sp>
        <p:nvSpPr>
          <p:cNvPr id="8" name="TextBox 7"/>
          <p:cNvSpPr txBox="1"/>
          <p:nvPr/>
        </p:nvSpPr>
        <p:spPr>
          <a:xfrm>
            <a:off x="658368" y="3941064"/>
            <a:ext cx="9352727" cy="1280160"/>
          </a:xfrm>
          <a:prstGeom prst="rect">
            <a:avLst/>
          </a:prstGeom>
          <a:noFill/>
        </p:spPr>
        <p:txBody>
          <a:bodyPr wrap="square" lIns="0" rIns="0" tIns="0" bIns="0" anchor="t">
            <a:spAutoFit/>
          </a:bodyPr>
          <a:lstStyle/>
          <a:p>
            <a:pPr algn="l">
              <a:lnSpc>
                <a:spcPct val="135000"/>
              </a:lnSpc>
              <a:spcAft>
                <a:spcPts val="1200"/>
              </a:spcAft>
            </a:pPr>
            <a:r>
              <a:rPr sz="1500" b="0" i="0">
                <a:solidFill>
                  <a:srgbClr val="5A6672"/>
                </a:solidFill>
                <a:latin typeface="Calibri"/>
              </a:rPr>
              <a:t>Dua-duanya yakin, dan dua-duanya tidak pegang angka. Di kantor, perdebatan seperti ini biasanya dimenangkan orang yang paling senior.</a:t>
            </a:r>
          </a:p>
          <a:p>
            <a:pPr algn="l">
              <a:lnSpc>
                <a:spcPct val="135000"/>
              </a:lnSpc>
              <a:spcAft>
                <a:spcPts val="1200"/>
              </a:spcAft>
            </a:pPr>
            <a:r>
              <a:rPr sz="1500" b="0" i="0">
                <a:solidFill>
                  <a:srgbClr val="5A6672"/>
                </a:solidFill>
                <a:latin typeface="Calibri"/>
              </a:rPr>
              <a:t>Hari ini kita belajar cara menjawabnya pakai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REVIEW LATIHAN 2</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Yang biasanya muncul di Latihan 2</a:t>
            </a:r>
          </a:p>
        </p:txBody>
      </p:sp>
      <p:sp>
        <p:nvSpPr>
          <p:cNvPr id="4" name="Rounded Rectangle 3"/>
          <p:cNvSpPr/>
          <p:nvPr/>
        </p:nvSpPr>
        <p:spPr>
          <a:xfrm>
            <a:off x="9019032" y="438912"/>
            <a:ext cx="2514600" cy="274320"/>
          </a:xfrm>
          <a:prstGeom prst="roundRect">
            <a:avLst/>
          </a:prstGeom>
          <a:solidFill>
            <a:srgbClr val="FF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19032" y="484632"/>
            <a:ext cx="2514600" cy="237744"/>
          </a:xfrm>
          <a:prstGeom prst="rect">
            <a:avLst/>
          </a:prstGeom>
          <a:noFill/>
        </p:spPr>
        <p:txBody>
          <a:bodyPr wrap="square" lIns="0" rIns="0" tIns="0" bIns="0" anchor="t">
            <a:spAutoFit/>
          </a:bodyPr>
          <a:lstStyle/>
          <a:p>
            <a:pPr algn="ctr">
              <a:lnSpc>
                <a:spcPct val="100000"/>
              </a:lnSpc>
              <a:spcAft>
                <a:spcPts val="0"/>
              </a:spcAft>
            </a:pPr>
            <a:r>
              <a:rPr sz="950" b="1" i="0">
                <a:solidFill>
                  <a:srgbClr val="C97A0A"/>
                </a:solidFill>
                <a:latin typeface="Calibri"/>
              </a:rPr>
              <a:t>Ganti dengan temuan nyata dari tugas</a:t>
            </a:r>
          </a:p>
        </p:txBody>
      </p:sp>
      <p:sp>
        <p:nvSpPr>
          <p:cNvPr id="6" name="TextBox 5"/>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7" name="TextBox 6"/>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3</a:t>
            </a:r>
          </a:p>
        </p:txBody>
      </p:sp>
      <p:sp>
        <p:nvSpPr>
          <p:cNvPr id="8" name="Oval 7"/>
          <p:cNvSpPr/>
          <p:nvPr/>
        </p:nvSpPr>
        <p:spPr>
          <a:xfrm>
            <a:off x="658368" y="1869948"/>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24812"/>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1</a:t>
            </a:r>
          </a:p>
        </p:txBody>
      </p:sp>
      <p:sp>
        <p:nvSpPr>
          <p:cNvPr id="10" name="TextBox 9"/>
          <p:cNvSpPr txBox="1"/>
          <p:nvPr/>
        </p:nvSpPr>
        <p:spPr>
          <a:xfrm>
            <a:off x="1225295" y="1851660"/>
            <a:ext cx="10308336" cy="420623"/>
          </a:xfrm>
          <a:prstGeom prst="rect">
            <a:avLst/>
          </a:prstGeom>
          <a:noFill/>
        </p:spPr>
        <p:txBody>
          <a:bodyPr wrap="square" lIns="0" rIns="0" tIns="0" bIns="0" anchor="t">
            <a:spAutoFit/>
          </a:bodyPr>
          <a:lstStyle/>
          <a:p>
            <a:pPr algn="l">
              <a:lnSpc>
                <a:spcPct val="130000"/>
              </a:lnSpc>
              <a:spcAft>
                <a:spcPts val="0"/>
              </a:spcAft>
            </a:pPr>
            <a:r>
              <a:rPr sz="1350" b="0" i="0">
                <a:solidFill>
                  <a:srgbClr val="1B2733"/>
                </a:solidFill>
                <a:latin typeface="Calibri"/>
              </a:rPr>
              <a:t>Semua timer digambar interrupting, termasuk yang cuma untuk pengingat.</a:t>
            </a:r>
          </a:p>
        </p:txBody>
      </p:sp>
      <p:sp>
        <p:nvSpPr>
          <p:cNvPr id="11" name="Oval 10"/>
          <p:cNvSpPr/>
          <p:nvPr/>
        </p:nvSpPr>
        <p:spPr>
          <a:xfrm>
            <a:off x="658368" y="2711196"/>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766060"/>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2</a:t>
            </a:r>
          </a:p>
        </p:txBody>
      </p:sp>
      <p:sp>
        <p:nvSpPr>
          <p:cNvPr id="13" name="TextBox 12"/>
          <p:cNvSpPr txBox="1"/>
          <p:nvPr/>
        </p:nvSpPr>
        <p:spPr>
          <a:xfrm>
            <a:off x="1225295" y="2692908"/>
            <a:ext cx="10308336" cy="420623"/>
          </a:xfrm>
          <a:prstGeom prst="rect">
            <a:avLst/>
          </a:prstGeom>
          <a:noFill/>
        </p:spPr>
        <p:txBody>
          <a:bodyPr wrap="square" lIns="0" rIns="0" tIns="0" bIns="0" anchor="t">
            <a:spAutoFit/>
          </a:bodyPr>
          <a:lstStyle/>
          <a:p>
            <a:pPr algn="l">
              <a:lnSpc>
                <a:spcPct val="130000"/>
              </a:lnSpc>
              <a:spcAft>
                <a:spcPts val="0"/>
              </a:spcAft>
            </a:pPr>
            <a:r>
              <a:rPr sz="1350" b="0" i="0">
                <a:solidFill>
                  <a:srgbClr val="1B2733"/>
                </a:solidFill>
                <a:latin typeface="Calibri"/>
              </a:rPr>
              <a:t>Hit policy U dipakai, padahal aturan tolak dari Dewi bisa cocok bersamaan.</a:t>
            </a:r>
          </a:p>
        </p:txBody>
      </p:sp>
      <p:sp>
        <p:nvSpPr>
          <p:cNvPr id="14" name="Oval 13"/>
          <p:cNvSpPr/>
          <p:nvPr/>
        </p:nvSpPr>
        <p:spPr>
          <a:xfrm>
            <a:off x="658368" y="3552444"/>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607308"/>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3</a:t>
            </a:r>
          </a:p>
        </p:txBody>
      </p:sp>
      <p:sp>
        <p:nvSpPr>
          <p:cNvPr id="16" name="TextBox 15"/>
          <p:cNvSpPr txBox="1"/>
          <p:nvPr/>
        </p:nvSpPr>
        <p:spPr>
          <a:xfrm>
            <a:off x="1225295" y="3534156"/>
            <a:ext cx="10308336" cy="420623"/>
          </a:xfrm>
          <a:prstGeom prst="rect">
            <a:avLst/>
          </a:prstGeom>
          <a:noFill/>
        </p:spPr>
        <p:txBody>
          <a:bodyPr wrap="square" lIns="0" rIns="0" tIns="0" bIns="0" anchor="t">
            <a:spAutoFit/>
          </a:bodyPr>
          <a:lstStyle/>
          <a:p>
            <a:pPr algn="l">
              <a:lnSpc>
                <a:spcPct val="130000"/>
              </a:lnSpc>
              <a:spcAft>
                <a:spcPts val="0"/>
              </a:spcAft>
            </a:pPr>
            <a:r>
              <a:rPr sz="1350" b="0" i="0">
                <a:solidFill>
                  <a:srgbClr val="1B2733"/>
                </a:solidFill>
                <a:latin typeface="Calibri"/>
              </a:rPr>
              <a:t>“Abu-abu ke Korwil” ditulis sebagai aturan biasa, padahal kriterianya tidak ada.</a:t>
            </a:r>
          </a:p>
        </p:txBody>
      </p:sp>
      <p:sp>
        <p:nvSpPr>
          <p:cNvPr id="17" name="Oval 16"/>
          <p:cNvSpPr/>
          <p:nvPr/>
        </p:nvSpPr>
        <p:spPr>
          <a:xfrm>
            <a:off x="658368" y="4393692"/>
            <a:ext cx="365760" cy="365760"/>
          </a:xfrm>
          <a:prstGeom prst="ellipse">
            <a:avLst/>
          </a:prstGeom>
          <a:solidFill>
            <a:srgbClr val="C9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448556"/>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4</a:t>
            </a:r>
          </a:p>
        </p:txBody>
      </p:sp>
      <p:sp>
        <p:nvSpPr>
          <p:cNvPr id="19" name="TextBox 18"/>
          <p:cNvSpPr txBox="1"/>
          <p:nvPr/>
        </p:nvSpPr>
        <p:spPr>
          <a:xfrm>
            <a:off x="1225295" y="4375404"/>
            <a:ext cx="10308336" cy="420623"/>
          </a:xfrm>
          <a:prstGeom prst="rect">
            <a:avLst/>
          </a:prstGeom>
          <a:noFill/>
        </p:spPr>
        <p:txBody>
          <a:bodyPr wrap="square" lIns="0" rIns="0" tIns="0" bIns="0" anchor="t">
            <a:spAutoFit/>
          </a:bodyPr>
          <a:lstStyle/>
          <a:p>
            <a:pPr algn="l">
              <a:lnSpc>
                <a:spcPct val="130000"/>
              </a:lnSpc>
              <a:spcAft>
                <a:spcPts val="0"/>
              </a:spcAft>
            </a:pPr>
            <a:r>
              <a:rPr sz="1350" b="0" i="0">
                <a:solidFill>
                  <a:srgbClr val="1B2733"/>
                </a:solidFill>
                <a:latin typeface="Calibri"/>
              </a:rPr>
              <a:t>Stage di case lifecycle diberi nama aktivitas, bukan bahasa yang dimengerti nasabah.</a:t>
            </a:r>
          </a:p>
        </p:txBody>
      </p:sp>
      <p:sp>
        <p:nvSpPr>
          <p:cNvPr id="20" name="Oval 19"/>
          <p:cNvSpPr/>
          <p:nvPr/>
        </p:nvSpPr>
        <p:spPr>
          <a:xfrm>
            <a:off x="658368" y="5234940"/>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289804"/>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5</a:t>
            </a:r>
          </a:p>
        </p:txBody>
      </p:sp>
      <p:sp>
        <p:nvSpPr>
          <p:cNvPr id="22" name="TextBox 21"/>
          <p:cNvSpPr txBox="1"/>
          <p:nvPr/>
        </p:nvSpPr>
        <p:spPr>
          <a:xfrm>
            <a:off x="1225295" y="5216652"/>
            <a:ext cx="10308336" cy="420623"/>
          </a:xfrm>
          <a:prstGeom prst="rect">
            <a:avLst/>
          </a:prstGeom>
          <a:noFill/>
        </p:spPr>
        <p:txBody>
          <a:bodyPr wrap="square" lIns="0" rIns="0" tIns="0" bIns="0" anchor="t">
            <a:spAutoFit/>
          </a:bodyPr>
          <a:lstStyle/>
          <a:p>
            <a:pPr algn="l">
              <a:lnSpc>
                <a:spcPct val="130000"/>
              </a:lnSpc>
              <a:spcAft>
                <a:spcPts val="0"/>
              </a:spcAft>
            </a:pPr>
            <a:r>
              <a:rPr sz="1350" b="0" i="0">
                <a:solidFill>
                  <a:srgbClr val="1B2733"/>
                </a:solidFill>
                <a:latin typeface="Calibri"/>
              </a:rPr>
              <a:t>Jalur taksiran ditolak digambar seolah sudah pasti, tanpa tanda usulan.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PETA BAGIAN 1</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Bagian 1 tinggal satu langkah lagi</a:t>
            </a: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rIns="0" tIns="0" bIns="0" anchor="t">
            <a:spAutoFit/>
          </a:bodyPr>
          <a:lstStyle/>
          <a:p>
            <a:pPr algn="l">
              <a:lnSpc>
                <a:spcPct val="118000"/>
              </a:lnSpc>
              <a:spcAft>
                <a:spcPts val="0"/>
              </a:spcAft>
            </a:pPr>
            <a:r>
              <a:rPr sz="1350" b="1" i="0">
                <a:solidFill>
                  <a:srgbClr val="1B2733"/>
                </a:solidFill>
                <a:latin typeface="Calibri"/>
              </a:rPr>
              <a:t>Setelah hari ini, semua bahan Tugas 1 sudah kalian punya.</a:t>
            </a:r>
          </a:p>
        </p:txBody>
      </p:sp>
      <p:sp>
        <p:nvSpPr>
          <p:cNvPr id="6" name="TextBox 5"/>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7" name="TextBox 6"/>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4</a:t>
            </a:r>
          </a:p>
        </p:txBody>
      </p:sp>
      <p:sp>
        <p:nvSpPr>
          <p:cNvPr id="8" name="Rectangle 7"/>
          <p:cNvSpPr/>
          <p:nvPr/>
        </p:nvSpPr>
        <p:spPr>
          <a:xfrm>
            <a:off x="658368" y="2473452"/>
            <a:ext cx="3442208" cy="1719072"/>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2711196"/>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66060"/>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1</a:t>
            </a:r>
          </a:p>
        </p:txBody>
      </p:sp>
      <p:sp>
        <p:nvSpPr>
          <p:cNvPr id="11" name="TextBox 10"/>
          <p:cNvSpPr txBox="1"/>
          <p:nvPr/>
        </p:nvSpPr>
        <p:spPr>
          <a:xfrm>
            <a:off x="1371600" y="2747772"/>
            <a:ext cx="2527808" cy="310896"/>
          </a:xfrm>
          <a:prstGeom prst="rect">
            <a:avLst/>
          </a:prstGeom>
          <a:noFill/>
        </p:spPr>
        <p:txBody>
          <a:bodyPr wrap="square" lIns="0" rIns="0" tIns="0" bIns="0" anchor="t">
            <a:spAutoFit/>
          </a:bodyPr>
          <a:lstStyle/>
          <a:p>
            <a:pPr algn="l">
              <a:lnSpc>
                <a:spcPct val="105000"/>
              </a:lnSpc>
              <a:spcAft>
                <a:spcPts val="0"/>
              </a:spcAft>
            </a:pPr>
            <a:r>
              <a:rPr sz="1600" b="1" i="0">
                <a:solidFill>
                  <a:srgbClr val="1B2733"/>
                </a:solidFill>
                <a:latin typeface="Calibri"/>
              </a:rPr>
              <a:t>Pertemuan 2</a:t>
            </a:r>
          </a:p>
        </p:txBody>
      </p:sp>
      <p:sp>
        <p:nvSpPr>
          <p:cNvPr id="12" name="TextBox 11"/>
          <p:cNvSpPr txBox="1"/>
          <p:nvPr/>
        </p:nvSpPr>
        <p:spPr>
          <a:xfrm>
            <a:off x="914400" y="3204972"/>
            <a:ext cx="2930144" cy="804672"/>
          </a:xfrm>
          <a:prstGeom prst="rect">
            <a:avLst/>
          </a:prstGeom>
          <a:noFill/>
        </p:spPr>
        <p:txBody>
          <a:bodyPr wrap="square" lIns="0" rIns="0" tIns="0" bIns="0" anchor="t">
            <a:spAutoFit/>
          </a:bodyPr>
          <a:lstStyle/>
          <a:p>
            <a:pPr algn="l">
              <a:lnSpc>
                <a:spcPct val="132000"/>
              </a:lnSpc>
              <a:spcAft>
                <a:spcPts val="0"/>
              </a:spcAft>
            </a:pPr>
            <a:r>
              <a:rPr sz="1250" b="0" i="0">
                <a:solidFill>
                  <a:srgbClr val="5A6672"/>
                </a:solidFill>
                <a:latin typeface="Calibri"/>
              </a:rPr>
              <a:t>Menggali proses dari sumber yang saling bertentangan, lalu menggambarnya dengan BPMN.</a:t>
            </a:r>
          </a:p>
        </p:txBody>
      </p:sp>
      <p:sp>
        <p:nvSpPr>
          <p:cNvPr id="13" name="Rectangle 12"/>
          <p:cNvSpPr/>
          <p:nvPr/>
        </p:nvSpPr>
        <p:spPr>
          <a:xfrm>
            <a:off x="4374896" y="2473452"/>
            <a:ext cx="3442208" cy="1719072"/>
          </a:xfrm>
          <a:prstGeom prst="rect">
            <a:avLst/>
          </a:prstGeom>
          <a:solidFill>
            <a:srgbClr val="ED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30928" y="2711196"/>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0928" y="2766060"/>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2</a:t>
            </a:r>
          </a:p>
        </p:txBody>
      </p:sp>
      <p:sp>
        <p:nvSpPr>
          <p:cNvPr id="16" name="TextBox 15"/>
          <p:cNvSpPr txBox="1"/>
          <p:nvPr/>
        </p:nvSpPr>
        <p:spPr>
          <a:xfrm>
            <a:off x="5088128" y="2747772"/>
            <a:ext cx="2527808" cy="310896"/>
          </a:xfrm>
          <a:prstGeom prst="rect">
            <a:avLst/>
          </a:prstGeom>
          <a:noFill/>
        </p:spPr>
        <p:txBody>
          <a:bodyPr wrap="square" lIns="0" rIns="0" tIns="0" bIns="0" anchor="t">
            <a:spAutoFit/>
          </a:bodyPr>
          <a:lstStyle/>
          <a:p>
            <a:pPr algn="l">
              <a:lnSpc>
                <a:spcPct val="105000"/>
              </a:lnSpc>
              <a:spcAft>
                <a:spcPts val="0"/>
              </a:spcAft>
            </a:pPr>
            <a:r>
              <a:rPr sz="1600" b="1" i="0">
                <a:solidFill>
                  <a:srgbClr val="1B2733"/>
                </a:solidFill>
                <a:latin typeface="Calibri"/>
              </a:rPr>
              <a:t>Pertemuan 3</a:t>
            </a:r>
          </a:p>
        </p:txBody>
      </p:sp>
      <p:sp>
        <p:nvSpPr>
          <p:cNvPr id="17" name="TextBox 16"/>
          <p:cNvSpPr txBox="1"/>
          <p:nvPr/>
        </p:nvSpPr>
        <p:spPr>
          <a:xfrm>
            <a:off x="4630928" y="3204972"/>
            <a:ext cx="2930144" cy="804672"/>
          </a:xfrm>
          <a:prstGeom prst="rect">
            <a:avLst/>
          </a:prstGeom>
          <a:noFill/>
        </p:spPr>
        <p:txBody>
          <a:bodyPr wrap="square" lIns="0" rIns="0" tIns="0" bIns="0" anchor="t">
            <a:spAutoFit/>
          </a:bodyPr>
          <a:lstStyle/>
          <a:p>
            <a:pPr algn="l">
              <a:lnSpc>
                <a:spcPct val="132000"/>
              </a:lnSpc>
              <a:spcAft>
                <a:spcPts val="0"/>
              </a:spcAft>
            </a:pPr>
            <a:r>
              <a:rPr sz="1250" b="0" i="0">
                <a:solidFill>
                  <a:srgbClr val="5A6672"/>
                </a:solidFill>
                <a:latin typeface="Calibri"/>
              </a:rPr>
              <a:t>Memisahkan aturan dari alur, dan menggambar jalur yang tidak mulus.</a:t>
            </a:r>
          </a:p>
        </p:txBody>
      </p:sp>
      <p:sp>
        <p:nvSpPr>
          <p:cNvPr id="18" name="Rectangle 17"/>
          <p:cNvSpPr/>
          <p:nvPr/>
        </p:nvSpPr>
        <p:spPr>
          <a:xfrm>
            <a:off x="8091424" y="2473452"/>
            <a:ext cx="3442208" cy="1719072"/>
          </a:xfrm>
          <a:prstGeom prst="rect">
            <a:avLst/>
          </a:prstGeom>
          <a:solidFill>
            <a:srgbClr val="F3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47456" y="2711196"/>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7456" y="2766060"/>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3</a:t>
            </a:r>
          </a:p>
        </p:txBody>
      </p:sp>
      <p:sp>
        <p:nvSpPr>
          <p:cNvPr id="21" name="TextBox 20"/>
          <p:cNvSpPr txBox="1"/>
          <p:nvPr/>
        </p:nvSpPr>
        <p:spPr>
          <a:xfrm>
            <a:off x="8804656" y="2747772"/>
            <a:ext cx="2527808" cy="310896"/>
          </a:xfrm>
          <a:prstGeom prst="rect">
            <a:avLst/>
          </a:prstGeom>
          <a:noFill/>
        </p:spPr>
        <p:txBody>
          <a:bodyPr wrap="square" lIns="0" rIns="0" tIns="0" bIns="0" anchor="t">
            <a:spAutoFit/>
          </a:bodyPr>
          <a:lstStyle/>
          <a:p>
            <a:pPr algn="l">
              <a:lnSpc>
                <a:spcPct val="105000"/>
              </a:lnSpc>
              <a:spcAft>
                <a:spcPts val="0"/>
              </a:spcAft>
            </a:pPr>
            <a:r>
              <a:rPr sz="1600" b="1" i="0">
                <a:solidFill>
                  <a:srgbClr val="1B2733"/>
                </a:solidFill>
                <a:latin typeface="Calibri"/>
              </a:rPr>
              <a:t>Pertemuan 4</a:t>
            </a:r>
          </a:p>
        </p:txBody>
      </p:sp>
      <p:sp>
        <p:nvSpPr>
          <p:cNvPr id="22" name="TextBox 21"/>
          <p:cNvSpPr txBox="1"/>
          <p:nvPr/>
        </p:nvSpPr>
        <p:spPr>
          <a:xfrm>
            <a:off x="8347456" y="3204972"/>
            <a:ext cx="2930144" cy="804672"/>
          </a:xfrm>
          <a:prstGeom prst="rect">
            <a:avLst/>
          </a:prstGeom>
          <a:noFill/>
        </p:spPr>
        <p:txBody>
          <a:bodyPr wrap="square" lIns="0" rIns="0" tIns="0" bIns="0" anchor="t">
            <a:spAutoFit/>
          </a:bodyPr>
          <a:lstStyle/>
          <a:p>
            <a:pPr algn="l">
              <a:lnSpc>
                <a:spcPct val="132000"/>
              </a:lnSpc>
              <a:spcAft>
                <a:spcPts val="0"/>
              </a:spcAft>
            </a:pPr>
            <a:r>
              <a:rPr sz="1250" b="0" i="0">
                <a:solidFill>
                  <a:srgbClr val="5A6672"/>
                </a:solidFill>
                <a:latin typeface="Calibri"/>
              </a:rPr>
              <a:t>Mengukur prosesnya, lalu memutuskan bagian mana yang layak diotomasi.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PETA SESI</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Rencana hari ini</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5</a:t>
            </a:r>
          </a:p>
        </p:txBody>
      </p:sp>
      <p:sp>
        <p:nvSpPr>
          <p:cNvPr id="6" name="Oval 5"/>
          <p:cNvSpPr/>
          <p:nvPr/>
        </p:nvSpPr>
        <p:spPr>
          <a:xfrm>
            <a:off x="704088" y="2418588"/>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272284"/>
            <a:ext cx="10509504" cy="420623"/>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Modul 1: mencari masalah tanpa menghitung dulu.</a:t>
            </a:r>
          </a:p>
        </p:txBody>
      </p:sp>
      <p:sp>
        <p:nvSpPr>
          <p:cNvPr id="8" name="Oval 7"/>
          <p:cNvSpPr/>
          <p:nvPr/>
        </p:nvSpPr>
        <p:spPr>
          <a:xfrm>
            <a:off x="704088" y="3259836"/>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113532"/>
            <a:ext cx="10509504" cy="420623"/>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Modul 2: mengukur proses pakai angka, plus sekilas process mining.</a:t>
            </a:r>
          </a:p>
        </p:txBody>
      </p:sp>
      <p:sp>
        <p:nvSpPr>
          <p:cNvPr id="10" name="Oval 9"/>
          <p:cNvSpPr/>
          <p:nvPr/>
        </p:nvSpPr>
        <p:spPr>
          <a:xfrm>
            <a:off x="704088" y="4101084"/>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954780"/>
            <a:ext cx="10509504" cy="420623"/>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Modul 3: memutuskan apa yang layak diotomasi, dan pakai apa.</a:t>
            </a:r>
          </a:p>
        </p:txBody>
      </p:sp>
      <p:sp>
        <p:nvSpPr>
          <p:cNvPr id="12" name="Oval 11"/>
          <p:cNvSpPr/>
          <p:nvPr/>
        </p:nvSpPr>
        <p:spPr>
          <a:xfrm>
            <a:off x="704088" y="4942332"/>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796028"/>
            <a:ext cx="10509504" cy="420623"/>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Studi kasus: event log endorsement polis, lalu menempatkan aktivitas klaim di peta otomasi.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7C86"/>
        </a:solidFill>
        <a:effectLst/>
      </p:bgPr>
    </p:bg>
    <p:spTree>
      <p:nvGrpSpPr>
        <p:cNvPr id="1" name=""/>
        <p:cNvGrpSpPr/>
        <p:nvPr/>
      </p:nvGrpSpPr>
      <p:grpSpPr/>
      <p:sp>
        <p:nvSpPr>
          <p:cNvPr id="2" name="Oval 1"/>
          <p:cNvSpPr/>
          <p:nvPr/>
        </p:nvSpPr>
        <p:spPr>
          <a:xfrm>
            <a:off x="9601200" y="-1097280"/>
            <a:ext cx="4023360" cy="40233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80" y="3840480"/>
            <a:ext cx="3291840" cy="329184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5486400" cy="320040"/>
          </a:xfrm>
          <a:prstGeom prst="rect">
            <a:avLst/>
          </a:prstGeom>
          <a:noFill/>
        </p:spPr>
        <p:txBody>
          <a:bodyPr wrap="square" lIns="0" rIns="0" tIns="0" bIns="0" anchor="t">
            <a:spAutoFit/>
          </a:bodyPr>
          <a:lstStyle/>
          <a:p>
            <a:pPr algn="l">
              <a:lnSpc>
                <a:spcPct val="100000"/>
              </a:lnSpc>
              <a:spcAft>
                <a:spcPts val="0"/>
              </a:spcAft>
            </a:pPr>
            <a:r>
              <a:rPr sz="1300" b="1" i="0">
                <a:solidFill>
                  <a:srgbClr val="AFE4E9"/>
                </a:solidFill>
                <a:latin typeface="Calibri"/>
              </a:rPr>
              <a:t>MODUL 1</a:t>
            </a:r>
          </a:p>
        </p:txBody>
      </p:sp>
      <p:sp>
        <p:nvSpPr>
          <p:cNvPr id="5" name="TextBox 4"/>
          <p:cNvSpPr txBox="1"/>
          <p:nvPr/>
        </p:nvSpPr>
        <p:spPr>
          <a:xfrm>
            <a:off x="658368" y="2670048"/>
            <a:ext cx="9326880" cy="1371600"/>
          </a:xfrm>
          <a:prstGeom prst="rect">
            <a:avLst/>
          </a:prstGeom>
          <a:noFill/>
        </p:spPr>
        <p:txBody>
          <a:bodyPr wrap="square" lIns="0" rIns="0" tIns="0" bIns="0" anchor="t">
            <a:spAutoFit/>
          </a:bodyPr>
          <a:lstStyle/>
          <a:p>
            <a:pPr algn="l">
              <a:lnSpc>
                <a:spcPct val="105000"/>
              </a:lnSpc>
              <a:spcAft>
                <a:spcPts val="0"/>
              </a:spcAft>
            </a:pPr>
            <a:r>
              <a:rPr sz="3800" b="1" i="0">
                <a:solidFill>
                  <a:srgbClr val="FFFFFF"/>
                </a:solidFill>
                <a:latin typeface="Calibri"/>
              </a:rPr>
              <a:t>Mencari Masalah Sebelum Menghitung</a:t>
            </a:r>
          </a:p>
        </p:txBody>
      </p:sp>
      <p:sp>
        <p:nvSpPr>
          <p:cNvPr id="6" name="TextBox 5"/>
          <p:cNvSpPr txBox="1"/>
          <p:nvPr/>
        </p:nvSpPr>
        <p:spPr>
          <a:xfrm>
            <a:off x="658368" y="4160520"/>
            <a:ext cx="8778240" cy="548640"/>
          </a:xfrm>
          <a:prstGeom prst="rect">
            <a:avLst/>
          </a:prstGeom>
          <a:noFill/>
        </p:spPr>
        <p:txBody>
          <a:bodyPr wrap="square" lIns="0" rIns="0" tIns="0" bIns="0" anchor="t">
            <a:spAutoFit/>
          </a:bodyPr>
          <a:lstStyle/>
          <a:p>
            <a:pPr algn="l">
              <a:lnSpc>
                <a:spcPct val="120000"/>
              </a:lnSpc>
              <a:spcAft>
                <a:spcPts val="0"/>
              </a:spcAft>
            </a:pPr>
            <a:r>
              <a:rPr sz="1600" b="0" i="0">
                <a:solidFill>
                  <a:srgbClr val="AFE4E9"/>
                </a:solidFill>
                <a:latin typeface="Calibri"/>
              </a:rPr>
              <a:t>Value-added analysis, pemborosan, dan akar masalah.</a:t>
            </a:r>
          </a:p>
        </p:txBody>
      </p:sp>
      <p:sp>
        <p:nvSpPr>
          <p:cNvPr id="7" name="TextBox 6"/>
          <p:cNvSpPr txBox="1"/>
          <p:nvPr/>
        </p:nvSpPr>
        <p:spPr>
          <a:xfrm>
            <a:off x="658368" y="5852160"/>
            <a:ext cx="7315200" cy="320040"/>
          </a:xfrm>
          <a:prstGeom prst="rect">
            <a:avLst/>
          </a:prstGeom>
          <a:noFill/>
        </p:spPr>
        <p:txBody>
          <a:bodyPr wrap="square" lIns="0" rIns="0" tIns="0" bIns="0" anchor="t">
            <a:spAutoFit/>
          </a:bodyPr>
          <a:lstStyle/>
          <a:p>
            <a:pPr algn="l">
              <a:lnSpc>
                <a:spcPct val="100000"/>
              </a:lnSpc>
              <a:spcAft>
                <a:spcPts val="0"/>
              </a:spcAft>
            </a:pPr>
            <a:r>
              <a:rPr sz="1200" b="0" i="0">
                <a:solidFill>
                  <a:srgbClr val="AFE4E9"/>
                </a:solidFill>
                <a:latin typeface="Calibri"/>
              </a:rPr>
              <a:t>sekitar 15 menit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ANALISIS KUALITATIF</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Tiap langkah bisa dikelompokkan jadi tiga</a:t>
            </a: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rIns="0" tIns="0" bIns="0" anchor="t">
            <a:spAutoFit/>
          </a:bodyPr>
          <a:lstStyle/>
          <a:p>
            <a:pPr algn="l">
              <a:lnSpc>
                <a:spcPct val="118000"/>
              </a:lnSpc>
              <a:spcAft>
                <a:spcPts val="0"/>
              </a:spcAft>
            </a:pPr>
            <a:r>
              <a:rPr sz="1350" b="1" i="0">
                <a:solidFill>
                  <a:srgbClr val="1B2733"/>
                </a:solidFill>
                <a:latin typeface="Calibri"/>
              </a:rPr>
              <a:t>Langkah NVA dihapus atau dikurangi dulu. Baru sisanya dipikirkan mau diotomasi atau tidak.</a:t>
            </a:r>
          </a:p>
        </p:txBody>
      </p:sp>
      <p:sp>
        <p:nvSpPr>
          <p:cNvPr id="6" name="TextBox 5"/>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7" name="TextBox 6"/>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7</a:t>
            </a:r>
          </a:p>
        </p:txBody>
      </p:sp>
      <p:graphicFrame>
        <p:nvGraphicFramePr>
          <p:cNvPr id="8" name="Table 7"/>
          <p:cNvGraphicFramePr>
            <a:graphicFrameLocks noGrp="1"/>
          </p:cNvGraphicFramePr>
          <p:nvPr/>
        </p:nvGraphicFramePr>
        <p:xfrm>
          <a:off x="658368" y="2107691"/>
          <a:ext cx="10875263" cy="2450592"/>
        </p:xfrm>
        <a:graphic>
          <a:graphicData uri="http://schemas.openxmlformats.org/drawingml/2006/table">
            <a:tbl>
              <a:tblPr>
                <a:tableStyleId>{5C22544A-7EE6-4342-B048-85BDC9FD1C3A}</a:tableStyleId>
              </a:tblPr>
              <a:tblGrid>
                <a:gridCol w="2913017"/>
                <a:gridCol w="3884022"/>
                <a:gridCol w="4078224"/>
              </a:tblGrid>
              <a:tr h="475488">
                <a:tc>
                  <a:txBody>
                    <a:bodyPr wrap="square"/>
                    <a:lstStyle/>
                    <a:p>
                      <a:pPr algn="l">
                        <a:lnSpc>
                          <a:spcPct val="118000"/>
                        </a:lnSpc>
                      </a:pPr>
                      <a:r>
                        <a:rPr sz="1350" b="1">
                          <a:solidFill>
                            <a:srgbClr val="FFFFFF"/>
                          </a:solidFill>
                          <a:latin typeface="Calibri"/>
                        </a:rPr>
                        <a:t>Jenis</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Artinya</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Contoh di proses klaim</a:t>
                      </a:r>
                    </a:p>
                  </a:txBody>
                  <a:tcPr marL="128016" marR="128016" marT="64008" marB="64008" anchor="ctr">
                    <a:solidFill>
                      <a:srgbClr val="0E7C86"/>
                    </a:solidFill>
                  </a:tcPr>
                </a:tc>
              </a:tr>
              <a:tr h="658368">
                <a:tc>
                  <a:txBody>
                    <a:bodyPr wrap="square"/>
                    <a:lstStyle/>
                    <a:p>
                      <a:pPr algn="l">
                        <a:lnSpc>
                          <a:spcPct val="118000"/>
                        </a:lnSpc>
                      </a:pPr>
                      <a:r>
                        <a:rPr sz="1300" b="1">
                          <a:solidFill>
                            <a:srgbClr val="1B2733"/>
                          </a:solidFill>
                          <a:latin typeface="Calibri"/>
                        </a:rPr>
                        <a:t>Value adding (VA)</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Hal yang sebenarnya dibayar nasabah</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Memperbaiki kendaraan</a:t>
                      </a:r>
                    </a:p>
                  </a:txBody>
                  <a:tcPr marL="128016" marR="128016" marT="64008" marB="64008" anchor="ctr">
                    <a:solidFill>
                      <a:srgbClr val="FFFFFF"/>
                    </a:solidFill>
                  </a:tcPr>
                </a:tc>
              </a:tr>
              <a:tr h="658368">
                <a:tc>
                  <a:txBody>
                    <a:bodyPr wrap="square"/>
                    <a:lstStyle/>
                    <a:p>
                      <a:pPr algn="l">
                        <a:lnSpc>
                          <a:spcPct val="118000"/>
                        </a:lnSpc>
                      </a:pPr>
                      <a:r>
                        <a:rPr sz="1300" b="1">
                          <a:solidFill>
                            <a:srgbClr val="1B2733"/>
                          </a:solidFill>
                          <a:latin typeface="Calibri"/>
                        </a:rPr>
                        <a:t>Business value adding (BVA)</a:t>
                      </a: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a:rPr>
                        <a:t>Nasabah tidak peduli, tapi bisnis atau regulasi butuh</a:t>
                      </a: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a:rPr>
                        <a:t>Memeriksa ketentuan polis, mencatat untuk audit</a:t>
                      </a:r>
                    </a:p>
                  </a:txBody>
                  <a:tcPr marL="128016" marR="128016" marT="64008" marB="64008" anchor="ctr">
                    <a:solidFill>
                      <a:srgbClr val="F4F9FA"/>
                    </a:solidFill>
                  </a:tcPr>
                </a:tc>
              </a:tr>
              <a:tr h="658368">
                <a:tc>
                  <a:txBody>
                    <a:bodyPr wrap="square"/>
                    <a:lstStyle/>
                    <a:p>
                      <a:pPr algn="l">
                        <a:lnSpc>
                          <a:spcPct val="118000"/>
                        </a:lnSpc>
                      </a:pPr>
                      <a:r>
                        <a:rPr sz="1300" b="1">
                          <a:solidFill>
                            <a:srgbClr val="1B2733"/>
                          </a:solidFill>
                          <a:latin typeface="Calibri"/>
                        </a:rPr>
                        <a:t>Non value adding (NVA)</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Tidak ada yang benar-benar butuh</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Menunggu dokumen, menyalin data ke sistem lain, tagihan bolak-balik</a:t>
                      </a:r>
                    </a:p>
                  </a:txBody>
                  <a:tcPr marL="128016" marR="128016" marT="64008" marB="64008"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ANALISIS KUALITATIF</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Tujuh jenis pemborosan, dalam tiga kelompok</a:t>
            </a: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rIns="0" tIns="0" bIns="0" anchor="t">
            <a:spAutoFit/>
          </a:bodyPr>
          <a:lstStyle/>
          <a:p>
            <a:pPr algn="l">
              <a:lnSpc>
                <a:spcPct val="118000"/>
              </a:lnSpc>
              <a:spcAft>
                <a:spcPts val="0"/>
              </a:spcAft>
            </a:pPr>
            <a:r>
              <a:rPr sz="1350" b="1" i="0">
                <a:solidFill>
                  <a:srgbClr val="1B2733"/>
                </a:solidFill>
                <a:latin typeface="Calibri"/>
              </a:rPr>
              <a:t>Di proses yang isinya dokumen, kelompok “menahan” hampir selalu yang paling mahal.</a:t>
            </a:r>
          </a:p>
        </p:txBody>
      </p:sp>
      <p:sp>
        <p:nvSpPr>
          <p:cNvPr id="6" name="TextBox 5"/>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7" name="TextBox 6"/>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8</a:t>
            </a:r>
          </a:p>
        </p:txBody>
      </p:sp>
      <p:graphicFrame>
        <p:nvGraphicFramePr>
          <p:cNvPr id="8" name="Table 7"/>
          <p:cNvGraphicFramePr>
            <a:graphicFrameLocks noGrp="1"/>
          </p:cNvGraphicFramePr>
          <p:nvPr/>
        </p:nvGraphicFramePr>
        <p:xfrm>
          <a:off x="658368" y="2107691"/>
          <a:ext cx="10875263" cy="2450592"/>
        </p:xfrm>
        <a:graphic>
          <a:graphicData uri="http://schemas.openxmlformats.org/drawingml/2006/table">
            <a:tbl>
              <a:tblPr>
                <a:tableStyleId>{5C22544A-7EE6-4342-B048-85BDC9FD1C3A}</a:tableStyleId>
              </a:tblPr>
              <a:tblGrid>
                <a:gridCol w="2136212"/>
                <a:gridCol w="3301419"/>
                <a:gridCol w="5437632"/>
              </a:tblGrid>
              <a:tr h="475488">
                <a:tc>
                  <a:txBody>
                    <a:bodyPr wrap="square"/>
                    <a:lstStyle/>
                    <a:p>
                      <a:pPr algn="l">
                        <a:lnSpc>
                          <a:spcPct val="118000"/>
                        </a:lnSpc>
                      </a:pPr>
                      <a:r>
                        <a:rPr sz="1350" b="1">
                          <a:solidFill>
                            <a:srgbClr val="FFFFFF"/>
                          </a:solidFill>
                          <a:latin typeface="Calibri"/>
                        </a:rPr>
                        <a:t>Kelompok</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Jenisnya</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Contoh di proses klaim</a:t>
                      </a:r>
                    </a:p>
                  </a:txBody>
                  <a:tcPr marL="128016" marR="128016" marT="64008" marB="64008" anchor="ctr">
                    <a:solidFill>
                      <a:srgbClr val="0E7C86"/>
                    </a:solidFill>
                  </a:tcPr>
                </a:tc>
              </a:tr>
              <a:tr h="658368">
                <a:tc>
                  <a:txBody>
                    <a:bodyPr wrap="square"/>
                    <a:lstStyle/>
                    <a:p>
                      <a:pPr algn="l">
                        <a:lnSpc>
                          <a:spcPct val="118000"/>
                        </a:lnSpc>
                      </a:pPr>
                      <a:r>
                        <a:rPr sz="1300" b="1">
                          <a:solidFill>
                            <a:srgbClr val="1B2733"/>
                          </a:solidFill>
                          <a:latin typeface="Calibri"/>
                        </a:rPr>
                        <a:t>Berpindah</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Transportasi, gerak</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Berkas dikirim antar cabang. Petugas pindah tiga aplikasi untuk satu data.</a:t>
                      </a:r>
                    </a:p>
                  </a:txBody>
                  <a:tcPr marL="128016" marR="128016" marT="64008" marB="64008" anchor="ctr">
                    <a:solidFill>
                      <a:srgbClr val="FFFFFF"/>
                    </a:solidFill>
                  </a:tcPr>
                </a:tc>
              </a:tr>
              <a:tr h="658368">
                <a:tc>
                  <a:txBody>
                    <a:bodyPr wrap="square"/>
                    <a:lstStyle/>
                    <a:p>
                      <a:pPr algn="l">
                        <a:lnSpc>
                          <a:spcPct val="118000"/>
                        </a:lnSpc>
                      </a:pPr>
                      <a:r>
                        <a:rPr sz="1300" b="1">
                          <a:solidFill>
                            <a:srgbClr val="1B2733"/>
                          </a:solidFill>
                          <a:latin typeface="Calibri"/>
                        </a:rPr>
                        <a:t>Menahan</a:t>
                      </a: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a:rPr>
                        <a:t>Antrean, menunggu</a:t>
                      </a: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a:rPr>
                        <a:t>Klaim menumpuk di meja akseptasi. Menunggu tanda tangan Korwil.</a:t>
                      </a:r>
                    </a:p>
                  </a:txBody>
                  <a:tcPr marL="128016" marR="128016" marT="64008" marB="64008" anchor="ctr">
                    <a:solidFill>
                      <a:srgbClr val="F4F9FA"/>
                    </a:solidFill>
                  </a:tcPr>
                </a:tc>
              </a:tr>
              <a:tr h="658368">
                <a:tc>
                  <a:txBody>
                    <a:bodyPr wrap="square"/>
                    <a:lstStyle/>
                    <a:p>
                      <a:pPr algn="l">
                        <a:lnSpc>
                          <a:spcPct val="118000"/>
                        </a:lnSpc>
                      </a:pPr>
                      <a:r>
                        <a:rPr sz="1300" b="1">
                          <a:solidFill>
                            <a:srgbClr val="1B2733"/>
                          </a:solidFill>
                          <a:latin typeface="Calibri"/>
                        </a:rPr>
                        <a:t>Berlebihan</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Cacat, kerja berlebih, produksi berlebih</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Tagihan salah dan dikembalikan. Laporan dibuat tapi tidak dibaca. Persetujuan berlapis untuk klaim kecil.</a:t>
                      </a:r>
                    </a:p>
                  </a:txBody>
                  <a:tcPr marL="128016" marR="128016" marT="64008" marB="64008"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ANALISIS KUALITATIF</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Why-why: mencari akar, bukan gejala</a:t>
            </a: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rIns="0" tIns="0" bIns="0" anchor="t">
            <a:spAutoFit/>
          </a:bodyPr>
          <a:lstStyle/>
          <a:p>
            <a:pPr algn="l">
              <a:lnSpc>
                <a:spcPct val="118000"/>
              </a:lnSpc>
              <a:spcAft>
                <a:spcPts val="0"/>
              </a:spcAft>
            </a:pPr>
            <a:r>
              <a:rPr sz="1350" b="1" i="0">
                <a:solidFill>
                  <a:srgbClr val="1B2733"/>
                </a:solidFill>
                <a:latin typeface="Calibri"/>
              </a:rPr>
              <a:t>Hasil why-why itu hipotesis. Masih harus dicek ke data atau ke orangnya.</a:t>
            </a:r>
          </a:p>
        </p:txBody>
      </p:sp>
      <p:sp>
        <p:nvSpPr>
          <p:cNvPr id="6" name="TextBox 5"/>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7" name="TextBox 6"/>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9</a:t>
            </a:r>
          </a:p>
        </p:txBody>
      </p:sp>
      <p:sp>
        <p:nvSpPr>
          <p:cNvPr id="8" name="TextBox 7"/>
          <p:cNvSpPr txBox="1"/>
          <p:nvPr/>
        </p:nvSpPr>
        <p:spPr>
          <a:xfrm>
            <a:off x="777240" y="1536192"/>
            <a:ext cx="2240280" cy="274320"/>
          </a:xfrm>
          <a:prstGeom prst="rect">
            <a:avLst/>
          </a:prstGeom>
          <a:noFill/>
        </p:spPr>
        <p:txBody>
          <a:bodyPr wrap="square" lIns="0" rIns="0" tIns="0" bIns="0" anchor="t">
            <a:spAutoFit/>
          </a:bodyPr>
          <a:lstStyle/>
          <a:p>
            <a:pPr algn="ctr">
              <a:lnSpc>
                <a:spcPct val="112000"/>
              </a:lnSpc>
              <a:spcAft>
                <a:spcPts val="0"/>
              </a:spcAft>
            </a:pPr>
            <a:r>
              <a:rPr sz="1000" b="1" i="0">
                <a:solidFill>
                  <a:srgbClr val="0E7C86"/>
                </a:solidFill>
                <a:latin typeface="Calibri"/>
              </a:rPr>
              <a:t>MASALAH</a:t>
            </a:r>
          </a:p>
        </p:txBody>
      </p:sp>
      <p:sp>
        <p:nvSpPr>
          <p:cNvPr id="9" name="TextBox 8"/>
          <p:cNvSpPr txBox="1"/>
          <p:nvPr/>
        </p:nvSpPr>
        <p:spPr>
          <a:xfrm>
            <a:off x="3429000" y="1536192"/>
            <a:ext cx="2514600" cy="274320"/>
          </a:xfrm>
          <a:prstGeom prst="rect">
            <a:avLst/>
          </a:prstGeom>
          <a:noFill/>
        </p:spPr>
        <p:txBody>
          <a:bodyPr wrap="square" lIns="0" rIns="0" tIns="0" bIns="0" anchor="t">
            <a:spAutoFit/>
          </a:bodyPr>
          <a:lstStyle/>
          <a:p>
            <a:pPr algn="ctr">
              <a:lnSpc>
                <a:spcPct val="112000"/>
              </a:lnSpc>
              <a:spcAft>
                <a:spcPts val="0"/>
              </a:spcAft>
            </a:pPr>
            <a:r>
              <a:rPr sz="1000" b="1" i="0">
                <a:solidFill>
                  <a:srgbClr val="0E7C86"/>
                </a:solidFill>
                <a:latin typeface="Calibri"/>
              </a:rPr>
              <a:t>KENAPA?</a:t>
            </a:r>
          </a:p>
        </p:txBody>
      </p:sp>
      <p:sp>
        <p:nvSpPr>
          <p:cNvPr id="10" name="TextBox 9"/>
          <p:cNvSpPr txBox="1"/>
          <p:nvPr/>
        </p:nvSpPr>
        <p:spPr>
          <a:xfrm>
            <a:off x="6355080" y="1536192"/>
            <a:ext cx="2514600" cy="274320"/>
          </a:xfrm>
          <a:prstGeom prst="rect">
            <a:avLst/>
          </a:prstGeom>
          <a:noFill/>
        </p:spPr>
        <p:txBody>
          <a:bodyPr wrap="square" lIns="0" rIns="0" tIns="0" bIns="0" anchor="t">
            <a:spAutoFit/>
          </a:bodyPr>
          <a:lstStyle/>
          <a:p>
            <a:pPr algn="ctr">
              <a:lnSpc>
                <a:spcPct val="112000"/>
              </a:lnSpc>
              <a:spcAft>
                <a:spcPts val="0"/>
              </a:spcAft>
            </a:pPr>
            <a:r>
              <a:rPr sz="1000" b="1" i="0">
                <a:solidFill>
                  <a:srgbClr val="0E7C86"/>
                </a:solidFill>
                <a:latin typeface="Calibri"/>
              </a:rPr>
              <a:t>KENAPA?</a:t>
            </a:r>
          </a:p>
        </p:txBody>
      </p:sp>
      <p:sp>
        <p:nvSpPr>
          <p:cNvPr id="11" name="TextBox 10"/>
          <p:cNvSpPr txBox="1"/>
          <p:nvPr/>
        </p:nvSpPr>
        <p:spPr>
          <a:xfrm>
            <a:off x="9281160" y="1536192"/>
            <a:ext cx="2240280" cy="274320"/>
          </a:xfrm>
          <a:prstGeom prst="rect">
            <a:avLst/>
          </a:prstGeom>
          <a:noFill/>
        </p:spPr>
        <p:txBody>
          <a:bodyPr wrap="square" lIns="0" rIns="0" tIns="0" bIns="0" anchor="t">
            <a:spAutoFit/>
          </a:bodyPr>
          <a:lstStyle/>
          <a:p>
            <a:pPr algn="ctr">
              <a:lnSpc>
                <a:spcPct val="112000"/>
              </a:lnSpc>
              <a:spcAft>
                <a:spcPts val="0"/>
              </a:spcAft>
            </a:pPr>
            <a:r>
              <a:rPr sz="1000" b="1" i="0">
                <a:solidFill>
                  <a:srgbClr val="0E7C86"/>
                </a:solidFill>
                <a:latin typeface="Calibri"/>
              </a:rPr>
              <a:t>AKAR DUGAAN</a:t>
            </a:r>
          </a:p>
        </p:txBody>
      </p:sp>
      <p:sp>
        <p:nvSpPr>
          <p:cNvPr id="12" name="Rounded Rectangle 11"/>
          <p:cNvSpPr/>
          <p:nvPr/>
        </p:nvSpPr>
        <p:spPr>
          <a:xfrm>
            <a:off x="777240" y="2926080"/>
            <a:ext cx="2240280" cy="658368"/>
          </a:xfrm>
          <a:prstGeom prst="roundRect">
            <a:avLst>
              <a:gd name="adj" fmla="val 12000"/>
            </a:avLst>
          </a:prstGeom>
          <a:solidFill>
            <a:srgbClr val="FAF2E6"/>
          </a:solidFill>
          <a:ln w="14604">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2962656"/>
            <a:ext cx="2093976" cy="585216"/>
          </a:xfrm>
          <a:prstGeom prst="rect">
            <a:avLst/>
          </a:prstGeom>
          <a:noFill/>
        </p:spPr>
        <p:txBody>
          <a:bodyPr wrap="square" lIns="0" rIns="0" tIns="0" bIns="0" anchor="ctr">
            <a:spAutoFit/>
          </a:bodyPr>
          <a:lstStyle/>
          <a:p>
            <a:pPr algn="ctr">
              <a:lnSpc>
                <a:spcPct val="108000"/>
              </a:lnSpc>
              <a:spcAft>
                <a:spcPts val="0"/>
              </a:spcAft>
            </a:pPr>
            <a:r>
              <a:rPr sz="1100" b="1" i="0">
                <a:solidFill>
                  <a:srgbClr val="1B2733"/>
                </a:solidFill>
                <a:latin typeface="Calibri"/>
              </a:rPr>
              <a:t>Klaim tertahan hampir sebulan</a:t>
            </a:r>
          </a:p>
        </p:txBody>
      </p:sp>
      <p:sp>
        <p:nvSpPr>
          <p:cNvPr id="14" name="Rounded Rectangle 13"/>
          <p:cNvSpPr/>
          <p:nvPr/>
        </p:nvSpPr>
        <p:spPr>
          <a:xfrm>
            <a:off x="3429000" y="1874519"/>
            <a:ext cx="2514600" cy="658368"/>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02152" y="1911095"/>
            <a:ext cx="2368296" cy="585216"/>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Menunggu persetujuan Korwil untuk nilai di atas 25 juta</a:t>
            </a:r>
          </a:p>
        </p:txBody>
      </p:sp>
      <p:sp>
        <p:nvSpPr>
          <p:cNvPr id="16" name="Rounded Rectangle 15"/>
          <p:cNvSpPr/>
          <p:nvPr/>
        </p:nvSpPr>
        <p:spPr>
          <a:xfrm>
            <a:off x="6355080" y="1874519"/>
            <a:ext cx="2514600" cy="658368"/>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1911095"/>
            <a:ext cx="2368296" cy="585216"/>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Persetujuan Korwil tidak punya batas waktu</a:t>
            </a:r>
          </a:p>
        </p:txBody>
      </p:sp>
      <p:sp>
        <p:nvSpPr>
          <p:cNvPr id="18" name="Rounded Rectangle 17"/>
          <p:cNvSpPr/>
          <p:nvPr/>
        </p:nvSpPr>
        <p:spPr>
          <a:xfrm>
            <a:off x="9281160" y="1874519"/>
            <a:ext cx="2240280" cy="658368"/>
          </a:xfrm>
          <a:prstGeom prst="roundRect">
            <a:avLst>
              <a:gd name="adj" fmla="val 12000"/>
            </a:avLst>
          </a:prstGeom>
          <a:solidFill>
            <a:srgbClr val="ECFAF8"/>
          </a:solidFill>
          <a:ln w="14604">
            <a:solidFill>
              <a:srgbClr val="5A66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54312" y="1911095"/>
            <a:ext cx="2093976" cy="585216"/>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Tidak ada yang memantau antrean persetujuan</a:t>
            </a:r>
          </a:p>
        </p:txBody>
      </p:sp>
      <p:cxnSp>
        <p:nvCxnSpPr>
          <p:cNvPr id="20" name="Connector 19"/>
          <p:cNvCxnSpPr/>
          <p:nvPr/>
        </p:nvCxnSpPr>
        <p:spPr>
          <a:xfrm>
            <a:off x="3017520" y="3255264"/>
            <a:ext cx="201168" cy="0"/>
          </a:xfrm>
          <a:prstGeom prst="line">
            <a:avLst/>
          </a:prstGeom>
          <a:ln w="13970">
            <a:solidFill>
              <a:srgbClr val="5A667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218688" y="2203703"/>
            <a:ext cx="0" cy="1051561"/>
          </a:xfrm>
          <a:prstGeom prst="line">
            <a:avLst/>
          </a:prstGeom>
          <a:ln w="13970">
            <a:solidFill>
              <a:srgbClr val="5A667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218688" y="2203703"/>
            <a:ext cx="210312" cy="0"/>
          </a:xfrm>
          <a:prstGeom prst="line">
            <a:avLst/>
          </a:prstGeom>
          <a:ln w="13970">
            <a:solidFill>
              <a:srgbClr val="5A66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43600" y="2203703"/>
            <a:ext cx="411480" cy="0"/>
          </a:xfrm>
          <a:prstGeom prst="line">
            <a:avLst/>
          </a:prstGeom>
          <a:ln w="13970">
            <a:solidFill>
              <a:srgbClr val="5A66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869680" y="2203703"/>
            <a:ext cx="411480" cy="0"/>
          </a:xfrm>
          <a:prstGeom prst="line">
            <a:avLst/>
          </a:prstGeom>
          <a:ln w="13970">
            <a:solidFill>
              <a:srgbClr val="5A667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429000" y="2926080"/>
            <a:ext cx="2514600" cy="658368"/>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02152" y="2962656"/>
            <a:ext cx="2368296" cy="585216"/>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Surveyor dan nasabah tidak tahu klaimnya sedang di mana</a:t>
            </a:r>
          </a:p>
        </p:txBody>
      </p:sp>
      <p:sp>
        <p:nvSpPr>
          <p:cNvPr id="27" name="Rounded Rectangle 26"/>
          <p:cNvSpPr/>
          <p:nvPr/>
        </p:nvSpPr>
        <p:spPr>
          <a:xfrm>
            <a:off x="6355080" y="2926080"/>
            <a:ext cx="2514600" cy="658368"/>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2962656"/>
            <a:ext cx="2368296" cy="585216"/>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Status klaim tidak pernah didefinisikan</a:t>
            </a:r>
          </a:p>
        </p:txBody>
      </p:sp>
      <p:sp>
        <p:nvSpPr>
          <p:cNvPr id="29" name="Rounded Rectangle 28"/>
          <p:cNvSpPr/>
          <p:nvPr/>
        </p:nvSpPr>
        <p:spPr>
          <a:xfrm>
            <a:off x="9281160" y="2926080"/>
            <a:ext cx="2240280" cy="658368"/>
          </a:xfrm>
          <a:prstGeom prst="roundRect">
            <a:avLst>
              <a:gd name="adj" fmla="val 12000"/>
            </a:avLst>
          </a:prstGeom>
          <a:solidFill>
            <a:srgbClr val="ECFAF8"/>
          </a:solidFill>
          <a:ln w="14604">
            <a:solidFill>
              <a:srgbClr val="5A66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54312" y="2962656"/>
            <a:ext cx="2093976" cy="585216"/>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Tidak ada pemilik proses untuk status klaim</a:t>
            </a:r>
          </a:p>
        </p:txBody>
      </p:sp>
      <p:cxnSp>
        <p:nvCxnSpPr>
          <p:cNvPr id="31" name="Connector 30"/>
          <p:cNvCxnSpPr/>
          <p:nvPr/>
        </p:nvCxnSpPr>
        <p:spPr>
          <a:xfrm>
            <a:off x="3017520" y="3255264"/>
            <a:ext cx="201168" cy="0"/>
          </a:xfrm>
          <a:prstGeom prst="line">
            <a:avLst/>
          </a:prstGeom>
          <a:ln w="13970">
            <a:solidFill>
              <a:srgbClr val="5A667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18688" y="3255264"/>
            <a:ext cx="0" cy="0"/>
          </a:xfrm>
          <a:prstGeom prst="line">
            <a:avLst/>
          </a:prstGeom>
          <a:ln w="13970">
            <a:solidFill>
              <a:srgbClr val="5A6672"/>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218688" y="3255264"/>
            <a:ext cx="210312" cy="0"/>
          </a:xfrm>
          <a:prstGeom prst="line">
            <a:avLst/>
          </a:prstGeom>
          <a:ln w="13970">
            <a:solidFill>
              <a:srgbClr val="5A66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943600" y="3255264"/>
            <a:ext cx="411480" cy="0"/>
          </a:xfrm>
          <a:prstGeom prst="line">
            <a:avLst/>
          </a:prstGeom>
          <a:ln w="13970">
            <a:solidFill>
              <a:srgbClr val="5A66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869680" y="3255264"/>
            <a:ext cx="411480" cy="0"/>
          </a:xfrm>
          <a:prstGeom prst="line">
            <a:avLst/>
          </a:prstGeom>
          <a:ln w="13970">
            <a:solidFill>
              <a:srgbClr val="5A667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29000" y="3977639"/>
            <a:ext cx="2514600" cy="658368"/>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02152" y="4014215"/>
            <a:ext cx="2368296" cy="585216"/>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Dokumen tagihan bengkel bolak-balik</a:t>
            </a:r>
          </a:p>
        </p:txBody>
      </p:sp>
      <p:sp>
        <p:nvSpPr>
          <p:cNvPr id="38" name="Rounded Rectangle 37"/>
          <p:cNvSpPr/>
          <p:nvPr/>
        </p:nvSpPr>
        <p:spPr>
          <a:xfrm>
            <a:off x="6355080" y="3977639"/>
            <a:ext cx="2514600" cy="658368"/>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8232" y="4014215"/>
            <a:ext cx="2368296" cy="585216"/>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Bengkel tidak tahu syarat Foto Epoxy sejak awal</a:t>
            </a:r>
          </a:p>
        </p:txBody>
      </p:sp>
      <p:sp>
        <p:nvSpPr>
          <p:cNvPr id="40" name="Rounded Rectangle 39"/>
          <p:cNvSpPr/>
          <p:nvPr/>
        </p:nvSpPr>
        <p:spPr>
          <a:xfrm>
            <a:off x="9281160" y="3977639"/>
            <a:ext cx="2240280" cy="658368"/>
          </a:xfrm>
          <a:prstGeom prst="roundRect">
            <a:avLst>
              <a:gd name="adj" fmla="val 12000"/>
            </a:avLst>
          </a:prstGeom>
          <a:solidFill>
            <a:srgbClr val="ECFAF8"/>
          </a:solidFill>
          <a:ln w="14604">
            <a:solidFill>
              <a:srgbClr val="5A66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54312" y="4014215"/>
            <a:ext cx="2093976" cy="585216"/>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Daftar dokumen tagihan tidak ikut dikirim bersama SPK</a:t>
            </a:r>
          </a:p>
        </p:txBody>
      </p:sp>
      <p:cxnSp>
        <p:nvCxnSpPr>
          <p:cNvPr id="42" name="Connector 41"/>
          <p:cNvCxnSpPr/>
          <p:nvPr/>
        </p:nvCxnSpPr>
        <p:spPr>
          <a:xfrm>
            <a:off x="3017520" y="3255264"/>
            <a:ext cx="201168" cy="0"/>
          </a:xfrm>
          <a:prstGeom prst="line">
            <a:avLst/>
          </a:prstGeom>
          <a:ln w="13970">
            <a:solidFill>
              <a:srgbClr val="5A6672"/>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218688" y="3255264"/>
            <a:ext cx="0" cy="1051560"/>
          </a:xfrm>
          <a:prstGeom prst="line">
            <a:avLst/>
          </a:prstGeom>
          <a:ln w="13970">
            <a:solidFill>
              <a:srgbClr val="5A6672"/>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218688" y="4306824"/>
            <a:ext cx="210312" cy="0"/>
          </a:xfrm>
          <a:prstGeom prst="line">
            <a:avLst/>
          </a:prstGeom>
          <a:ln w="13970">
            <a:solidFill>
              <a:srgbClr val="5A66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943600" y="4306824"/>
            <a:ext cx="411480" cy="0"/>
          </a:xfrm>
          <a:prstGeom prst="line">
            <a:avLst/>
          </a:prstGeom>
          <a:ln w="13970">
            <a:solidFill>
              <a:srgbClr val="5A66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869680" y="4306824"/>
            <a:ext cx="411480" cy="0"/>
          </a:xfrm>
          <a:prstGeom prst="line">
            <a:avLst/>
          </a:prstGeom>
          <a:ln w="13970">
            <a:solidFill>
              <a:srgbClr val="5A667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281160" y="4681728"/>
            <a:ext cx="2240280" cy="274320"/>
          </a:xfrm>
          <a:prstGeom prst="rect">
            <a:avLst/>
          </a:prstGeom>
          <a:noFill/>
        </p:spPr>
        <p:txBody>
          <a:bodyPr wrap="square" lIns="0" rIns="0" tIns="0" bIns="0" anchor="t">
            <a:spAutoFit/>
          </a:bodyPr>
          <a:lstStyle/>
          <a:p>
            <a:pPr algn="ctr">
              <a:lnSpc>
                <a:spcPct val="112000"/>
              </a:lnSpc>
              <a:spcAft>
                <a:spcPts val="0"/>
              </a:spcAft>
            </a:pPr>
            <a:r>
              <a:rPr sz="950" b="0" i="1">
                <a:solidFill>
                  <a:srgbClr val="5A6672"/>
                </a:solidFill>
                <a:latin typeface="Calibri"/>
              </a:rPr>
              <a:t>masih dugaan, perlu dicek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ANALISIS KUALITATIF</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Issue register: daftar masalah yang bisa ditindaklanjuti</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10</a:t>
            </a:r>
          </a:p>
        </p:txBody>
      </p:sp>
      <p:graphicFrame>
        <p:nvGraphicFramePr>
          <p:cNvPr id="6" name="Table 5"/>
          <p:cNvGraphicFramePr>
            <a:graphicFrameLocks noGrp="1"/>
          </p:cNvGraphicFramePr>
          <p:nvPr/>
        </p:nvGraphicFramePr>
        <p:xfrm>
          <a:off x="658368" y="2519172"/>
          <a:ext cx="10875262" cy="2450592"/>
        </p:xfrm>
        <a:graphic>
          <a:graphicData uri="http://schemas.openxmlformats.org/drawingml/2006/table">
            <a:tbl>
              <a:tblPr>
                <a:tableStyleId>{5C22544A-7EE6-4342-B048-85BDC9FD1C3A}</a:tableStyleId>
              </a:tblPr>
              <a:tblGrid>
                <a:gridCol w="2913017"/>
                <a:gridCol w="2913017"/>
                <a:gridCol w="3884022"/>
                <a:gridCol w="1165206"/>
              </a:tblGrid>
              <a:tr h="475488">
                <a:tc>
                  <a:txBody>
                    <a:bodyPr wrap="square"/>
                    <a:lstStyle/>
                    <a:p>
                      <a:pPr algn="l">
                        <a:lnSpc>
                          <a:spcPct val="118000"/>
                        </a:lnSpc>
                      </a:pPr>
                      <a:r>
                        <a:rPr sz="1350" b="1">
                          <a:solidFill>
                            <a:srgbClr val="FFFFFF"/>
                          </a:solidFill>
                          <a:latin typeface="Calibri"/>
                        </a:rPr>
                        <a:t>Masalah</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Dampak</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Data dan asumsi</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Prioritas</a:t>
                      </a:r>
                    </a:p>
                  </a:txBody>
                  <a:tcPr marL="128016" marR="128016" marT="64008" marB="64008" anchor="ctr">
                    <a:solidFill>
                      <a:srgbClr val="0E7C86"/>
                    </a:solidFill>
                  </a:tcPr>
                </a:tc>
              </a:tr>
              <a:tr h="658368">
                <a:tc>
                  <a:txBody>
                    <a:bodyPr wrap="square"/>
                    <a:lstStyle/>
                    <a:p>
                      <a:pPr algn="l">
                        <a:lnSpc>
                          <a:spcPct val="118000"/>
                        </a:lnSpc>
                      </a:pPr>
                      <a:r>
                        <a:rPr sz="1250" b="1">
                          <a:solidFill>
                            <a:srgbClr val="1B2733"/>
                          </a:solidFill>
                          <a:latin typeface="Calibri"/>
                        </a:rPr>
                        <a:t>Klaim di atas 25 juta menunggu persetujuan Korwil</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Klaim tertahan, surveyor tidak bisa menjawab nasabah</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Pak Agus: pernah tertahan hampir sebulan. Asumsi: 1 dari 6 klaim di atas 25 juta</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Tinggi</a:t>
                      </a:r>
                    </a:p>
                  </a:txBody>
                  <a:tcPr marL="128016" marR="128016" marT="64008" marB="64008" anchor="ctr">
                    <a:solidFill>
                      <a:srgbClr val="FFFFFF"/>
                    </a:solidFill>
                  </a:tcPr>
                </a:tc>
              </a:tr>
              <a:tr h="658368">
                <a:tc>
                  <a:txBody>
                    <a:bodyPr wrap="square"/>
                    <a:lstStyle/>
                    <a:p>
                      <a:pPr algn="l">
                        <a:lnSpc>
                          <a:spcPct val="118000"/>
                        </a:lnSpc>
                      </a:pPr>
                      <a:r>
                        <a:rPr sz="1250" b="1">
                          <a:solidFill>
                            <a:srgbClr val="1B2733"/>
                          </a:solidFill>
                          <a:latin typeface="Calibri"/>
                        </a:rPr>
                        <a:t>Dokumen tagihan bolak-balik</a:t>
                      </a:r>
                    </a:p>
                  </a:txBody>
                  <a:tcPr marL="128016" marR="128016" marT="64008" marB="64008" anchor="ctr">
                    <a:solidFill>
                      <a:srgbClr val="F4F9FA"/>
                    </a:solidFill>
                  </a:tcPr>
                </a:tc>
                <a:tc>
                  <a:txBody>
                    <a:bodyPr wrap="square"/>
                    <a:lstStyle/>
                    <a:p>
                      <a:pPr algn="l">
                        <a:lnSpc>
                          <a:spcPct val="118000"/>
                        </a:lnSpc>
                      </a:pPr>
                      <a:r>
                        <a:rPr sz="1250" b="0">
                          <a:solidFill>
                            <a:srgbClr val="1B2733"/>
                          </a:solidFill>
                          <a:latin typeface="Calibri"/>
                        </a:rPr>
                        <a:t>Bengkel menunggu pembayaran, Dewi mengerjakan ulang</a:t>
                      </a:r>
                    </a:p>
                  </a:txBody>
                  <a:tcPr marL="128016" marR="128016" marT="64008" marB="64008" anchor="ctr">
                    <a:solidFill>
                      <a:srgbClr val="F4F9FA"/>
                    </a:solidFill>
                  </a:tcPr>
                </a:tc>
                <a:tc>
                  <a:txBody>
                    <a:bodyPr wrap="square"/>
                    <a:lstStyle/>
                    <a:p>
                      <a:pPr algn="l">
                        <a:lnSpc>
                          <a:spcPct val="118000"/>
                        </a:lnSpc>
                      </a:pPr>
                      <a:r>
                        <a:rPr sz="1250" b="0">
                          <a:solidFill>
                            <a:srgbClr val="1B2733"/>
                          </a:solidFill>
                          <a:latin typeface="Calibri"/>
                        </a:rPr>
                        <a:t>Dewi: 2 sampai 3 kali. Asumsi: 2 hari per putaran</a:t>
                      </a:r>
                    </a:p>
                  </a:txBody>
                  <a:tcPr marL="128016" marR="128016" marT="64008" marB="64008" anchor="ctr">
                    <a:solidFill>
                      <a:srgbClr val="F4F9FA"/>
                    </a:solidFill>
                  </a:tcPr>
                </a:tc>
                <a:tc>
                  <a:txBody>
                    <a:bodyPr wrap="square"/>
                    <a:lstStyle/>
                    <a:p>
                      <a:pPr algn="l">
                        <a:lnSpc>
                          <a:spcPct val="118000"/>
                        </a:lnSpc>
                      </a:pPr>
                      <a:r>
                        <a:rPr sz="1250" b="0">
                          <a:solidFill>
                            <a:srgbClr val="1B2733"/>
                          </a:solidFill>
                          <a:latin typeface="Calibri"/>
                        </a:rPr>
                        <a:t>Tinggi</a:t>
                      </a:r>
                    </a:p>
                  </a:txBody>
                  <a:tcPr marL="128016" marR="128016" marT="64008" marB="64008" anchor="ctr">
                    <a:solidFill>
                      <a:srgbClr val="F4F9FA"/>
                    </a:solidFill>
                  </a:tcPr>
                </a:tc>
              </a:tr>
              <a:tr h="658368">
                <a:tc>
                  <a:txBody>
                    <a:bodyPr wrap="square"/>
                    <a:lstStyle/>
                    <a:p>
                      <a:pPr algn="l">
                        <a:lnSpc>
                          <a:spcPct val="118000"/>
                        </a:lnSpc>
                      </a:pPr>
                      <a:r>
                        <a:rPr sz="1250" b="1">
                          <a:solidFill>
                            <a:srgbClr val="1B2733"/>
                          </a:solidFill>
                          <a:latin typeface="Calibri"/>
                        </a:rPr>
                        <a:t>Harga minimum dipakai untuk panel yang belum ada di pricelist</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Risiko salah bayar kalau lupa diedit</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Pak Agus: semua estimator begitu. Frekuensinya belum diketahui</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Sedang</a:t>
                      </a:r>
                    </a:p>
                  </a:txBody>
                  <a:tcPr marL="128016" marR="128016" marT="64008" marB="64008"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ANALISIS KUALITATIF</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Tulis dampaknya pakai angka, walau masih kira-kira</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11</a:t>
            </a:r>
          </a:p>
        </p:txBody>
      </p:sp>
      <p:sp>
        <p:nvSpPr>
          <p:cNvPr id="6" name="Rectangle 5"/>
          <p:cNvSpPr/>
          <p:nvPr/>
        </p:nvSpPr>
        <p:spPr>
          <a:xfrm>
            <a:off x="658368" y="2578608"/>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688336"/>
            <a:ext cx="9960864" cy="832103"/>
          </a:xfrm>
          <a:prstGeom prst="rect">
            <a:avLst/>
          </a:prstGeom>
          <a:noFill/>
        </p:spPr>
        <p:txBody>
          <a:bodyPr wrap="square" lIns="0" rIns="0" tIns="0" bIns="0" anchor="ctr">
            <a:spAutoFit/>
          </a:bodyPr>
          <a:lstStyle/>
          <a:p>
            <a:pPr algn="l">
              <a:lnSpc>
                <a:spcPct val="118000"/>
              </a:lnSpc>
              <a:spcAft>
                <a:spcPts val="0"/>
              </a:spcAft>
            </a:pPr>
            <a:r>
              <a:rPr sz="2000" b="1" i="0">
                <a:solidFill>
                  <a:srgbClr val="FFFFFF"/>
                </a:solidFill>
                <a:latin typeface="Calibri"/>
              </a:rPr>
              <a:t>“Prosesnya lambat” belum bisa diapa-apakan. “Klaim di atas 25 juta tertahan sekitar lima hari menunggu persetujuan” sudah bisa.</a:t>
            </a:r>
          </a:p>
        </p:txBody>
      </p:sp>
      <p:sp>
        <p:nvSpPr>
          <p:cNvPr id="8" name="TextBox 7"/>
          <p:cNvSpPr txBox="1"/>
          <p:nvPr/>
        </p:nvSpPr>
        <p:spPr>
          <a:xfrm>
            <a:off x="658368" y="3941064"/>
            <a:ext cx="9352727" cy="1280160"/>
          </a:xfrm>
          <a:prstGeom prst="rect">
            <a:avLst/>
          </a:prstGeom>
          <a:noFill/>
        </p:spPr>
        <p:txBody>
          <a:bodyPr wrap="square" lIns="0" rIns="0" tIns="0" bIns="0" anchor="t">
            <a:spAutoFit/>
          </a:bodyPr>
          <a:lstStyle/>
          <a:p>
            <a:pPr algn="l">
              <a:lnSpc>
                <a:spcPct val="135000"/>
              </a:lnSpc>
              <a:spcAft>
                <a:spcPts val="1200"/>
              </a:spcAft>
            </a:pPr>
            <a:r>
              <a:rPr sz="1500" b="0" i="0">
                <a:solidFill>
                  <a:srgbClr val="5A6672"/>
                </a:solidFill>
                <a:latin typeface="Calibri"/>
              </a:rPr>
              <a:t>Angka kira-kira tidak apa-apa. Yang penting asumsinya ditulis, supaya orang lain bisa mengecek dan membetulkannya.</a:t>
            </a:r>
          </a:p>
          <a:p>
            <a:pPr algn="l">
              <a:lnSpc>
                <a:spcPct val="135000"/>
              </a:lnSpc>
              <a:spcAft>
                <a:spcPts val="1200"/>
              </a:spcAft>
            </a:pPr>
            <a:r>
              <a:rPr sz="1500" b="0" i="0">
                <a:solidFill>
                  <a:srgbClr val="5A6672"/>
                </a:solidFill>
                <a:latin typeface="Calibri"/>
              </a:rPr>
              <a:t>Di Tugas 1, issue register dengan dampak tanpa angka dinilai rendah.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7C86"/>
        </a:solidFill>
        <a:effectLst/>
      </p:bgPr>
    </p:bg>
    <p:spTree>
      <p:nvGrpSpPr>
        <p:cNvPr id="1" name=""/>
        <p:cNvGrpSpPr/>
        <p:nvPr/>
      </p:nvGrpSpPr>
      <p:grpSpPr/>
      <p:sp>
        <p:nvSpPr>
          <p:cNvPr id="2" name="Oval 1"/>
          <p:cNvSpPr/>
          <p:nvPr/>
        </p:nvSpPr>
        <p:spPr>
          <a:xfrm>
            <a:off x="9601200" y="-1097280"/>
            <a:ext cx="4023360" cy="40233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80" y="3840480"/>
            <a:ext cx="3291840" cy="329184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5486400" cy="320040"/>
          </a:xfrm>
          <a:prstGeom prst="rect">
            <a:avLst/>
          </a:prstGeom>
          <a:noFill/>
        </p:spPr>
        <p:txBody>
          <a:bodyPr wrap="square" lIns="0" rIns="0" tIns="0" bIns="0" anchor="t">
            <a:spAutoFit/>
          </a:bodyPr>
          <a:lstStyle/>
          <a:p>
            <a:pPr algn="l">
              <a:lnSpc>
                <a:spcPct val="100000"/>
              </a:lnSpc>
              <a:spcAft>
                <a:spcPts val="0"/>
              </a:spcAft>
            </a:pPr>
            <a:r>
              <a:rPr sz="1300" b="1" i="0">
                <a:solidFill>
                  <a:srgbClr val="AFE4E9"/>
                </a:solidFill>
                <a:latin typeface="Calibri"/>
              </a:rPr>
              <a:t>MODUL 2</a:t>
            </a:r>
          </a:p>
        </p:txBody>
      </p:sp>
      <p:sp>
        <p:nvSpPr>
          <p:cNvPr id="5" name="TextBox 4"/>
          <p:cNvSpPr txBox="1"/>
          <p:nvPr/>
        </p:nvSpPr>
        <p:spPr>
          <a:xfrm>
            <a:off x="658368" y="2670048"/>
            <a:ext cx="9326880" cy="914400"/>
          </a:xfrm>
          <a:prstGeom prst="rect">
            <a:avLst/>
          </a:prstGeom>
          <a:noFill/>
        </p:spPr>
        <p:txBody>
          <a:bodyPr wrap="square" lIns="0" rIns="0" tIns="0" bIns="0" anchor="t">
            <a:spAutoFit/>
          </a:bodyPr>
          <a:lstStyle/>
          <a:p>
            <a:pPr algn="l">
              <a:lnSpc>
                <a:spcPct val="105000"/>
              </a:lnSpc>
              <a:spcAft>
                <a:spcPts val="0"/>
              </a:spcAft>
            </a:pPr>
            <a:r>
              <a:rPr sz="3800" b="1" i="0">
                <a:solidFill>
                  <a:srgbClr val="FFFFFF"/>
                </a:solidFill>
                <a:latin typeface="Calibri"/>
              </a:rPr>
              <a:t>Mengukur Proses</a:t>
            </a:r>
          </a:p>
        </p:txBody>
      </p:sp>
      <p:sp>
        <p:nvSpPr>
          <p:cNvPr id="6" name="TextBox 5"/>
          <p:cNvSpPr txBox="1"/>
          <p:nvPr/>
        </p:nvSpPr>
        <p:spPr>
          <a:xfrm>
            <a:off x="658368" y="3703320"/>
            <a:ext cx="8778240" cy="548640"/>
          </a:xfrm>
          <a:prstGeom prst="rect">
            <a:avLst/>
          </a:prstGeom>
          <a:noFill/>
        </p:spPr>
        <p:txBody>
          <a:bodyPr wrap="square" lIns="0" rIns="0" tIns="0" bIns="0" anchor="t">
            <a:spAutoFit/>
          </a:bodyPr>
          <a:lstStyle/>
          <a:p>
            <a:pPr algn="l">
              <a:lnSpc>
                <a:spcPct val="120000"/>
              </a:lnSpc>
              <a:spcAft>
                <a:spcPts val="0"/>
              </a:spcAft>
            </a:pPr>
            <a:r>
              <a:rPr sz="1600" b="0" i="0">
                <a:solidFill>
                  <a:srgbClr val="AFE4E9"/>
                </a:solidFill>
                <a:latin typeface="Calibri"/>
              </a:rPr>
              <a:t>Cycle time, waktu tunggu, dan sekilas process mining.</a:t>
            </a:r>
          </a:p>
        </p:txBody>
      </p:sp>
      <p:sp>
        <p:nvSpPr>
          <p:cNvPr id="7" name="TextBox 6"/>
          <p:cNvSpPr txBox="1"/>
          <p:nvPr/>
        </p:nvSpPr>
        <p:spPr>
          <a:xfrm>
            <a:off x="658368" y="5852160"/>
            <a:ext cx="7315200" cy="320040"/>
          </a:xfrm>
          <a:prstGeom prst="rect">
            <a:avLst/>
          </a:prstGeom>
          <a:noFill/>
        </p:spPr>
        <p:txBody>
          <a:bodyPr wrap="square" lIns="0" rIns="0" tIns="0" bIns="0" anchor="t">
            <a:spAutoFit/>
          </a:bodyPr>
          <a:lstStyle/>
          <a:p>
            <a:pPr algn="l">
              <a:lnSpc>
                <a:spcPct val="100000"/>
              </a:lnSpc>
              <a:spcAft>
                <a:spcPts val="0"/>
              </a:spcAft>
            </a:pPr>
            <a:r>
              <a:rPr sz="1200" b="0" i="0">
                <a:solidFill>
                  <a:srgbClr val="AFE4E9"/>
                </a:solidFill>
                <a:latin typeface="Calibri"/>
              </a:rPr>
              <a:t>sekitar 15 menit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ANALISIS KUANTITATIF</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Satu permintaan, tujuh hari, kurang dari dua jam dikerjakan</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13</a:t>
            </a:r>
          </a:p>
        </p:txBody>
      </p:sp>
      <p:sp>
        <p:nvSpPr>
          <p:cNvPr id="6" name="Rectangle 5"/>
          <p:cNvSpPr/>
          <p:nvPr/>
        </p:nvSpPr>
        <p:spPr>
          <a:xfrm>
            <a:off x="914400" y="2514600"/>
            <a:ext cx="10332720" cy="502920"/>
          </a:xfrm>
          <a:prstGeom prst="rect">
            <a:avLst/>
          </a:prstGeom>
          <a:solidFill>
            <a:srgbClr val="DD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2514600"/>
            <a:ext cx="64008" cy="5029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946403" y="2395728"/>
            <a:ext cx="0" cy="118872"/>
          </a:xfrm>
          <a:prstGeom prst="line">
            <a:avLst/>
          </a:prstGeom>
          <a:ln w="10160">
            <a:solidFill>
              <a:srgbClr val="5A667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28600" y="2011680"/>
            <a:ext cx="1371600" cy="274320"/>
          </a:xfrm>
          <a:prstGeom prst="rect">
            <a:avLst/>
          </a:prstGeom>
          <a:noFill/>
        </p:spPr>
        <p:txBody>
          <a:bodyPr wrap="square" lIns="0" rIns="0" tIns="0" bIns="0" anchor="t">
            <a:spAutoFit/>
          </a:bodyPr>
          <a:lstStyle/>
          <a:p>
            <a:pPr algn="ctr">
              <a:lnSpc>
                <a:spcPct val="112000"/>
              </a:lnSpc>
              <a:spcAft>
                <a:spcPts val="0"/>
              </a:spcAft>
            </a:pPr>
            <a:r>
              <a:rPr sz="950" b="0" i="0">
                <a:solidFill>
                  <a:srgbClr val="1B2733"/>
                </a:solidFill>
                <a:latin typeface="Calibri"/>
              </a:rPr>
              <a:t>Terima, 15 mnt</a:t>
            </a:r>
          </a:p>
        </p:txBody>
      </p:sp>
      <p:sp>
        <p:nvSpPr>
          <p:cNvPr id="10" name="Rectangle 9"/>
          <p:cNvSpPr/>
          <p:nvPr/>
        </p:nvSpPr>
        <p:spPr>
          <a:xfrm>
            <a:off x="2538113" y="2514600"/>
            <a:ext cx="64008" cy="5029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2570117" y="3017520"/>
            <a:ext cx="0" cy="91440"/>
          </a:xfrm>
          <a:prstGeom prst="line">
            <a:avLst/>
          </a:prstGeom>
          <a:ln w="10160">
            <a:solidFill>
              <a:srgbClr val="5A667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852313" y="3090672"/>
            <a:ext cx="1371600" cy="274320"/>
          </a:xfrm>
          <a:prstGeom prst="rect">
            <a:avLst/>
          </a:prstGeom>
          <a:noFill/>
        </p:spPr>
        <p:txBody>
          <a:bodyPr wrap="square" lIns="0" rIns="0" tIns="0" bIns="0" anchor="t">
            <a:spAutoFit/>
          </a:bodyPr>
          <a:lstStyle/>
          <a:p>
            <a:pPr algn="ctr">
              <a:lnSpc>
                <a:spcPct val="112000"/>
              </a:lnSpc>
              <a:spcAft>
                <a:spcPts val="0"/>
              </a:spcAft>
            </a:pPr>
            <a:r>
              <a:rPr sz="950" b="0" i="0">
                <a:solidFill>
                  <a:srgbClr val="1B2733"/>
                </a:solidFill>
                <a:latin typeface="Calibri"/>
              </a:rPr>
              <a:t>Cek dokumen, 20 mnt</a:t>
            </a:r>
          </a:p>
        </p:txBody>
      </p:sp>
      <p:sp>
        <p:nvSpPr>
          <p:cNvPr id="13" name="Rectangle 12"/>
          <p:cNvSpPr/>
          <p:nvPr/>
        </p:nvSpPr>
        <p:spPr>
          <a:xfrm>
            <a:off x="3718995" y="2514600"/>
            <a:ext cx="64008" cy="5029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3750999" y="2395728"/>
            <a:ext cx="0" cy="118872"/>
          </a:xfrm>
          <a:prstGeom prst="line">
            <a:avLst/>
          </a:prstGeom>
          <a:ln w="10160">
            <a:solidFill>
              <a:srgbClr val="5A667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033195" y="2011680"/>
            <a:ext cx="1371600" cy="274320"/>
          </a:xfrm>
          <a:prstGeom prst="rect">
            <a:avLst/>
          </a:prstGeom>
          <a:noFill/>
        </p:spPr>
        <p:txBody>
          <a:bodyPr wrap="square" lIns="0" rIns="0" tIns="0" bIns="0" anchor="t">
            <a:spAutoFit/>
          </a:bodyPr>
          <a:lstStyle/>
          <a:p>
            <a:pPr algn="ctr">
              <a:lnSpc>
                <a:spcPct val="112000"/>
              </a:lnSpc>
              <a:spcAft>
                <a:spcPts val="0"/>
              </a:spcAft>
            </a:pPr>
            <a:r>
              <a:rPr sz="950" b="0" i="0">
                <a:solidFill>
                  <a:srgbClr val="1B2733"/>
                </a:solidFill>
                <a:latin typeface="Calibri"/>
              </a:rPr>
              <a:t>Hitung premi, 30 mnt</a:t>
            </a:r>
          </a:p>
        </p:txBody>
      </p:sp>
      <p:sp>
        <p:nvSpPr>
          <p:cNvPr id="16" name="Rectangle 15"/>
          <p:cNvSpPr/>
          <p:nvPr/>
        </p:nvSpPr>
        <p:spPr>
          <a:xfrm>
            <a:off x="5047488" y="2514600"/>
            <a:ext cx="64008" cy="5029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5079492" y="3017520"/>
            <a:ext cx="0" cy="91440"/>
          </a:xfrm>
          <a:prstGeom prst="line">
            <a:avLst/>
          </a:prstGeom>
          <a:ln w="10160">
            <a:solidFill>
              <a:srgbClr val="5A667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61688" y="3090672"/>
            <a:ext cx="1371600" cy="274320"/>
          </a:xfrm>
          <a:prstGeom prst="rect">
            <a:avLst/>
          </a:prstGeom>
          <a:noFill/>
        </p:spPr>
        <p:txBody>
          <a:bodyPr wrap="square" lIns="0" rIns="0" tIns="0" bIns="0" anchor="t">
            <a:spAutoFit/>
          </a:bodyPr>
          <a:lstStyle/>
          <a:p>
            <a:pPr algn="ctr">
              <a:lnSpc>
                <a:spcPct val="112000"/>
              </a:lnSpc>
              <a:spcAft>
                <a:spcPts val="0"/>
              </a:spcAft>
            </a:pPr>
            <a:r>
              <a:rPr sz="950" b="0" i="0">
                <a:solidFill>
                  <a:srgbClr val="1B2733"/>
                </a:solidFill>
                <a:latin typeface="Calibri"/>
              </a:rPr>
              <a:t>Setujui, 10 mnt</a:t>
            </a:r>
          </a:p>
        </p:txBody>
      </p:sp>
      <p:sp>
        <p:nvSpPr>
          <p:cNvPr id="19" name="Rectangle 18"/>
          <p:cNvSpPr/>
          <p:nvPr/>
        </p:nvSpPr>
        <p:spPr>
          <a:xfrm>
            <a:off x="9771017" y="2514600"/>
            <a:ext cx="64008" cy="5029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9803021" y="2395728"/>
            <a:ext cx="0" cy="118872"/>
          </a:xfrm>
          <a:prstGeom prst="line">
            <a:avLst/>
          </a:prstGeom>
          <a:ln w="10160">
            <a:solidFill>
              <a:srgbClr val="5A667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085217" y="2011680"/>
            <a:ext cx="1371600" cy="274320"/>
          </a:xfrm>
          <a:prstGeom prst="rect">
            <a:avLst/>
          </a:prstGeom>
          <a:noFill/>
        </p:spPr>
        <p:txBody>
          <a:bodyPr wrap="square" lIns="0" rIns="0" tIns="0" bIns="0" anchor="t">
            <a:spAutoFit/>
          </a:bodyPr>
          <a:lstStyle/>
          <a:p>
            <a:pPr algn="ctr">
              <a:lnSpc>
                <a:spcPct val="112000"/>
              </a:lnSpc>
              <a:spcAft>
                <a:spcPts val="0"/>
              </a:spcAft>
            </a:pPr>
            <a:r>
              <a:rPr sz="950" b="0" i="0">
                <a:solidFill>
                  <a:srgbClr val="1B2733"/>
                </a:solidFill>
                <a:latin typeface="Calibri"/>
              </a:rPr>
              <a:t>Terbitkan, 20 mnt</a:t>
            </a:r>
          </a:p>
        </p:txBody>
      </p:sp>
      <p:sp>
        <p:nvSpPr>
          <p:cNvPr id="22" name="Rectangle 21"/>
          <p:cNvSpPr/>
          <p:nvPr/>
        </p:nvSpPr>
        <p:spPr>
          <a:xfrm>
            <a:off x="11202836" y="2514600"/>
            <a:ext cx="64008" cy="5029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11234840" y="3017520"/>
            <a:ext cx="0" cy="91440"/>
          </a:xfrm>
          <a:prstGeom prst="line">
            <a:avLst/>
          </a:prstGeom>
          <a:ln w="10160">
            <a:solidFill>
              <a:srgbClr val="5A667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517036" y="3090672"/>
            <a:ext cx="1371600" cy="274320"/>
          </a:xfrm>
          <a:prstGeom prst="rect">
            <a:avLst/>
          </a:prstGeom>
          <a:noFill/>
        </p:spPr>
        <p:txBody>
          <a:bodyPr wrap="square" lIns="0" rIns="0" tIns="0" bIns="0" anchor="t">
            <a:spAutoFit/>
          </a:bodyPr>
          <a:lstStyle/>
          <a:p>
            <a:pPr algn="ctr">
              <a:lnSpc>
                <a:spcPct val="112000"/>
              </a:lnSpc>
              <a:spcAft>
                <a:spcPts val="0"/>
              </a:spcAft>
            </a:pPr>
            <a:r>
              <a:rPr sz="950" b="0" i="0">
                <a:solidFill>
                  <a:srgbClr val="1B2733"/>
                </a:solidFill>
                <a:latin typeface="Calibri"/>
              </a:rPr>
              <a:t>Kirim, 10 mnt</a:t>
            </a:r>
          </a:p>
        </p:txBody>
      </p:sp>
      <p:sp>
        <p:nvSpPr>
          <p:cNvPr id="25" name="TextBox 24"/>
          <p:cNvSpPr txBox="1"/>
          <p:nvPr/>
        </p:nvSpPr>
        <p:spPr>
          <a:xfrm>
            <a:off x="640080" y="3474720"/>
            <a:ext cx="548640" cy="274320"/>
          </a:xfrm>
          <a:prstGeom prst="rect">
            <a:avLst/>
          </a:prstGeom>
          <a:noFill/>
        </p:spPr>
        <p:txBody>
          <a:bodyPr wrap="square" lIns="0" rIns="0" tIns="0" bIns="0" anchor="t">
            <a:spAutoFit/>
          </a:bodyPr>
          <a:lstStyle/>
          <a:p>
            <a:pPr algn="ctr">
              <a:lnSpc>
                <a:spcPct val="112000"/>
              </a:lnSpc>
              <a:spcAft>
                <a:spcPts val="0"/>
              </a:spcAft>
            </a:pPr>
            <a:r>
              <a:rPr sz="900" b="0" i="0">
                <a:solidFill>
                  <a:srgbClr val="5A6672"/>
                </a:solidFill>
                <a:latin typeface="Calibri"/>
              </a:rPr>
              <a:t>0</a:t>
            </a:r>
          </a:p>
        </p:txBody>
      </p:sp>
      <p:sp>
        <p:nvSpPr>
          <p:cNvPr id="26" name="TextBox 25"/>
          <p:cNvSpPr txBox="1"/>
          <p:nvPr/>
        </p:nvSpPr>
        <p:spPr>
          <a:xfrm>
            <a:off x="2116182" y="3474720"/>
            <a:ext cx="548640" cy="274320"/>
          </a:xfrm>
          <a:prstGeom prst="rect">
            <a:avLst/>
          </a:prstGeom>
          <a:noFill/>
        </p:spPr>
        <p:txBody>
          <a:bodyPr wrap="square" lIns="0" rIns="0" tIns="0" bIns="0" anchor="t">
            <a:spAutoFit/>
          </a:bodyPr>
          <a:lstStyle/>
          <a:p>
            <a:pPr algn="ctr">
              <a:lnSpc>
                <a:spcPct val="112000"/>
              </a:lnSpc>
              <a:spcAft>
                <a:spcPts val="0"/>
              </a:spcAft>
            </a:pPr>
            <a:r>
              <a:rPr sz="900" b="0" i="0">
                <a:solidFill>
                  <a:srgbClr val="5A6672"/>
                </a:solidFill>
                <a:latin typeface="Calibri"/>
              </a:rPr>
              <a:t>1</a:t>
            </a:r>
          </a:p>
        </p:txBody>
      </p:sp>
      <p:sp>
        <p:nvSpPr>
          <p:cNvPr id="27" name="TextBox 26"/>
          <p:cNvSpPr txBox="1"/>
          <p:nvPr/>
        </p:nvSpPr>
        <p:spPr>
          <a:xfrm>
            <a:off x="3592285" y="3474720"/>
            <a:ext cx="548640" cy="274320"/>
          </a:xfrm>
          <a:prstGeom prst="rect">
            <a:avLst/>
          </a:prstGeom>
          <a:noFill/>
        </p:spPr>
        <p:txBody>
          <a:bodyPr wrap="square" lIns="0" rIns="0" tIns="0" bIns="0" anchor="t">
            <a:spAutoFit/>
          </a:bodyPr>
          <a:lstStyle/>
          <a:p>
            <a:pPr algn="ctr">
              <a:lnSpc>
                <a:spcPct val="112000"/>
              </a:lnSpc>
              <a:spcAft>
                <a:spcPts val="0"/>
              </a:spcAft>
            </a:pPr>
            <a:r>
              <a:rPr sz="900" b="0" i="0">
                <a:solidFill>
                  <a:srgbClr val="5A6672"/>
                </a:solidFill>
                <a:latin typeface="Calibri"/>
              </a:rPr>
              <a:t>2</a:t>
            </a:r>
          </a:p>
        </p:txBody>
      </p:sp>
      <p:sp>
        <p:nvSpPr>
          <p:cNvPr id="28" name="TextBox 27"/>
          <p:cNvSpPr txBox="1"/>
          <p:nvPr/>
        </p:nvSpPr>
        <p:spPr>
          <a:xfrm>
            <a:off x="5068388" y="3474720"/>
            <a:ext cx="548640" cy="274320"/>
          </a:xfrm>
          <a:prstGeom prst="rect">
            <a:avLst/>
          </a:prstGeom>
          <a:noFill/>
        </p:spPr>
        <p:txBody>
          <a:bodyPr wrap="square" lIns="0" rIns="0" tIns="0" bIns="0" anchor="t">
            <a:spAutoFit/>
          </a:bodyPr>
          <a:lstStyle/>
          <a:p>
            <a:pPr algn="ctr">
              <a:lnSpc>
                <a:spcPct val="112000"/>
              </a:lnSpc>
              <a:spcAft>
                <a:spcPts val="0"/>
              </a:spcAft>
            </a:pPr>
            <a:r>
              <a:rPr sz="900" b="0" i="0">
                <a:solidFill>
                  <a:srgbClr val="5A6672"/>
                </a:solidFill>
                <a:latin typeface="Calibri"/>
              </a:rPr>
              <a:t>3</a:t>
            </a:r>
          </a:p>
        </p:txBody>
      </p:sp>
      <p:sp>
        <p:nvSpPr>
          <p:cNvPr id="29" name="TextBox 28"/>
          <p:cNvSpPr txBox="1"/>
          <p:nvPr/>
        </p:nvSpPr>
        <p:spPr>
          <a:xfrm>
            <a:off x="6544491" y="3474720"/>
            <a:ext cx="548640" cy="274320"/>
          </a:xfrm>
          <a:prstGeom prst="rect">
            <a:avLst/>
          </a:prstGeom>
          <a:noFill/>
        </p:spPr>
        <p:txBody>
          <a:bodyPr wrap="square" lIns="0" rIns="0" tIns="0" bIns="0" anchor="t">
            <a:spAutoFit/>
          </a:bodyPr>
          <a:lstStyle/>
          <a:p>
            <a:pPr algn="ctr">
              <a:lnSpc>
                <a:spcPct val="112000"/>
              </a:lnSpc>
              <a:spcAft>
                <a:spcPts val="0"/>
              </a:spcAft>
            </a:pPr>
            <a:r>
              <a:rPr sz="900" b="0" i="0">
                <a:solidFill>
                  <a:srgbClr val="5A6672"/>
                </a:solidFill>
                <a:latin typeface="Calibri"/>
              </a:rPr>
              <a:t>4</a:t>
            </a:r>
          </a:p>
        </p:txBody>
      </p:sp>
      <p:sp>
        <p:nvSpPr>
          <p:cNvPr id="30" name="TextBox 29"/>
          <p:cNvSpPr txBox="1"/>
          <p:nvPr/>
        </p:nvSpPr>
        <p:spPr>
          <a:xfrm>
            <a:off x="8020594" y="3474720"/>
            <a:ext cx="548640" cy="274320"/>
          </a:xfrm>
          <a:prstGeom prst="rect">
            <a:avLst/>
          </a:prstGeom>
          <a:noFill/>
        </p:spPr>
        <p:txBody>
          <a:bodyPr wrap="square" lIns="0" rIns="0" tIns="0" bIns="0" anchor="t">
            <a:spAutoFit/>
          </a:bodyPr>
          <a:lstStyle/>
          <a:p>
            <a:pPr algn="ctr">
              <a:lnSpc>
                <a:spcPct val="112000"/>
              </a:lnSpc>
              <a:spcAft>
                <a:spcPts val="0"/>
              </a:spcAft>
            </a:pPr>
            <a:r>
              <a:rPr sz="900" b="0" i="0">
                <a:solidFill>
                  <a:srgbClr val="5A6672"/>
                </a:solidFill>
                <a:latin typeface="Calibri"/>
              </a:rPr>
              <a:t>5</a:t>
            </a:r>
          </a:p>
        </p:txBody>
      </p:sp>
      <p:sp>
        <p:nvSpPr>
          <p:cNvPr id="31" name="TextBox 30"/>
          <p:cNvSpPr txBox="1"/>
          <p:nvPr/>
        </p:nvSpPr>
        <p:spPr>
          <a:xfrm>
            <a:off x="9496697" y="3474720"/>
            <a:ext cx="548640" cy="274320"/>
          </a:xfrm>
          <a:prstGeom prst="rect">
            <a:avLst/>
          </a:prstGeom>
          <a:noFill/>
        </p:spPr>
        <p:txBody>
          <a:bodyPr wrap="square" lIns="0" rIns="0" tIns="0" bIns="0" anchor="t">
            <a:spAutoFit/>
          </a:bodyPr>
          <a:lstStyle/>
          <a:p>
            <a:pPr algn="ctr">
              <a:lnSpc>
                <a:spcPct val="112000"/>
              </a:lnSpc>
              <a:spcAft>
                <a:spcPts val="0"/>
              </a:spcAft>
            </a:pPr>
            <a:r>
              <a:rPr sz="900" b="0" i="0">
                <a:solidFill>
                  <a:srgbClr val="5A6672"/>
                </a:solidFill>
                <a:latin typeface="Calibri"/>
              </a:rPr>
              <a:t>6</a:t>
            </a:r>
          </a:p>
        </p:txBody>
      </p:sp>
      <p:sp>
        <p:nvSpPr>
          <p:cNvPr id="32" name="TextBox 31"/>
          <p:cNvSpPr txBox="1"/>
          <p:nvPr/>
        </p:nvSpPr>
        <p:spPr>
          <a:xfrm>
            <a:off x="10972800" y="3474720"/>
            <a:ext cx="548640" cy="274320"/>
          </a:xfrm>
          <a:prstGeom prst="rect">
            <a:avLst/>
          </a:prstGeom>
          <a:noFill/>
        </p:spPr>
        <p:txBody>
          <a:bodyPr wrap="square" lIns="0" rIns="0" tIns="0" bIns="0" anchor="t">
            <a:spAutoFit/>
          </a:bodyPr>
          <a:lstStyle/>
          <a:p>
            <a:pPr algn="ctr">
              <a:lnSpc>
                <a:spcPct val="112000"/>
              </a:lnSpc>
              <a:spcAft>
                <a:spcPts val="0"/>
              </a:spcAft>
            </a:pPr>
            <a:r>
              <a:rPr sz="900" b="0" i="0">
                <a:solidFill>
                  <a:srgbClr val="5A6672"/>
                </a:solidFill>
                <a:latin typeface="Calibri"/>
              </a:rPr>
              <a:t>7</a:t>
            </a:r>
          </a:p>
        </p:txBody>
      </p:sp>
      <p:sp>
        <p:nvSpPr>
          <p:cNvPr id="33" name="TextBox 32"/>
          <p:cNvSpPr txBox="1"/>
          <p:nvPr/>
        </p:nvSpPr>
        <p:spPr>
          <a:xfrm>
            <a:off x="914400" y="3730752"/>
            <a:ext cx="2743200" cy="274320"/>
          </a:xfrm>
          <a:prstGeom prst="rect">
            <a:avLst/>
          </a:prstGeom>
          <a:noFill/>
        </p:spPr>
        <p:txBody>
          <a:bodyPr wrap="square" lIns="0" rIns="0" tIns="0" bIns="0" anchor="t">
            <a:spAutoFit/>
          </a:bodyPr>
          <a:lstStyle/>
          <a:p>
            <a:pPr algn="l">
              <a:lnSpc>
                <a:spcPct val="112000"/>
              </a:lnSpc>
              <a:spcAft>
                <a:spcPts val="0"/>
              </a:spcAft>
            </a:pPr>
            <a:r>
              <a:rPr sz="900" b="0" i="1">
                <a:solidFill>
                  <a:srgbClr val="5A6672"/>
                </a:solidFill>
                <a:latin typeface="Calibri"/>
              </a:rPr>
              <a:t>hari ke-</a:t>
            </a:r>
          </a:p>
        </p:txBody>
      </p:sp>
      <p:sp>
        <p:nvSpPr>
          <p:cNvPr id="34" name="TextBox 33"/>
          <p:cNvSpPr txBox="1"/>
          <p:nvPr/>
        </p:nvSpPr>
        <p:spPr>
          <a:xfrm>
            <a:off x="4892040" y="2633472"/>
            <a:ext cx="2377440" cy="274320"/>
          </a:xfrm>
          <a:prstGeom prst="rect">
            <a:avLst/>
          </a:prstGeom>
          <a:noFill/>
        </p:spPr>
        <p:txBody>
          <a:bodyPr wrap="square" lIns="0" rIns="0" tIns="0" bIns="0" anchor="t">
            <a:spAutoFit/>
          </a:bodyPr>
          <a:lstStyle/>
          <a:p>
            <a:pPr algn="ctr">
              <a:lnSpc>
                <a:spcPct val="112000"/>
              </a:lnSpc>
              <a:spcAft>
                <a:spcPts val="0"/>
              </a:spcAft>
            </a:pPr>
            <a:r>
              <a:rPr sz="1100" b="1" i="0">
                <a:solidFill>
                  <a:srgbClr val="0E7C86"/>
                </a:solidFill>
                <a:latin typeface="Calibri"/>
              </a:rPr>
              <a:t>menunggu</a:t>
            </a:r>
          </a:p>
        </p:txBody>
      </p:sp>
      <p:sp>
        <p:nvSpPr>
          <p:cNvPr id="35" name="Rectangle 34"/>
          <p:cNvSpPr/>
          <p:nvPr/>
        </p:nvSpPr>
        <p:spPr>
          <a:xfrm>
            <a:off x="658368" y="4251960"/>
            <a:ext cx="3442208" cy="868680"/>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4315968"/>
            <a:ext cx="2985008" cy="274320"/>
          </a:xfrm>
          <a:prstGeom prst="rect">
            <a:avLst/>
          </a:prstGeom>
          <a:noFill/>
        </p:spPr>
        <p:txBody>
          <a:bodyPr wrap="square" lIns="0" rIns="0" tIns="0" bIns="0" anchor="t">
            <a:spAutoFit/>
          </a:bodyPr>
          <a:lstStyle/>
          <a:p>
            <a:pPr algn="l">
              <a:lnSpc>
                <a:spcPct val="112000"/>
              </a:lnSpc>
              <a:spcAft>
                <a:spcPts val="0"/>
              </a:spcAft>
            </a:pPr>
            <a:r>
              <a:rPr sz="1100" b="1" i="0">
                <a:solidFill>
                  <a:srgbClr val="0E7C86"/>
                </a:solidFill>
                <a:latin typeface="Calibri"/>
              </a:rPr>
              <a:t>Cycle time</a:t>
            </a:r>
          </a:p>
        </p:txBody>
      </p:sp>
      <p:sp>
        <p:nvSpPr>
          <p:cNvPr id="37" name="TextBox 36"/>
          <p:cNvSpPr txBox="1"/>
          <p:nvPr/>
        </p:nvSpPr>
        <p:spPr>
          <a:xfrm>
            <a:off x="886968" y="4617720"/>
            <a:ext cx="2985008" cy="411480"/>
          </a:xfrm>
          <a:prstGeom prst="rect">
            <a:avLst/>
          </a:prstGeom>
          <a:noFill/>
        </p:spPr>
        <p:txBody>
          <a:bodyPr wrap="square" lIns="0" rIns="0" tIns="0" bIns="0" anchor="t">
            <a:spAutoFit/>
          </a:bodyPr>
          <a:lstStyle/>
          <a:p>
            <a:pPr algn="l">
              <a:lnSpc>
                <a:spcPct val="112000"/>
              </a:lnSpc>
              <a:spcAft>
                <a:spcPts val="0"/>
              </a:spcAft>
            </a:pPr>
            <a:r>
              <a:rPr sz="1800" b="1" i="0">
                <a:solidFill>
                  <a:srgbClr val="1B2733"/>
                </a:solidFill>
                <a:latin typeface="Calibri"/>
              </a:rPr>
              <a:t>7 hari</a:t>
            </a:r>
          </a:p>
        </p:txBody>
      </p:sp>
      <p:sp>
        <p:nvSpPr>
          <p:cNvPr id="38" name="Rectangle 37"/>
          <p:cNvSpPr/>
          <p:nvPr/>
        </p:nvSpPr>
        <p:spPr>
          <a:xfrm>
            <a:off x="4374896" y="4251960"/>
            <a:ext cx="3442208" cy="868680"/>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03496" y="4315968"/>
            <a:ext cx="2985008" cy="274320"/>
          </a:xfrm>
          <a:prstGeom prst="rect">
            <a:avLst/>
          </a:prstGeom>
          <a:noFill/>
        </p:spPr>
        <p:txBody>
          <a:bodyPr wrap="square" lIns="0" rIns="0" tIns="0" bIns="0" anchor="t">
            <a:spAutoFit/>
          </a:bodyPr>
          <a:lstStyle/>
          <a:p>
            <a:pPr algn="l">
              <a:lnSpc>
                <a:spcPct val="112000"/>
              </a:lnSpc>
              <a:spcAft>
                <a:spcPts val="0"/>
              </a:spcAft>
            </a:pPr>
            <a:r>
              <a:rPr sz="1100" b="1" i="0">
                <a:solidFill>
                  <a:srgbClr val="0E7C86"/>
                </a:solidFill>
                <a:latin typeface="Calibri"/>
              </a:rPr>
              <a:t>Dikerjakan</a:t>
            </a:r>
          </a:p>
        </p:txBody>
      </p:sp>
      <p:sp>
        <p:nvSpPr>
          <p:cNvPr id="40" name="TextBox 39"/>
          <p:cNvSpPr txBox="1"/>
          <p:nvPr/>
        </p:nvSpPr>
        <p:spPr>
          <a:xfrm>
            <a:off x="4603496" y="4617720"/>
            <a:ext cx="2985008" cy="411480"/>
          </a:xfrm>
          <a:prstGeom prst="rect">
            <a:avLst/>
          </a:prstGeom>
          <a:noFill/>
        </p:spPr>
        <p:txBody>
          <a:bodyPr wrap="square" lIns="0" rIns="0" tIns="0" bIns="0" anchor="t">
            <a:spAutoFit/>
          </a:bodyPr>
          <a:lstStyle/>
          <a:p>
            <a:pPr algn="l">
              <a:lnSpc>
                <a:spcPct val="112000"/>
              </a:lnSpc>
              <a:spcAft>
                <a:spcPts val="0"/>
              </a:spcAft>
            </a:pPr>
            <a:r>
              <a:rPr sz="1800" b="1" i="0">
                <a:solidFill>
                  <a:srgbClr val="1B2733"/>
                </a:solidFill>
                <a:latin typeface="Calibri"/>
              </a:rPr>
              <a:t>1 jam 45 menit</a:t>
            </a:r>
          </a:p>
        </p:txBody>
      </p:sp>
      <p:sp>
        <p:nvSpPr>
          <p:cNvPr id="41" name="Rectangle 40"/>
          <p:cNvSpPr/>
          <p:nvPr/>
        </p:nvSpPr>
        <p:spPr>
          <a:xfrm>
            <a:off x="8091424" y="4251960"/>
            <a:ext cx="3442208" cy="868680"/>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20024" y="4315968"/>
            <a:ext cx="2985008" cy="274320"/>
          </a:xfrm>
          <a:prstGeom prst="rect">
            <a:avLst/>
          </a:prstGeom>
          <a:noFill/>
        </p:spPr>
        <p:txBody>
          <a:bodyPr wrap="square" lIns="0" rIns="0" tIns="0" bIns="0" anchor="t">
            <a:spAutoFit/>
          </a:bodyPr>
          <a:lstStyle/>
          <a:p>
            <a:pPr algn="l">
              <a:lnSpc>
                <a:spcPct val="112000"/>
              </a:lnSpc>
              <a:spcAft>
                <a:spcPts val="0"/>
              </a:spcAft>
            </a:pPr>
            <a:r>
              <a:rPr sz="1100" b="1" i="0">
                <a:solidFill>
                  <a:srgbClr val="0E7C86"/>
                </a:solidFill>
                <a:latin typeface="Calibri"/>
              </a:rPr>
              <a:t>Cycle time efficiency</a:t>
            </a:r>
          </a:p>
        </p:txBody>
      </p:sp>
      <p:sp>
        <p:nvSpPr>
          <p:cNvPr id="43" name="TextBox 42"/>
          <p:cNvSpPr txBox="1"/>
          <p:nvPr/>
        </p:nvSpPr>
        <p:spPr>
          <a:xfrm>
            <a:off x="8320024" y="4617720"/>
            <a:ext cx="2985008" cy="411480"/>
          </a:xfrm>
          <a:prstGeom prst="rect">
            <a:avLst/>
          </a:prstGeom>
          <a:noFill/>
        </p:spPr>
        <p:txBody>
          <a:bodyPr wrap="square" lIns="0" rIns="0" tIns="0" bIns="0" anchor="t">
            <a:spAutoFit/>
          </a:bodyPr>
          <a:lstStyle/>
          <a:p>
            <a:pPr algn="l">
              <a:lnSpc>
                <a:spcPct val="112000"/>
              </a:lnSpc>
              <a:spcAft>
                <a:spcPts val="0"/>
              </a:spcAft>
            </a:pPr>
            <a:r>
              <a:rPr sz="1800" b="1" i="0">
                <a:solidFill>
                  <a:srgbClr val="1B2733"/>
                </a:solidFill>
                <a:latin typeface="Calibri"/>
              </a:rPr>
              <a:t>sekitar 1 persen</a:t>
            </a:r>
          </a:p>
        </p:txBody>
      </p:sp>
      <p:sp>
        <p:nvSpPr>
          <p:cNvPr id="44" name="TextBox 43"/>
          <p:cNvSpPr txBox="1"/>
          <p:nvPr/>
        </p:nvSpPr>
        <p:spPr>
          <a:xfrm>
            <a:off x="658368" y="5212080"/>
            <a:ext cx="10875264" cy="274320"/>
          </a:xfrm>
          <a:prstGeom prst="rect">
            <a:avLst/>
          </a:prstGeom>
          <a:noFill/>
        </p:spPr>
        <p:txBody>
          <a:bodyPr wrap="square" lIns="0" rIns="0" tIns="0" bIns="0" anchor="t">
            <a:spAutoFit/>
          </a:bodyPr>
          <a:lstStyle/>
          <a:p>
            <a:pPr algn="l">
              <a:lnSpc>
                <a:spcPct val="112000"/>
              </a:lnSpc>
              <a:spcAft>
                <a:spcPts val="0"/>
              </a:spcAft>
            </a:pPr>
            <a:r>
              <a:rPr sz="950" b="0" i="1">
                <a:solidFill>
                  <a:srgbClr val="5A6672"/>
                </a:solidFill>
                <a:latin typeface="Calibri"/>
              </a:rPr>
              <a:t>Contoh ilustrasi. Efisiensi dihitung dengan waktu kalender: 105 menit dibagi 7 hari.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ANALISIS KUANTITATIF</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Ukuran yang dipakai di Tugas 1</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14</a:t>
            </a:r>
          </a:p>
        </p:txBody>
      </p:sp>
      <p:graphicFrame>
        <p:nvGraphicFramePr>
          <p:cNvPr id="6" name="Table 5"/>
          <p:cNvGraphicFramePr>
            <a:graphicFrameLocks noGrp="1"/>
          </p:cNvGraphicFramePr>
          <p:nvPr/>
        </p:nvGraphicFramePr>
        <p:xfrm>
          <a:off x="658368" y="1618488"/>
          <a:ext cx="10875263" cy="4251960"/>
        </p:xfrm>
        <a:graphic>
          <a:graphicData uri="http://schemas.openxmlformats.org/drawingml/2006/table">
            <a:tbl>
              <a:tblPr>
                <a:tableStyleId>{5C22544A-7EE6-4342-B048-85BDC9FD1C3A}</a:tableStyleId>
              </a:tblPr>
              <a:tblGrid>
                <a:gridCol w="2718816"/>
                <a:gridCol w="4466626"/>
                <a:gridCol w="3689821"/>
              </a:tblGrid>
              <a:tr h="475488">
                <a:tc>
                  <a:txBody>
                    <a:bodyPr wrap="square"/>
                    <a:lstStyle/>
                    <a:p>
                      <a:pPr algn="l">
                        <a:lnSpc>
                          <a:spcPct val="118000"/>
                        </a:lnSpc>
                      </a:pPr>
                      <a:r>
                        <a:rPr sz="1350" b="1">
                          <a:solidFill>
                            <a:srgbClr val="FFFFFF"/>
                          </a:solidFill>
                          <a:latin typeface="Calibri"/>
                        </a:rPr>
                        <a:t>Ukuran</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Cara menghitung</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Kenapa penting</a:t>
                      </a:r>
                    </a:p>
                  </a:txBody>
                  <a:tcPr marL="128016" marR="128016" marT="64008" marB="64008" anchor="ctr">
                    <a:solidFill>
                      <a:srgbClr val="0E7C86"/>
                    </a:solidFill>
                  </a:tcPr>
                </a:tc>
              </a:tr>
              <a:tr h="629412">
                <a:tc>
                  <a:txBody>
                    <a:bodyPr wrap="square"/>
                    <a:lstStyle/>
                    <a:p>
                      <a:pPr algn="l">
                        <a:lnSpc>
                          <a:spcPct val="118000"/>
                        </a:lnSpc>
                      </a:pPr>
                      <a:r>
                        <a:rPr sz="1300" b="1">
                          <a:solidFill>
                            <a:srgbClr val="1B2733"/>
                          </a:solidFill>
                          <a:latin typeface="Calibri"/>
                        </a:rPr>
                        <a:t>Cycle time</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Waktu selesai dikurangi waktu mulai</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Yang dirasakan nasabah</a:t>
                      </a:r>
                    </a:p>
                  </a:txBody>
                  <a:tcPr marL="128016" marR="128016" marT="64008" marB="64008" anchor="ctr">
                    <a:solidFill>
                      <a:srgbClr val="FFFFFF"/>
                    </a:solidFill>
                  </a:tcPr>
                </a:tc>
              </a:tr>
              <a:tr h="629412">
                <a:tc>
                  <a:txBody>
                    <a:bodyPr wrap="square"/>
                    <a:lstStyle/>
                    <a:p>
                      <a:pPr algn="l">
                        <a:lnSpc>
                          <a:spcPct val="118000"/>
                        </a:lnSpc>
                      </a:pPr>
                      <a:r>
                        <a:rPr sz="1300" b="1">
                          <a:solidFill>
                            <a:srgbClr val="1B2733"/>
                          </a:solidFill>
                          <a:latin typeface="Calibri"/>
                        </a:rPr>
                        <a:t>Processing time</a:t>
                      </a: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a:rPr>
                        <a:t>Jumlah waktu benar-benar dikerjakan</a:t>
                      </a: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a:rPr>
                        <a:t>Yang bisa dipercepat dengan alat</a:t>
                      </a:r>
                    </a:p>
                  </a:txBody>
                  <a:tcPr marL="128016" marR="128016" marT="64008" marB="64008" anchor="ctr">
                    <a:solidFill>
                      <a:srgbClr val="F4F9FA"/>
                    </a:solidFill>
                  </a:tcPr>
                </a:tc>
              </a:tr>
              <a:tr h="629412">
                <a:tc>
                  <a:txBody>
                    <a:bodyPr wrap="square"/>
                    <a:lstStyle/>
                    <a:p>
                      <a:pPr algn="l">
                        <a:lnSpc>
                          <a:spcPct val="118000"/>
                        </a:lnSpc>
                      </a:pPr>
                      <a:r>
                        <a:rPr sz="1300" b="1">
                          <a:solidFill>
                            <a:srgbClr val="1B2733"/>
                          </a:solidFill>
                          <a:latin typeface="Calibri"/>
                        </a:rPr>
                        <a:t>Waiting time</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Cycle time dikurangi processing time</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Biasanya bagian terbesar</a:t>
                      </a:r>
                    </a:p>
                  </a:txBody>
                  <a:tcPr marL="128016" marR="128016" marT="64008" marB="64008" anchor="ctr">
                    <a:solidFill>
                      <a:srgbClr val="FFFFFF"/>
                    </a:solidFill>
                  </a:tcPr>
                </a:tc>
              </a:tr>
              <a:tr h="629412">
                <a:tc>
                  <a:txBody>
                    <a:bodyPr wrap="square"/>
                    <a:lstStyle/>
                    <a:p>
                      <a:pPr algn="l">
                        <a:lnSpc>
                          <a:spcPct val="118000"/>
                        </a:lnSpc>
                      </a:pPr>
                      <a:r>
                        <a:rPr sz="1300" b="1">
                          <a:solidFill>
                            <a:srgbClr val="1B2733"/>
                          </a:solidFill>
                          <a:latin typeface="Calibri"/>
                        </a:rPr>
                        <a:t>Cycle time efficiency</a:t>
                      </a: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a:rPr>
                        <a:t>Processing time dibagi cycle time</a:t>
                      </a: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a:rPr>
                        <a:t>Seberapa banyak waktu terbuang</a:t>
                      </a:r>
                    </a:p>
                  </a:txBody>
                  <a:tcPr marL="128016" marR="128016" marT="64008" marB="64008" anchor="ctr">
                    <a:solidFill>
                      <a:srgbClr val="F4F9FA"/>
                    </a:solidFill>
                  </a:tcPr>
                </a:tc>
              </a:tr>
              <a:tr h="629412">
                <a:tc>
                  <a:txBody>
                    <a:bodyPr wrap="square"/>
                    <a:lstStyle/>
                    <a:p>
                      <a:pPr algn="l">
                        <a:lnSpc>
                          <a:spcPct val="118000"/>
                        </a:lnSpc>
                      </a:pPr>
                      <a:r>
                        <a:rPr sz="1300" b="1">
                          <a:solidFill>
                            <a:srgbClr val="1B2733"/>
                          </a:solidFill>
                          <a:latin typeface="Calibri"/>
                        </a:rPr>
                        <a:t>Rework rate</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Kasus yang mengulang dibagi semua kasus</a:t>
                      </a: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a:rPr>
                        <a:t>Ukuran kualitas di tengah proses</a:t>
                      </a:r>
                    </a:p>
                  </a:txBody>
                  <a:tcPr marL="128016" marR="128016" marT="64008" marB="64008" anchor="ctr">
                    <a:solidFill>
                      <a:srgbClr val="FFFFFF"/>
                    </a:solidFill>
                  </a:tcPr>
                </a:tc>
              </a:tr>
              <a:tr h="629412">
                <a:tc>
                  <a:txBody>
                    <a:bodyPr wrap="square"/>
                    <a:lstStyle/>
                    <a:p>
                      <a:pPr algn="l">
                        <a:lnSpc>
                          <a:spcPct val="118000"/>
                        </a:lnSpc>
                      </a:pPr>
                      <a:r>
                        <a:rPr sz="1300" b="1">
                          <a:solidFill>
                            <a:srgbClr val="1B2733"/>
                          </a:solidFill>
                          <a:latin typeface="Calibri"/>
                        </a:rPr>
                        <a:t>Error rate</a:t>
                      </a: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a:rPr>
                        <a:t>Kasus yang dikoreksi setelah selesai dibagi semua kasus</a:t>
                      </a: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a:rPr>
                        <a:t>Ukuran kualitas di ujung proses</a:t>
                      </a:r>
                    </a:p>
                  </a:txBody>
                  <a:tcPr marL="128016" marR="128016" marT="64008" marB="64008" anchor="ctr">
                    <a:solidFill>
                      <a:srgbClr val="F4F9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ANALISIS KUANTITATIF</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Menghitung cycle time dari model</a:t>
            </a:r>
          </a:p>
        </p:txBody>
      </p:sp>
      <p:sp>
        <p:nvSpPr>
          <p:cNvPr id="4" name="Rounded Rectangle 3"/>
          <p:cNvSpPr/>
          <p:nvPr/>
        </p:nvSpPr>
        <p:spPr>
          <a:xfrm>
            <a:off x="9019032" y="438912"/>
            <a:ext cx="2514600" cy="274320"/>
          </a:xfrm>
          <a:prstGeom prst="roundRect">
            <a:avLst/>
          </a:prstGeom>
          <a:solidFill>
            <a:srgbClr val="FF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19032" y="484632"/>
            <a:ext cx="2514600" cy="237744"/>
          </a:xfrm>
          <a:prstGeom prst="rect">
            <a:avLst/>
          </a:prstGeom>
          <a:noFill/>
        </p:spPr>
        <p:txBody>
          <a:bodyPr wrap="square" lIns="0" rIns="0" tIns="0" bIns="0" anchor="t">
            <a:spAutoFit/>
          </a:bodyPr>
          <a:lstStyle/>
          <a:p>
            <a:pPr algn="ctr">
              <a:lnSpc>
                <a:spcPct val="100000"/>
              </a:lnSpc>
              <a:spcAft>
                <a:spcPts val="0"/>
              </a:spcAft>
            </a:pPr>
            <a:r>
              <a:rPr sz="950" b="1" i="0">
                <a:solidFill>
                  <a:srgbClr val="C97A0A"/>
                </a:solidFill>
                <a:latin typeface="Calibri"/>
              </a:rPr>
              <a:t>Boleh disingkat kalau waktu mepet</a:t>
            </a:r>
          </a:p>
        </p:txBody>
      </p:sp>
      <p:sp>
        <p:nvSpPr>
          <p:cNvPr id="6" name="TextBox 5"/>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7" name="TextBox 6"/>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15</a:t>
            </a:r>
          </a:p>
        </p:txBody>
      </p:sp>
      <p:sp>
        <p:nvSpPr>
          <p:cNvPr id="8" name="Rectangle 7"/>
          <p:cNvSpPr/>
          <p:nvPr/>
        </p:nvSpPr>
        <p:spPr>
          <a:xfrm>
            <a:off x="658368" y="1645920"/>
            <a:ext cx="3442208" cy="3429000"/>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783080"/>
            <a:ext cx="2985008" cy="274320"/>
          </a:xfrm>
          <a:prstGeom prst="rect">
            <a:avLst/>
          </a:prstGeom>
          <a:noFill/>
        </p:spPr>
        <p:txBody>
          <a:bodyPr wrap="square" lIns="0" rIns="0" tIns="0" bIns="0" anchor="t">
            <a:spAutoFit/>
          </a:bodyPr>
          <a:lstStyle/>
          <a:p>
            <a:pPr algn="l">
              <a:lnSpc>
                <a:spcPct val="112000"/>
              </a:lnSpc>
              <a:spcAft>
                <a:spcPts val="0"/>
              </a:spcAft>
            </a:pPr>
            <a:r>
              <a:rPr sz="1300" b="1" i="0">
                <a:solidFill>
                  <a:srgbClr val="116B75"/>
                </a:solidFill>
                <a:latin typeface="Calibri"/>
              </a:rPr>
              <a:t>Berurutan</a:t>
            </a:r>
          </a:p>
        </p:txBody>
      </p:sp>
      <p:sp>
        <p:nvSpPr>
          <p:cNvPr id="10" name="Rounded Rectangle 9"/>
          <p:cNvSpPr/>
          <p:nvPr/>
        </p:nvSpPr>
        <p:spPr>
          <a:xfrm>
            <a:off x="932688" y="2514600"/>
            <a:ext cx="1280160" cy="548640"/>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551176"/>
            <a:ext cx="1133856" cy="475488"/>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A, 2 hari</a:t>
            </a:r>
          </a:p>
        </p:txBody>
      </p:sp>
      <p:cxnSp>
        <p:nvCxnSpPr>
          <p:cNvPr id="12" name="Connector 11"/>
          <p:cNvCxnSpPr/>
          <p:nvPr/>
        </p:nvCxnSpPr>
        <p:spPr>
          <a:xfrm>
            <a:off x="2212848" y="2788920"/>
            <a:ext cx="274320"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87168" y="2514600"/>
            <a:ext cx="1280160" cy="548640"/>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2551176"/>
            <a:ext cx="1133856" cy="475488"/>
          </a:xfrm>
          <a:prstGeom prst="rect">
            <a:avLst/>
          </a:prstGeom>
          <a:noFill/>
        </p:spPr>
        <p:txBody>
          <a:bodyPr wrap="square" lIns="0" rIns="0" tIns="0" bIns="0" anchor="ctr">
            <a:spAutoFit/>
          </a:bodyPr>
          <a:lstStyle/>
          <a:p>
            <a:pPr algn="ctr">
              <a:lnSpc>
                <a:spcPct val="108000"/>
              </a:lnSpc>
              <a:spcAft>
                <a:spcPts val="0"/>
              </a:spcAft>
            </a:pPr>
            <a:r>
              <a:rPr sz="1000" b="0" i="0">
                <a:solidFill>
                  <a:srgbClr val="1B2733"/>
                </a:solidFill>
                <a:latin typeface="Calibri"/>
              </a:rPr>
              <a:t>B, 3 hari</a:t>
            </a:r>
          </a:p>
        </p:txBody>
      </p:sp>
      <p:sp>
        <p:nvSpPr>
          <p:cNvPr id="15" name="Rectangle 14"/>
          <p:cNvSpPr/>
          <p:nvPr/>
        </p:nvSpPr>
        <p:spPr>
          <a:xfrm>
            <a:off x="886968" y="3794760"/>
            <a:ext cx="2985008" cy="502920"/>
          </a:xfrm>
          <a:prstGeom prst="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7" y="3886200"/>
            <a:ext cx="2802128" cy="274320"/>
          </a:xfrm>
          <a:prstGeom prst="rect">
            <a:avLst/>
          </a:prstGeom>
          <a:noFill/>
        </p:spPr>
        <p:txBody>
          <a:bodyPr wrap="square" lIns="0" rIns="0" tIns="0" bIns="0" anchor="t">
            <a:spAutoFit/>
          </a:bodyPr>
          <a:lstStyle/>
          <a:p>
            <a:pPr algn="ctr">
              <a:lnSpc>
                <a:spcPct val="112000"/>
              </a:lnSpc>
              <a:spcAft>
                <a:spcPts val="0"/>
              </a:spcAft>
            </a:pPr>
            <a:r>
              <a:rPr sz="1150" b="1" i="0">
                <a:solidFill>
                  <a:srgbClr val="1B2733"/>
                </a:solidFill>
                <a:latin typeface="Calibri"/>
              </a:rPr>
              <a:t>CT = 2 + 3 = 5 hari</a:t>
            </a:r>
          </a:p>
        </p:txBody>
      </p:sp>
      <p:sp>
        <p:nvSpPr>
          <p:cNvPr id="17" name="TextBox 16"/>
          <p:cNvSpPr txBox="1"/>
          <p:nvPr/>
        </p:nvSpPr>
        <p:spPr>
          <a:xfrm>
            <a:off x="932688" y="4407408"/>
            <a:ext cx="2893568" cy="594360"/>
          </a:xfrm>
          <a:prstGeom prst="rect">
            <a:avLst/>
          </a:prstGeom>
          <a:noFill/>
        </p:spPr>
        <p:txBody>
          <a:bodyPr wrap="square" lIns="0" rIns="0" tIns="0" bIns="0" anchor="t">
            <a:spAutoFit/>
          </a:bodyPr>
          <a:lstStyle/>
          <a:p>
            <a:pPr algn="l">
              <a:lnSpc>
                <a:spcPct val="112000"/>
              </a:lnSpc>
              <a:spcAft>
                <a:spcPts val="0"/>
              </a:spcAft>
            </a:pPr>
            <a:r>
              <a:rPr sz="1050" b="0" i="0">
                <a:solidFill>
                  <a:srgbClr val="5A6672"/>
                </a:solidFill>
                <a:latin typeface="Calibri"/>
              </a:rPr>
              <a:t>Waktu tiap langkah dijumlah.</a:t>
            </a:r>
          </a:p>
        </p:txBody>
      </p:sp>
      <p:sp>
        <p:nvSpPr>
          <p:cNvPr id="18" name="Rectangle 17"/>
          <p:cNvSpPr/>
          <p:nvPr/>
        </p:nvSpPr>
        <p:spPr>
          <a:xfrm>
            <a:off x="4374896" y="1645920"/>
            <a:ext cx="3442208" cy="3429000"/>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3496" y="1783080"/>
            <a:ext cx="2985008" cy="274320"/>
          </a:xfrm>
          <a:prstGeom prst="rect">
            <a:avLst/>
          </a:prstGeom>
          <a:noFill/>
        </p:spPr>
        <p:txBody>
          <a:bodyPr wrap="square" lIns="0" rIns="0" tIns="0" bIns="0" anchor="t">
            <a:spAutoFit/>
          </a:bodyPr>
          <a:lstStyle/>
          <a:p>
            <a:pPr algn="l">
              <a:lnSpc>
                <a:spcPct val="112000"/>
              </a:lnSpc>
              <a:spcAft>
                <a:spcPts val="0"/>
              </a:spcAft>
            </a:pPr>
            <a:r>
              <a:rPr sz="1300" b="1" i="0">
                <a:solidFill>
                  <a:srgbClr val="116B75"/>
                </a:solidFill>
                <a:latin typeface="Calibri"/>
              </a:rPr>
              <a:t>Percabangan XOR</a:t>
            </a:r>
          </a:p>
        </p:txBody>
      </p:sp>
      <p:sp>
        <p:nvSpPr>
          <p:cNvPr id="20" name="Diamond 19"/>
          <p:cNvSpPr/>
          <p:nvPr/>
        </p:nvSpPr>
        <p:spPr>
          <a:xfrm>
            <a:off x="4576064" y="2807208"/>
            <a:ext cx="420624" cy="420624"/>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a:rPr>
              <a:t>×</a:t>
            </a:r>
          </a:p>
        </p:txBody>
      </p:sp>
      <p:sp>
        <p:nvSpPr>
          <p:cNvPr id="21" name="Diamond 20"/>
          <p:cNvSpPr/>
          <p:nvPr/>
        </p:nvSpPr>
        <p:spPr>
          <a:xfrm>
            <a:off x="7195312" y="2807208"/>
            <a:ext cx="420624" cy="420624"/>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a:rPr>
              <a:t>×</a:t>
            </a:r>
          </a:p>
        </p:txBody>
      </p:sp>
      <p:sp>
        <p:nvSpPr>
          <p:cNvPr id="22" name="Rounded Rectangle 21"/>
          <p:cNvSpPr/>
          <p:nvPr/>
        </p:nvSpPr>
        <p:spPr>
          <a:xfrm>
            <a:off x="5197856" y="2468880"/>
            <a:ext cx="1796288" cy="457200"/>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71008" y="2505456"/>
            <a:ext cx="1649984" cy="384048"/>
          </a:xfrm>
          <a:prstGeom prst="rect">
            <a:avLst/>
          </a:prstGeom>
          <a:noFill/>
        </p:spPr>
        <p:txBody>
          <a:bodyPr wrap="square" lIns="0" rIns="0" tIns="0" bIns="0" anchor="ctr">
            <a:spAutoFit/>
          </a:bodyPr>
          <a:lstStyle/>
          <a:p>
            <a:pPr algn="ctr">
              <a:lnSpc>
                <a:spcPct val="108000"/>
              </a:lnSpc>
              <a:spcAft>
                <a:spcPts val="0"/>
              </a:spcAft>
            </a:pPr>
            <a:r>
              <a:rPr sz="950" b="0" i="0">
                <a:solidFill>
                  <a:srgbClr val="1B2733"/>
                </a:solidFill>
                <a:latin typeface="Calibri"/>
              </a:rPr>
              <a:t>Survei, 3 hari</a:t>
            </a:r>
          </a:p>
        </p:txBody>
      </p:sp>
      <p:sp>
        <p:nvSpPr>
          <p:cNvPr id="24" name="Rounded Rectangle 23"/>
          <p:cNvSpPr/>
          <p:nvPr/>
        </p:nvSpPr>
        <p:spPr>
          <a:xfrm>
            <a:off x="5197856" y="3108960"/>
            <a:ext cx="1796288" cy="457200"/>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71008" y="3145536"/>
            <a:ext cx="1649984" cy="384048"/>
          </a:xfrm>
          <a:prstGeom prst="rect">
            <a:avLst/>
          </a:prstGeom>
          <a:noFill/>
        </p:spPr>
        <p:txBody>
          <a:bodyPr wrap="square" lIns="0" rIns="0" tIns="0" bIns="0" anchor="ctr">
            <a:spAutoFit/>
          </a:bodyPr>
          <a:lstStyle/>
          <a:p>
            <a:pPr algn="ctr">
              <a:lnSpc>
                <a:spcPct val="108000"/>
              </a:lnSpc>
              <a:spcAft>
                <a:spcPts val="0"/>
              </a:spcAft>
            </a:pPr>
            <a:r>
              <a:rPr sz="950" b="0" i="0">
                <a:solidFill>
                  <a:srgbClr val="1B2733"/>
                </a:solidFill>
                <a:latin typeface="Calibri"/>
              </a:rPr>
              <a:t>Tanpa survei, 0,5 hari</a:t>
            </a:r>
          </a:p>
        </p:txBody>
      </p:sp>
      <p:cxnSp>
        <p:nvCxnSpPr>
          <p:cNvPr id="26" name="Connector 25"/>
          <p:cNvCxnSpPr/>
          <p:nvPr/>
        </p:nvCxnSpPr>
        <p:spPr>
          <a:xfrm flipV="1">
            <a:off x="4786376" y="2697480"/>
            <a:ext cx="0" cy="109728"/>
          </a:xfrm>
          <a:prstGeom prst="line">
            <a:avLst/>
          </a:prstGeom>
          <a:ln w="13970">
            <a:solidFill>
              <a:srgbClr val="1B273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86376" y="2697480"/>
            <a:ext cx="411480" cy="0"/>
          </a:xfrm>
          <a:prstGeom prst="line">
            <a:avLst/>
          </a:prstGeom>
          <a:ln w="1397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994144" y="2697480"/>
            <a:ext cx="411480" cy="0"/>
          </a:xfrm>
          <a:prstGeom prst="line">
            <a:avLst/>
          </a:prstGeom>
          <a:ln w="13970">
            <a:solidFill>
              <a:srgbClr val="1B273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405624" y="2697480"/>
            <a:ext cx="0" cy="109728"/>
          </a:xfrm>
          <a:prstGeom prst="line">
            <a:avLst/>
          </a:prstGeom>
          <a:ln w="1397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86376" y="3227832"/>
            <a:ext cx="0" cy="109728"/>
          </a:xfrm>
          <a:prstGeom prst="line">
            <a:avLst/>
          </a:prstGeom>
          <a:ln w="13970">
            <a:solidFill>
              <a:srgbClr val="1B273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786376" y="3337560"/>
            <a:ext cx="411480" cy="0"/>
          </a:xfrm>
          <a:prstGeom prst="line">
            <a:avLst/>
          </a:prstGeom>
          <a:ln w="1397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994144" y="3337560"/>
            <a:ext cx="411480" cy="0"/>
          </a:xfrm>
          <a:prstGeom prst="line">
            <a:avLst/>
          </a:prstGeom>
          <a:ln w="13970">
            <a:solidFill>
              <a:srgbClr val="1B273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405624" y="3227832"/>
            <a:ext cx="0" cy="109728"/>
          </a:xfrm>
          <a:prstGeom prst="line">
            <a:avLst/>
          </a:prstGeom>
          <a:ln w="1397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420616" y="2468880"/>
            <a:ext cx="457200" cy="274320"/>
          </a:xfrm>
          <a:prstGeom prst="rect">
            <a:avLst/>
          </a:prstGeom>
          <a:noFill/>
        </p:spPr>
        <p:txBody>
          <a:bodyPr wrap="square" lIns="0" rIns="0" tIns="0" bIns="0" anchor="t">
            <a:spAutoFit/>
          </a:bodyPr>
          <a:lstStyle/>
          <a:p>
            <a:pPr algn="l">
              <a:lnSpc>
                <a:spcPct val="112000"/>
              </a:lnSpc>
              <a:spcAft>
                <a:spcPts val="0"/>
              </a:spcAft>
            </a:pPr>
            <a:r>
              <a:rPr sz="900" b="0" i="0">
                <a:solidFill>
                  <a:srgbClr val="1B2733"/>
                </a:solidFill>
                <a:latin typeface="Calibri"/>
              </a:rPr>
              <a:t>0,7</a:t>
            </a:r>
          </a:p>
        </p:txBody>
      </p:sp>
      <p:sp>
        <p:nvSpPr>
          <p:cNvPr id="35" name="TextBox 34"/>
          <p:cNvSpPr txBox="1"/>
          <p:nvPr/>
        </p:nvSpPr>
        <p:spPr>
          <a:xfrm>
            <a:off x="4420616" y="3383280"/>
            <a:ext cx="457200" cy="274320"/>
          </a:xfrm>
          <a:prstGeom prst="rect">
            <a:avLst/>
          </a:prstGeom>
          <a:noFill/>
        </p:spPr>
        <p:txBody>
          <a:bodyPr wrap="square" lIns="0" rIns="0" tIns="0" bIns="0" anchor="t">
            <a:spAutoFit/>
          </a:bodyPr>
          <a:lstStyle/>
          <a:p>
            <a:pPr algn="l">
              <a:lnSpc>
                <a:spcPct val="112000"/>
              </a:lnSpc>
              <a:spcAft>
                <a:spcPts val="0"/>
              </a:spcAft>
            </a:pPr>
            <a:r>
              <a:rPr sz="900" b="0" i="0">
                <a:solidFill>
                  <a:srgbClr val="1B2733"/>
                </a:solidFill>
                <a:latin typeface="Calibri"/>
              </a:rPr>
              <a:t>0,3</a:t>
            </a:r>
          </a:p>
        </p:txBody>
      </p:sp>
      <p:sp>
        <p:nvSpPr>
          <p:cNvPr id="36" name="Rectangle 35"/>
          <p:cNvSpPr/>
          <p:nvPr/>
        </p:nvSpPr>
        <p:spPr>
          <a:xfrm>
            <a:off x="4603496" y="3794760"/>
            <a:ext cx="2985008" cy="502920"/>
          </a:xfrm>
          <a:prstGeom prst="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94936" y="3886200"/>
            <a:ext cx="2802128" cy="274320"/>
          </a:xfrm>
          <a:prstGeom prst="rect">
            <a:avLst/>
          </a:prstGeom>
          <a:noFill/>
        </p:spPr>
        <p:txBody>
          <a:bodyPr wrap="square" lIns="0" rIns="0" tIns="0" bIns="0" anchor="t">
            <a:spAutoFit/>
          </a:bodyPr>
          <a:lstStyle/>
          <a:p>
            <a:pPr algn="ctr">
              <a:lnSpc>
                <a:spcPct val="112000"/>
              </a:lnSpc>
              <a:spcAft>
                <a:spcPts val="0"/>
              </a:spcAft>
            </a:pPr>
            <a:r>
              <a:rPr sz="1150" b="1" i="0">
                <a:solidFill>
                  <a:srgbClr val="1B2733"/>
                </a:solidFill>
                <a:latin typeface="Calibri"/>
              </a:rPr>
              <a:t>CT = 0,7 × 3 + 0,3 × 0,5 = 2,25 hari</a:t>
            </a:r>
          </a:p>
        </p:txBody>
      </p:sp>
      <p:sp>
        <p:nvSpPr>
          <p:cNvPr id="38" name="TextBox 37"/>
          <p:cNvSpPr txBox="1"/>
          <p:nvPr/>
        </p:nvSpPr>
        <p:spPr>
          <a:xfrm>
            <a:off x="4649216" y="4407408"/>
            <a:ext cx="2893568" cy="594360"/>
          </a:xfrm>
          <a:prstGeom prst="rect">
            <a:avLst/>
          </a:prstGeom>
          <a:noFill/>
        </p:spPr>
        <p:txBody>
          <a:bodyPr wrap="square" lIns="0" rIns="0" tIns="0" bIns="0" anchor="t">
            <a:spAutoFit/>
          </a:bodyPr>
          <a:lstStyle/>
          <a:p>
            <a:pPr algn="l">
              <a:lnSpc>
                <a:spcPct val="112000"/>
              </a:lnSpc>
              <a:spcAft>
                <a:spcPts val="0"/>
              </a:spcAft>
            </a:pPr>
            <a:r>
              <a:rPr sz="1050" b="0" i="0">
                <a:solidFill>
                  <a:srgbClr val="5A6672"/>
                </a:solidFill>
                <a:latin typeface="Calibri"/>
              </a:rPr>
              <a:t>Tiap cabang dikali peluangnya, lalu dijumlah.</a:t>
            </a:r>
          </a:p>
        </p:txBody>
      </p:sp>
      <p:sp>
        <p:nvSpPr>
          <p:cNvPr id="39" name="Rectangle 38"/>
          <p:cNvSpPr/>
          <p:nvPr/>
        </p:nvSpPr>
        <p:spPr>
          <a:xfrm>
            <a:off x="8091424" y="1645920"/>
            <a:ext cx="3442208" cy="3429000"/>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0024" y="1783080"/>
            <a:ext cx="2985008" cy="274320"/>
          </a:xfrm>
          <a:prstGeom prst="rect">
            <a:avLst/>
          </a:prstGeom>
          <a:noFill/>
        </p:spPr>
        <p:txBody>
          <a:bodyPr wrap="square" lIns="0" rIns="0" tIns="0" bIns="0" anchor="t">
            <a:spAutoFit/>
          </a:bodyPr>
          <a:lstStyle/>
          <a:p>
            <a:pPr algn="l">
              <a:lnSpc>
                <a:spcPct val="112000"/>
              </a:lnSpc>
              <a:spcAft>
                <a:spcPts val="0"/>
              </a:spcAft>
            </a:pPr>
            <a:r>
              <a:rPr sz="1300" b="1" i="0">
                <a:solidFill>
                  <a:srgbClr val="116B75"/>
                </a:solidFill>
                <a:latin typeface="Calibri"/>
              </a:rPr>
              <a:t>Rework loop</a:t>
            </a:r>
          </a:p>
        </p:txBody>
      </p:sp>
      <p:sp>
        <p:nvSpPr>
          <p:cNvPr id="41" name="Rounded Rectangle 40"/>
          <p:cNvSpPr/>
          <p:nvPr/>
        </p:nvSpPr>
        <p:spPr>
          <a:xfrm>
            <a:off x="8365744" y="2606040"/>
            <a:ext cx="1463040" cy="548640"/>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38896" y="2642616"/>
            <a:ext cx="1316736" cy="475488"/>
          </a:xfrm>
          <a:prstGeom prst="rect">
            <a:avLst/>
          </a:prstGeom>
          <a:noFill/>
        </p:spPr>
        <p:txBody>
          <a:bodyPr wrap="square" lIns="0" rIns="0" tIns="0" bIns="0" anchor="ctr">
            <a:spAutoFit/>
          </a:bodyPr>
          <a:lstStyle/>
          <a:p>
            <a:pPr algn="ctr">
              <a:lnSpc>
                <a:spcPct val="108000"/>
              </a:lnSpc>
              <a:spcAft>
                <a:spcPts val="0"/>
              </a:spcAft>
            </a:pPr>
            <a:r>
              <a:rPr sz="950" b="0" i="0">
                <a:solidFill>
                  <a:srgbClr val="1B2733"/>
                </a:solidFill>
                <a:latin typeface="Calibri"/>
              </a:rPr>
              <a:t>Periksa tagihan, 2 hari</a:t>
            </a:r>
          </a:p>
        </p:txBody>
      </p:sp>
      <p:cxnSp>
        <p:nvCxnSpPr>
          <p:cNvPr id="43" name="Connector 42"/>
          <p:cNvCxnSpPr/>
          <p:nvPr/>
        </p:nvCxnSpPr>
        <p:spPr>
          <a:xfrm>
            <a:off x="9828784" y="2880360"/>
            <a:ext cx="365760"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Diamond 43"/>
          <p:cNvSpPr/>
          <p:nvPr/>
        </p:nvSpPr>
        <p:spPr>
          <a:xfrm>
            <a:off x="10194544" y="2651760"/>
            <a:ext cx="457200" cy="457200"/>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a:rPr>
              <a:t>×</a:t>
            </a:r>
          </a:p>
        </p:txBody>
      </p:sp>
      <p:cxnSp>
        <p:nvCxnSpPr>
          <p:cNvPr id="45" name="Connector 44"/>
          <p:cNvCxnSpPr/>
          <p:nvPr/>
        </p:nvCxnSpPr>
        <p:spPr>
          <a:xfrm flipV="1">
            <a:off x="10423144" y="2377440"/>
            <a:ext cx="0" cy="274320"/>
          </a:xfrm>
          <a:prstGeom prst="line">
            <a:avLst/>
          </a:prstGeom>
          <a:ln w="13970">
            <a:solidFill>
              <a:srgbClr val="C97A0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097264" y="2377440"/>
            <a:ext cx="1325880" cy="0"/>
          </a:xfrm>
          <a:prstGeom prst="line">
            <a:avLst/>
          </a:prstGeom>
          <a:ln w="13970">
            <a:solidFill>
              <a:srgbClr val="C97A0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097264" y="2377440"/>
            <a:ext cx="0" cy="228600"/>
          </a:xfrm>
          <a:prstGeom prst="line">
            <a:avLst/>
          </a:prstGeom>
          <a:ln w="13970">
            <a:solidFill>
              <a:srgbClr val="C97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0606024" y="2240280"/>
            <a:ext cx="822960" cy="274320"/>
          </a:xfrm>
          <a:prstGeom prst="rect">
            <a:avLst/>
          </a:prstGeom>
          <a:noFill/>
        </p:spPr>
        <p:txBody>
          <a:bodyPr wrap="square" lIns="0" rIns="0" tIns="0" bIns="0" anchor="t">
            <a:spAutoFit/>
          </a:bodyPr>
          <a:lstStyle/>
          <a:p>
            <a:pPr algn="l">
              <a:lnSpc>
                <a:spcPct val="112000"/>
              </a:lnSpc>
              <a:spcAft>
                <a:spcPts val="0"/>
              </a:spcAft>
            </a:pPr>
            <a:r>
              <a:rPr sz="900" b="0" i="0">
                <a:solidFill>
                  <a:srgbClr val="C97A0A"/>
                </a:solidFill>
                <a:latin typeface="Calibri"/>
              </a:rPr>
              <a:t>ulang 0,6</a:t>
            </a:r>
          </a:p>
        </p:txBody>
      </p:sp>
      <p:cxnSp>
        <p:nvCxnSpPr>
          <p:cNvPr id="49" name="Connector 48"/>
          <p:cNvCxnSpPr/>
          <p:nvPr/>
        </p:nvCxnSpPr>
        <p:spPr>
          <a:xfrm>
            <a:off x="10651744" y="2880360"/>
            <a:ext cx="457200" cy="0"/>
          </a:xfrm>
          <a:prstGeom prst="line">
            <a:avLst/>
          </a:prstGeom>
          <a:ln w="1397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8320024" y="3794760"/>
            <a:ext cx="2985008" cy="502920"/>
          </a:xfrm>
          <a:prstGeom prst="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1464" y="3886200"/>
            <a:ext cx="2802128" cy="274320"/>
          </a:xfrm>
          <a:prstGeom prst="rect">
            <a:avLst/>
          </a:prstGeom>
          <a:noFill/>
        </p:spPr>
        <p:txBody>
          <a:bodyPr wrap="square" lIns="0" rIns="0" tIns="0" bIns="0" anchor="t">
            <a:spAutoFit/>
          </a:bodyPr>
          <a:lstStyle/>
          <a:p>
            <a:pPr algn="ctr">
              <a:lnSpc>
                <a:spcPct val="112000"/>
              </a:lnSpc>
              <a:spcAft>
                <a:spcPts val="0"/>
              </a:spcAft>
            </a:pPr>
            <a:r>
              <a:rPr sz="1150" b="1" i="0">
                <a:solidFill>
                  <a:srgbClr val="1B2733"/>
                </a:solidFill>
                <a:latin typeface="Calibri"/>
              </a:rPr>
              <a:t>CT = 2 ÷ (1 − 0,6) = 5 hari</a:t>
            </a:r>
          </a:p>
        </p:txBody>
      </p:sp>
      <p:sp>
        <p:nvSpPr>
          <p:cNvPr id="52" name="TextBox 51"/>
          <p:cNvSpPr txBox="1"/>
          <p:nvPr/>
        </p:nvSpPr>
        <p:spPr>
          <a:xfrm>
            <a:off x="8365744" y="4407408"/>
            <a:ext cx="2893568" cy="594360"/>
          </a:xfrm>
          <a:prstGeom prst="rect">
            <a:avLst/>
          </a:prstGeom>
          <a:noFill/>
        </p:spPr>
        <p:txBody>
          <a:bodyPr wrap="square" lIns="0" rIns="0" tIns="0" bIns="0" anchor="t">
            <a:spAutoFit/>
          </a:bodyPr>
          <a:lstStyle/>
          <a:p>
            <a:pPr algn="l">
              <a:lnSpc>
                <a:spcPct val="112000"/>
              </a:lnSpc>
              <a:spcAft>
                <a:spcPts val="0"/>
              </a:spcAft>
            </a:pPr>
            <a:r>
              <a:rPr sz="1050" b="0" i="0">
                <a:solidFill>
                  <a:srgbClr val="5A6672"/>
                </a:solidFill>
                <a:latin typeface="Calibri"/>
              </a:rPr>
              <a:t>Peluang mengulang 0,6 artinya rata-rata 2,5 putaran. Kira-kira cerita Dewi.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ANALISIS KUANTITATIF</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Little's Law</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16</a:t>
            </a:r>
          </a:p>
        </p:txBody>
      </p:sp>
      <p:sp>
        <p:nvSpPr>
          <p:cNvPr id="6" name="Rectangle 5"/>
          <p:cNvSpPr/>
          <p:nvPr/>
        </p:nvSpPr>
        <p:spPr>
          <a:xfrm>
            <a:off x="658368" y="2441448"/>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551176"/>
            <a:ext cx="9960864" cy="832103"/>
          </a:xfrm>
          <a:prstGeom prst="rect">
            <a:avLst/>
          </a:prstGeom>
          <a:noFill/>
        </p:spPr>
        <p:txBody>
          <a:bodyPr wrap="square" lIns="0" rIns="0" tIns="0" bIns="0" anchor="ctr">
            <a:spAutoFit/>
          </a:bodyPr>
          <a:lstStyle/>
          <a:p>
            <a:pPr algn="l">
              <a:lnSpc>
                <a:spcPct val="118000"/>
              </a:lnSpc>
              <a:spcAft>
                <a:spcPts val="0"/>
              </a:spcAft>
            </a:pPr>
            <a:r>
              <a:rPr sz="2000" b="1" i="0">
                <a:solidFill>
                  <a:srgbClr val="FFFFFF"/>
                </a:solidFill>
                <a:latin typeface="Calibri"/>
              </a:rPr>
              <a:t>Jumlah kasus yang sedang berjalan sama dengan laju kasus masuk dikali rata-rata cycle time.</a:t>
            </a:r>
          </a:p>
        </p:txBody>
      </p:sp>
      <p:sp>
        <p:nvSpPr>
          <p:cNvPr id="8" name="TextBox 7"/>
          <p:cNvSpPr txBox="1"/>
          <p:nvPr/>
        </p:nvSpPr>
        <p:spPr>
          <a:xfrm>
            <a:off x="658368" y="3803904"/>
            <a:ext cx="9352727" cy="1554479"/>
          </a:xfrm>
          <a:prstGeom prst="rect">
            <a:avLst/>
          </a:prstGeom>
          <a:noFill/>
        </p:spPr>
        <p:txBody>
          <a:bodyPr wrap="square" lIns="0" rIns="0" tIns="0" bIns="0" anchor="t">
            <a:spAutoFit/>
          </a:bodyPr>
          <a:lstStyle/>
          <a:p>
            <a:pPr algn="l">
              <a:lnSpc>
                <a:spcPct val="135000"/>
              </a:lnSpc>
              <a:spcAft>
                <a:spcPts val="1200"/>
              </a:spcAft>
            </a:pPr>
            <a:r>
              <a:rPr sz="1500" b="0" i="0">
                <a:solidFill>
                  <a:srgbClr val="5A6672"/>
                </a:solidFill>
                <a:latin typeface="Calibri"/>
              </a:rPr>
              <a:t>Kalau 40 klaim masuk tiap minggu dan rata-rata selesai dalam 2 minggu, selalu ada sekitar 80 klaim yang belum selesai.</a:t>
            </a:r>
          </a:p>
          <a:p>
            <a:pPr algn="l">
              <a:lnSpc>
                <a:spcPct val="135000"/>
              </a:lnSpc>
              <a:spcAft>
                <a:spcPts val="1200"/>
              </a:spcAft>
            </a:pPr>
            <a:r>
              <a:rPr sz="1500" b="0" i="0">
                <a:solidFill>
                  <a:srgbClr val="5A6672"/>
                </a:solidFill>
                <a:latin typeface="Calibri"/>
              </a:rPr>
              <a:t>Mau tumpukannya turun jadi 40? Cycle time harus turun jadi satu minggu, atau klaim yang masuk harus berkurang. Tidak ada cara ketiga.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PROCESS MINING</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Event log: proses yang mencatat dirinya sendiri</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17</a:t>
            </a:r>
          </a:p>
        </p:txBody>
      </p:sp>
      <p:sp>
        <p:nvSpPr>
          <p:cNvPr id="6" name="Rectangle 5"/>
          <p:cNvSpPr/>
          <p:nvPr/>
        </p:nvSpPr>
        <p:spPr>
          <a:xfrm>
            <a:off x="731520" y="1783080"/>
            <a:ext cx="868680" cy="384048"/>
          </a:xfrm>
          <a:prstGeom prst="rect">
            <a:avLst/>
          </a:prstGeom>
          <a:solidFill>
            <a:srgbClr val="0E7C8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865376"/>
            <a:ext cx="777240" cy="274320"/>
          </a:xfrm>
          <a:prstGeom prst="rect">
            <a:avLst/>
          </a:prstGeom>
          <a:noFill/>
        </p:spPr>
        <p:txBody>
          <a:bodyPr wrap="square" lIns="0" rIns="0" tIns="0" bIns="0" anchor="t">
            <a:spAutoFit/>
          </a:bodyPr>
          <a:lstStyle/>
          <a:p>
            <a:pPr algn="l">
              <a:lnSpc>
                <a:spcPct val="112000"/>
              </a:lnSpc>
              <a:spcAft>
                <a:spcPts val="0"/>
              </a:spcAft>
            </a:pPr>
            <a:r>
              <a:rPr sz="950" b="1" i="0">
                <a:solidFill>
                  <a:srgbClr val="FFFFFF"/>
                </a:solidFill>
                <a:latin typeface="Calibri"/>
              </a:rPr>
              <a:t>Kasus</a:t>
            </a:r>
          </a:p>
        </p:txBody>
      </p:sp>
      <p:sp>
        <p:nvSpPr>
          <p:cNvPr id="8" name="Rectangle 7"/>
          <p:cNvSpPr/>
          <p:nvPr/>
        </p:nvSpPr>
        <p:spPr>
          <a:xfrm>
            <a:off x="1600200" y="1783080"/>
            <a:ext cx="2331720" cy="384048"/>
          </a:xfrm>
          <a:prstGeom prst="rect">
            <a:avLst/>
          </a:prstGeom>
          <a:solidFill>
            <a:srgbClr val="0E7C8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55064" y="1865376"/>
            <a:ext cx="2240279" cy="274320"/>
          </a:xfrm>
          <a:prstGeom prst="rect">
            <a:avLst/>
          </a:prstGeom>
          <a:noFill/>
        </p:spPr>
        <p:txBody>
          <a:bodyPr wrap="square" lIns="0" rIns="0" tIns="0" bIns="0" anchor="t">
            <a:spAutoFit/>
          </a:bodyPr>
          <a:lstStyle/>
          <a:p>
            <a:pPr algn="l">
              <a:lnSpc>
                <a:spcPct val="112000"/>
              </a:lnSpc>
              <a:spcAft>
                <a:spcPts val="0"/>
              </a:spcAft>
            </a:pPr>
            <a:r>
              <a:rPr sz="950" b="1" i="0">
                <a:solidFill>
                  <a:srgbClr val="FFFFFF"/>
                </a:solidFill>
                <a:latin typeface="Calibri"/>
              </a:rPr>
              <a:t>Aktivitas</a:t>
            </a:r>
          </a:p>
        </p:txBody>
      </p:sp>
      <p:sp>
        <p:nvSpPr>
          <p:cNvPr id="10" name="Rectangle 9"/>
          <p:cNvSpPr/>
          <p:nvPr/>
        </p:nvSpPr>
        <p:spPr>
          <a:xfrm>
            <a:off x="3931920" y="1783080"/>
            <a:ext cx="1371600" cy="384048"/>
          </a:xfrm>
          <a:prstGeom prst="rect">
            <a:avLst/>
          </a:prstGeom>
          <a:solidFill>
            <a:srgbClr val="0E7C8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86783" y="1865376"/>
            <a:ext cx="1280160" cy="274320"/>
          </a:xfrm>
          <a:prstGeom prst="rect">
            <a:avLst/>
          </a:prstGeom>
          <a:noFill/>
        </p:spPr>
        <p:txBody>
          <a:bodyPr wrap="square" lIns="0" rIns="0" tIns="0" bIns="0" anchor="t">
            <a:spAutoFit/>
          </a:bodyPr>
          <a:lstStyle/>
          <a:p>
            <a:pPr algn="l">
              <a:lnSpc>
                <a:spcPct val="112000"/>
              </a:lnSpc>
              <a:spcAft>
                <a:spcPts val="0"/>
              </a:spcAft>
            </a:pPr>
            <a:r>
              <a:rPr sz="950" b="1" i="0">
                <a:solidFill>
                  <a:srgbClr val="FFFFFF"/>
                </a:solidFill>
                <a:latin typeface="Calibri"/>
              </a:rPr>
              <a:t>Selesai</a:t>
            </a:r>
          </a:p>
        </p:txBody>
      </p:sp>
      <p:sp>
        <p:nvSpPr>
          <p:cNvPr id="12" name="Rectangle 11"/>
          <p:cNvSpPr/>
          <p:nvPr/>
        </p:nvSpPr>
        <p:spPr>
          <a:xfrm>
            <a:off x="5303520" y="1783080"/>
            <a:ext cx="1097280" cy="384048"/>
          </a:xfrm>
          <a:prstGeom prst="rect">
            <a:avLst/>
          </a:prstGeom>
          <a:solidFill>
            <a:srgbClr val="0E7C8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58383" y="1865376"/>
            <a:ext cx="1005839" cy="274320"/>
          </a:xfrm>
          <a:prstGeom prst="rect">
            <a:avLst/>
          </a:prstGeom>
          <a:noFill/>
        </p:spPr>
        <p:txBody>
          <a:bodyPr wrap="square" lIns="0" rIns="0" tIns="0" bIns="0" anchor="t">
            <a:spAutoFit/>
          </a:bodyPr>
          <a:lstStyle/>
          <a:p>
            <a:pPr algn="l">
              <a:lnSpc>
                <a:spcPct val="112000"/>
              </a:lnSpc>
              <a:spcAft>
                <a:spcPts val="0"/>
              </a:spcAft>
            </a:pPr>
            <a:r>
              <a:rPr sz="950" b="1" i="0">
                <a:solidFill>
                  <a:srgbClr val="FFFFFF"/>
                </a:solidFill>
                <a:latin typeface="Calibri"/>
              </a:rPr>
              <a:t>Peran</a:t>
            </a:r>
          </a:p>
        </p:txBody>
      </p:sp>
      <p:sp>
        <p:nvSpPr>
          <p:cNvPr id="14" name="Rectangle 13"/>
          <p:cNvSpPr/>
          <p:nvPr/>
        </p:nvSpPr>
        <p:spPr>
          <a:xfrm>
            <a:off x="731520" y="2167128"/>
            <a:ext cx="86868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2258568"/>
            <a:ext cx="77724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END-02</a:t>
            </a:r>
          </a:p>
        </p:txBody>
      </p:sp>
      <p:sp>
        <p:nvSpPr>
          <p:cNvPr id="16" name="Rectangle 15"/>
          <p:cNvSpPr/>
          <p:nvPr/>
        </p:nvSpPr>
        <p:spPr>
          <a:xfrm>
            <a:off x="1600200" y="2167128"/>
            <a:ext cx="233172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55064" y="2258568"/>
            <a:ext cx="224027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Menerima permintaan</a:t>
            </a:r>
          </a:p>
        </p:txBody>
      </p:sp>
      <p:sp>
        <p:nvSpPr>
          <p:cNvPr id="18" name="Rectangle 17"/>
          <p:cNvSpPr/>
          <p:nvPr/>
        </p:nvSpPr>
        <p:spPr>
          <a:xfrm>
            <a:off x="3931920" y="2167128"/>
            <a:ext cx="137160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86783" y="2258568"/>
            <a:ext cx="128016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Sen 07/09 10.41</a:t>
            </a:r>
          </a:p>
        </p:txBody>
      </p:sp>
      <p:sp>
        <p:nvSpPr>
          <p:cNvPr id="20" name="Rectangle 19"/>
          <p:cNvSpPr/>
          <p:nvPr/>
        </p:nvSpPr>
        <p:spPr>
          <a:xfrm>
            <a:off x="5303520" y="2167128"/>
            <a:ext cx="109728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58383" y="2258568"/>
            <a:ext cx="100583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Marketing</a:t>
            </a:r>
          </a:p>
        </p:txBody>
      </p:sp>
      <p:sp>
        <p:nvSpPr>
          <p:cNvPr id="22" name="Rectangle 21"/>
          <p:cNvSpPr/>
          <p:nvPr/>
        </p:nvSpPr>
        <p:spPr>
          <a:xfrm>
            <a:off x="731520" y="2551176"/>
            <a:ext cx="86868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2642616"/>
            <a:ext cx="77724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END-02</a:t>
            </a:r>
          </a:p>
        </p:txBody>
      </p:sp>
      <p:sp>
        <p:nvSpPr>
          <p:cNvPr id="24" name="Rectangle 23"/>
          <p:cNvSpPr/>
          <p:nvPr/>
        </p:nvSpPr>
        <p:spPr>
          <a:xfrm>
            <a:off x="1600200" y="2551176"/>
            <a:ext cx="233172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55064" y="2642616"/>
            <a:ext cx="224027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Memeriksa kelengkapan dokumen</a:t>
            </a:r>
          </a:p>
        </p:txBody>
      </p:sp>
      <p:sp>
        <p:nvSpPr>
          <p:cNvPr id="26" name="Rectangle 25"/>
          <p:cNvSpPr/>
          <p:nvPr/>
        </p:nvSpPr>
        <p:spPr>
          <a:xfrm>
            <a:off x="3931920" y="2551176"/>
            <a:ext cx="137160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86783" y="2642616"/>
            <a:ext cx="128016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Sen 07/09 14.40</a:t>
            </a:r>
          </a:p>
        </p:txBody>
      </p:sp>
      <p:sp>
        <p:nvSpPr>
          <p:cNvPr id="28" name="Rectangle 27"/>
          <p:cNvSpPr/>
          <p:nvPr/>
        </p:nvSpPr>
        <p:spPr>
          <a:xfrm>
            <a:off x="5303520" y="2551176"/>
            <a:ext cx="109728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58383" y="2642616"/>
            <a:ext cx="100583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Marketing</a:t>
            </a:r>
          </a:p>
        </p:txBody>
      </p:sp>
      <p:sp>
        <p:nvSpPr>
          <p:cNvPr id="30" name="Rectangle 29"/>
          <p:cNvSpPr/>
          <p:nvPr/>
        </p:nvSpPr>
        <p:spPr>
          <a:xfrm>
            <a:off x="731520" y="2935224"/>
            <a:ext cx="86868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3026664"/>
            <a:ext cx="77724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END-02</a:t>
            </a:r>
          </a:p>
        </p:txBody>
      </p:sp>
      <p:sp>
        <p:nvSpPr>
          <p:cNvPr id="32" name="Rectangle 31"/>
          <p:cNvSpPr/>
          <p:nvPr/>
        </p:nvSpPr>
        <p:spPr>
          <a:xfrm>
            <a:off x="1600200" y="2935224"/>
            <a:ext cx="233172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55064" y="3026664"/>
            <a:ext cx="224027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Menghitung premi tambahan</a:t>
            </a:r>
          </a:p>
        </p:txBody>
      </p:sp>
      <p:sp>
        <p:nvSpPr>
          <p:cNvPr id="34" name="Rectangle 33"/>
          <p:cNvSpPr/>
          <p:nvPr/>
        </p:nvSpPr>
        <p:spPr>
          <a:xfrm>
            <a:off x="3931920" y="2935224"/>
            <a:ext cx="137160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86783" y="3026664"/>
            <a:ext cx="128016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Sel 08/09 12.21</a:t>
            </a:r>
          </a:p>
        </p:txBody>
      </p:sp>
      <p:sp>
        <p:nvSpPr>
          <p:cNvPr id="36" name="Rectangle 35"/>
          <p:cNvSpPr/>
          <p:nvPr/>
        </p:nvSpPr>
        <p:spPr>
          <a:xfrm>
            <a:off x="5303520" y="2935224"/>
            <a:ext cx="109728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58383" y="3026664"/>
            <a:ext cx="100583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Underwriting</a:t>
            </a:r>
          </a:p>
        </p:txBody>
      </p:sp>
      <p:sp>
        <p:nvSpPr>
          <p:cNvPr id="38" name="Rectangle 37"/>
          <p:cNvSpPr/>
          <p:nvPr/>
        </p:nvSpPr>
        <p:spPr>
          <a:xfrm>
            <a:off x="731520" y="3319272"/>
            <a:ext cx="86868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3410712"/>
            <a:ext cx="77724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END-02</a:t>
            </a:r>
          </a:p>
        </p:txBody>
      </p:sp>
      <p:sp>
        <p:nvSpPr>
          <p:cNvPr id="40" name="Rectangle 39"/>
          <p:cNvSpPr/>
          <p:nvPr/>
        </p:nvSpPr>
        <p:spPr>
          <a:xfrm>
            <a:off x="1600200" y="3319272"/>
            <a:ext cx="233172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655064" y="3410712"/>
            <a:ext cx="224027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Menyetujui endorsement</a:t>
            </a:r>
          </a:p>
        </p:txBody>
      </p:sp>
      <p:sp>
        <p:nvSpPr>
          <p:cNvPr id="42" name="Rectangle 41"/>
          <p:cNvSpPr/>
          <p:nvPr/>
        </p:nvSpPr>
        <p:spPr>
          <a:xfrm>
            <a:off x="3931920" y="3319272"/>
            <a:ext cx="137160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86783" y="3410712"/>
            <a:ext cx="128016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Sel 08/09 14.21</a:t>
            </a:r>
          </a:p>
        </p:txBody>
      </p:sp>
      <p:sp>
        <p:nvSpPr>
          <p:cNvPr id="44" name="Rectangle 43"/>
          <p:cNvSpPr/>
          <p:nvPr/>
        </p:nvSpPr>
        <p:spPr>
          <a:xfrm>
            <a:off x="5303520" y="3319272"/>
            <a:ext cx="109728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58383" y="3410712"/>
            <a:ext cx="100583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Underwriter senior</a:t>
            </a:r>
          </a:p>
        </p:txBody>
      </p:sp>
      <p:sp>
        <p:nvSpPr>
          <p:cNvPr id="46" name="Rectangle 45"/>
          <p:cNvSpPr/>
          <p:nvPr/>
        </p:nvSpPr>
        <p:spPr>
          <a:xfrm>
            <a:off x="731520" y="3703320"/>
            <a:ext cx="86868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6384" y="3794759"/>
            <a:ext cx="77724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END-02</a:t>
            </a:r>
          </a:p>
        </p:txBody>
      </p:sp>
      <p:sp>
        <p:nvSpPr>
          <p:cNvPr id="48" name="Rectangle 47"/>
          <p:cNvSpPr/>
          <p:nvPr/>
        </p:nvSpPr>
        <p:spPr>
          <a:xfrm>
            <a:off x="1600200" y="3703320"/>
            <a:ext cx="233172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655064" y="3794759"/>
            <a:ext cx="224027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Menerbitkan endorsement</a:t>
            </a:r>
          </a:p>
        </p:txBody>
      </p:sp>
      <p:sp>
        <p:nvSpPr>
          <p:cNvPr id="50" name="Rectangle 49"/>
          <p:cNvSpPr/>
          <p:nvPr/>
        </p:nvSpPr>
        <p:spPr>
          <a:xfrm>
            <a:off x="3931920" y="3703320"/>
            <a:ext cx="137160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986783" y="3794759"/>
            <a:ext cx="128016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Rab 09/09 10.37</a:t>
            </a:r>
          </a:p>
        </p:txBody>
      </p:sp>
      <p:sp>
        <p:nvSpPr>
          <p:cNvPr id="52" name="Rectangle 51"/>
          <p:cNvSpPr/>
          <p:nvPr/>
        </p:nvSpPr>
        <p:spPr>
          <a:xfrm>
            <a:off x="5303520" y="3703320"/>
            <a:ext cx="1097280" cy="384048"/>
          </a:xfrm>
          <a:prstGeom prst="rect">
            <a:avLst/>
          </a:prstGeom>
          <a:solidFill>
            <a:srgbClr val="FFFFFF"/>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58383" y="3794759"/>
            <a:ext cx="100583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Policy admin</a:t>
            </a:r>
          </a:p>
        </p:txBody>
      </p:sp>
      <p:sp>
        <p:nvSpPr>
          <p:cNvPr id="54" name="Rectangle 53"/>
          <p:cNvSpPr/>
          <p:nvPr/>
        </p:nvSpPr>
        <p:spPr>
          <a:xfrm>
            <a:off x="731520" y="4087368"/>
            <a:ext cx="86868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6384" y="4178807"/>
            <a:ext cx="77724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END-02</a:t>
            </a:r>
          </a:p>
        </p:txBody>
      </p:sp>
      <p:sp>
        <p:nvSpPr>
          <p:cNvPr id="56" name="Rectangle 55"/>
          <p:cNvSpPr/>
          <p:nvPr/>
        </p:nvSpPr>
        <p:spPr>
          <a:xfrm>
            <a:off x="1600200" y="4087368"/>
            <a:ext cx="233172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55064" y="4178807"/>
            <a:ext cx="224027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Mengirim dokumen ke nasabah</a:t>
            </a:r>
          </a:p>
        </p:txBody>
      </p:sp>
      <p:sp>
        <p:nvSpPr>
          <p:cNvPr id="58" name="Rectangle 57"/>
          <p:cNvSpPr/>
          <p:nvPr/>
        </p:nvSpPr>
        <p:spPr>
          <a:xfrm>
            <a:off x="3931920" y="4087368"/>
            <a:ext cx="137160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986783" y="4178807"/>
            <a:ext cx="1280160"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Rab 09/09 12.16</a:t>
            </a:r>
          </a:p>
        </p:txBody>
      </p:sp>
      <p:sp>
        <p:nvSpPr>
          <p:cNvPr id="60" name="Rectangle 59"/>
          <p:cNvSpPr/>
          <p:nvPr/>
        </p:nvSpPr>
        <p:spPr>
          <a:xfrm>
            <a:off x="5303520" y="4087368"/>
            <a:ext cx="1097280" cy="384048"/>
          </a:xfrm>
          <a:prstGeom prst="rect">
            <a:avLst/>
          </a:prstGeom>
          <a:solidFill>
            <a:srgbClr val="ECFAF8"/>
          </a:solidFill>
          <a:ln w="6350">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58383" y="4178807"/>
            <a:ext cx="1005839" cy="274320"/>
          </a:xfrm>
          <a:prstGeom prst="rect">
            <a:avLst/>
          </a:prstGeom>
          <a:noFill/>
        </p:spPr>
        <p:txBody>
          <a:bodyPr wrap="square" lIns="0" rIns="0" tIns="0" bIns="0" anchor="t">
            <a:spAutoFit/>
          </a:bodyPr>
          <a:lstStyle/>
          <a:p>
            <a:pPr algn="l">
              <a:lnSpc>
                <a:spcPct val="112000"/>
              </a:lnSpc>
              <a:spcAft>
                <a:spcPts val="0"/>
              </a:spcAft>
            </a:pPr>
            <a:r>
              <a:rPr sz="850" b="0" i="0">
                <a:solidFill>
                  <a:srgbClr val="1B2733"/>
                </a:solidFill>
                <a:latin typeface="Calibri"/>
              </a:rPr>
              <a:t>Marketing</a:t>
            </a:r>
          </a:p>
        </p:txBody>
      </p:sp>
      <p:sp>
        <p:nvSpPr>
          <p:cNvPr id="62" name="TextBox 61"/>
          <p:cNvSpPr txBox="1"/>
          <p:nvPr/>
        </p:nvSpPr>
        <p:spPr>
          <a:xfrm>
            <a:off x="731520" y="4544568"/>
            <a:ext cx="5669280" cy="274320"/>
          </a:xfrm>
          <a:prstGeom prst="rect">
            <a:avLst/>
          </a:prstGeom>
          <a:noFill/>
        </p:spPr>
        <p:txBody>
          <a:bodyPr wrap="square" lIns="0" rIns="0" tIns="0" bIns="0" anchor="t">
            <a:spAutoFit/>
          </a:bodyPr>
          <a:lstStyle/>
          <a:p>
            <a:pPr algn="l">
              <a:lnSpc>
                <a:spcPct val="112000"/>
              </a:lnSpc>
              <a:spcAft>
                <a:spcPts val="0"/>
              </a:spcAft>
            </a:pPr>
            <a:r>
              <a:rPr sz="900" b="0" i="1">
                <a:solidFill>
                  <a:srgbClr val="5A6672"/>
                </a:solidFill>
                <a:latin typeface="Calibri"/>
              </a:rPr>
              <a:t>Potongan event log studi kasus (kasus END-02).</a:t>
            </a:r>
          </a:p>
        </p:txBody>
      </p:sp>
      <p:cxnSp>
        <p:nvCxnSpPr>
          <p:cNvPr id="63" name="Connector 62"/>
          <p:cNvCxnSpPr/>
          <p:nvPr/>
        </p:nvCxnSpPr>
        <p:spPr>
          <a:xfrm>
            <a:off x="6492240" y="3108960"/>
            <a:ext cx="594360" cy="0"/>
          </a:xfrm>
          <a:prstGeom prst="line">
            <a:avLst/>
          </a:prstGeom>
          <a:ln w="25400">
            <a:solidFill>
              <a:srgbClr val="C97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172200" y="2697480"/>
            <a:ext cx="1280160" cy="274320"/>
          </a:xfrm>
          <a:prstGeom prst="rect">
            <a:avLst/>
          </a:prstGeom>
          <a:noFill/>
        </p:spPr>
        <p:txBody>
          <a:bodyPr wrap="square" lIns="0" rIns="0" tIns="0" bIns="0" anchor="t">
            <a:spAutoFit/>
          </a:bodyPr>
          <a:lstStyle/>
          <a:p>
            <a:pPr algn="ctr">
              <a:lnSpc>
                <a:spcPct val="112000"/>
              </a:lnSpc>
              <a:spcAft>
                <a:spcPts val="0"/>
              </a:spcAft>
            </a:pPr>
            <a:r>
              <a:rPr sz="1000" b="1" i="0">
                <a:solidFill>
                  <a:srgbClr val="C97A0A"/>
                </a:solidFill>
                <a:latin typeface="Calibri"/>
              </a:rPr>
              <a:t>discovery</a:t>
            </a:r>
          </a:p>
        </p:txBody>
      </p:sp>
      <p:sp>
        <p:nvSpPr>
          <p:cNvPr id="65" name="Rounded Rectangle 64"/>
          <p:cNvSpPr/>
          <p:nvPr/>
        </p:nvSpPr>
        <p:spPr>
          <a:xfrm>
            <a:off x="7315200" y="1645920"/>
            <a:ext cx="2926080" cy="402336"/>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388352" y="1682496"/>
            <a:ext cx="2779776" cy="329184"/>
          </a:xfrm>
          <a:prstGeom prst="rect">
            <a:avLst/>
          </a:prstGeom>
          <a:noFill/>
        </p:spPr>
        <p:txBody>
          <a:bodyPr wrap="square" lIns="0" rIns="0" tIns="0" bIns="0" anchor="ctr">
            <a:spAutoFit/>
          </a:bodyPr>
          <a:lstStyle/>
          <a:p>
            <a:pPr algn="ctr">
              <a:lnSpc>
                <a:spcPct val="108000"/>
              </a:lnSpc>
              <a:spcAft>
                <a:spcPts val="0"/>
              </a:spcAft>
            </a:pPr>
            <a:r>
              <a:rPr sz="950" b="0" i="0">
                <a:solidFill>
                  <a:srgbClr val="1B2733"/>
                </a:solidFill>
                <a:latin typeface="Calibri"/>
              </a:rPr>
              <a:t>Menerima permintaan  (12)</a:t>
            </a:r>
          </a:p>
        </p:txBody>
      </p:sp>
      <p:sp>
        <p:nvSpPr>
          <p:cNvPr id="67" name="Rounded Rectangle 66"/>
          <p:cNvSpPr/>
          <p:nvPr/>
        </p:nvSpPr>
        <p:spPr>
          <a:xfrm>
            <a:off x="7315200" y="2167128"/>
            <a:ext cx="2926080" cy="402336"/>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88352" y="2203704"/>
            <a:ext cx="2779776" cy="329184"/>
          </a:xfrm>
          <a:prstGeom prst="rect">
            <a:avLst/>
          </a:prstGeom>
          <a:noFill/>
        </p:spPr>
        <p:txBody>
          <a:bodyPr wrap="square" lIns="0" rIns="0" tIns="0" bIns="0" anchor="ctr">
            <a:spAutoFit/>
          </a:bodyPr>
          <a:lstStyle/>
          <a:p>
            <a:pPr algn="ctr">
              <a:lnSpc>
                <a:spcPct val="108000"/>
              </a:lnSpc>
              <a:spcAft>
                <a:spcPts val="0"/>
              </a:spcAft>
            </a:pPr>
            <a:r>
              <a:rPr sz="950" b="0" i="0">
                <a:solidFill>
                  <a:srgbClr val="1B2733"/>
                </a:solidFill>
                <a:latin typeface="Calibri"/>
              </a:rPr>
              <a:t>Memeriksa kelengkapan dokumen  (16)</a:t>
            </a:r>
          </a:p>
        </p:txBody>
      </p:sp>
      <p:cxnSp>
        <p:nvCxnSpPr>
          <p:cNvPr id="69" name="Connector 68"/>
          <p:cNvCxnSpPr/>
          <p:nvPr/>
        </p:nvCxnSpPr>
        <p:spPr>
          <a:xfrm>
            <a:off x="8778240" y="2048256"/>
            <a:ext cx="0" cy="118872"/>
          </a:xfrm>
          <a:prstGeom prst="line">
            <a:avLst/>
          </a:prstGeom>
          <a:ln w="1270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7315200" y="2688336"/>
            <a:ext cx="2926080" cy="402336"/>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88352" y="2724912"/>
            <a:ext cx="2779776" cy="329184"/>
          </a:xfrm>
          <a:prstGeom prst="rect">
            <a:avLst/>
          </a:prstGeom>
          <a:noFill/>
        </p:spPr>
        <p:txBody>
          <a:bodyPr wrap="square" lIns="0" rIns="0" tIns="0" bIns="0" anchor="ctr">
            <a:spAutoFit/>
          </a:bodyPr>
          <a:lstStyle/>
          <a:p>
            <a:pPr algn="ctr">
              <a:lnSpc>
                <a:spcPct val="108000"/>
              </a:lnSpc>
              <a:spcAft>
                <a:spcPts val="0"/>
              </a:spcAft>
            </a:pPr>
            <a:r>
              <a:rPr sz="950" b="0" i="0">
                <a:solidFill>
                  <a:srgbClr val="1B2733"/>
                </a:solidFill>
                <a:latin typeface="Calibri"/>
              </a:rPr>
              <a:t>Menghitung premi tambahan  (7)</a:t>
            </a:r>
          </a:p>
        </p:txBody>
      </p:sp>
      <p:cxnSp>
        <p:nvCxnSpPr>
          <p:cNvPr id="72" name="Connector 71"/>
          <p:cNvCxnSpPr/>
          <p:nvPr/>
        </p:nvCxnSpPr>
        <p:spPr>
          <a:xfrm>
            <a:off x="8778240" y="2569464"/>
            <a:ext cx="0" cy="118872"/>
          </a:xfrm>
          <a:prstGeom prst="line">
            <a:avLst/>
          </a:prstGeom>
          <a:ln w="1270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7315200" y="3209544"/>
            <a:ext cx="2926080" cy="402336"/>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88352" y="3246120"/>
            <a:ext cx="2779776" cy="329184"/>
          </a:xfrm>
          <a:prstGeom prst="rect">
            <a:avLst/>
          </a:prstGeom>
          <a:noFill/>
        </p:spPr>
        <p:txBody>
          <a:bodyPr wrap="square" lIns="0" rIns="0" tIns="0" bIns="0" anchor="ctr">
            <a:spAutoFit/>
          </a:bodyPr>
          <a:lstStyle/>
          <a:p>
            <a:pPr algn="ctr">
              <a:lnSpc>
                <a:spcPct val="108000"/>
              </a:lnSpc>
              <a:spcAft>
                <a:spcPts val="0"/>
              </a:spcAft>
            </a:pPr>
            <a:r>
              <a:rPr sz="950" b="0" i="0">
                <a:solidFill>
                  <a:srgbClr val="1B2733"/>
                </a:solidFill>
                <a:latin typeface="Calibri"/>
              </a:rPr>
              <a:t>Menyetujui endorsement  (7)</a:t>
            </a:r>
          </a:p>
        </p:txBody>
      </p:sp>
      <p:cxnSp>
        <p:nvCxnSpPr>
          <p:cNvPr id="75" name="Connector 74"/>
          <p:cNvCxnSpPr/>
          <p:nvPr/>
        </p:nvCxnSpPr>
        <p:spPr>
          <a:xfrm>
            <a:off x="8778240" y="3090672"/>
            <a:ext cx="0" cy="118872"/>
          </a:xfrm>
          <a:prstGeom prst="line">
            <a:avLst/>
          </a:prstGeom>
          <a:ln w="1270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Rounded Rectangle 75"/>
          <p:cNvSpPr/>
          <p:nvPr/>
        </p:nvSpPr>
        <p:spPr>
          <a:xfrm>
            <a:off x="7315200" y="3730752"/>
            <a:ext cx="2926080" cy="402336"/>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388352" y="3767328"/>
            <a:ext cx="2779776" cy="329184"/>
          </a:xfrm>
          <a:prstGeom prst="rect">
            <a:avLst/>
          </a:prstGeom>
          <a:noFill/>
        </p:spPr>
        <p:txBody>
          <a:bodyPr wrap="square" lIns="0" rIns="0" tIns="0" bIns="0" anchor="ctr">
            <a:spAutoFit/>
          </a:bodyPr>
          <a:lstStyle/>
          <a:p>
            <a:pPr algn="ctr">
              <a:lnSpc>
                <a:spcPct val="108000"/>
              </a:lnSpc>
              <a:spcAft>
                <a:spcPts val="0"/>
              </a:spcAft>
            </a:pPr>
            <a:r>
              <a:rPr sz="950" b="0" i="0">
                <a:solidFill>
                  <a:srgbClr val="1B2733"/>
                </a:solidFill>
                <a:latin typeface="Calibri"/>
              </a:rPr>
              <a:t>Menerbitkan endorsement  (12)</a:t>
            </a:r>
          </a:p>
        </p:txBody>
      </p:sp>
      <p:cxnSp>
        <p:nvCxnSpPr>
          <p:cNvPr id="78" name="Connector 77"/>
          <p:cNvCxnSpPr/>
          <p:nvPr/>
        </p:nvCxnSpPr>
        <p:spPr>
          <a:xfrm>
            <a:off x="8778240" y="3611880"/>
            <a:ext cx="0" cy="118872"/>
          </a:xfrm>
          <a:prstGeom prst="line">
            <a:avLst/>
          </a:prstGeom>
          <a:ln w="1270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 name="Rounded Rectangle 78"/>
          <p:cNvSpPr/>
          <p:nvPr/>
        </p:nvSpPr>
        <p:spPr>
          <a:xfrm>
            <a:off x="7315200" y="4251960"/>
            <a:ext cx="2926080" cy="402336"/>
          </a:xfrm>
          <a:prstGeom prst="roundRect">
            <a:avLst>
              <a:gd name="adj" fmla="val 12000"/>
            </a:avLst>
          </a:prstGeom>
          <a:solidFill>
            <a:srgbClr val="FFFFFF"/>
          </a:solidFill>
          <a:ln w="14604">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388352" y="4288536"/>
            <a:ext cx="2779776" cy="329184"/>
          </a:xfrm>
          <a:prstGeom prst="rect">
            <a:avLst/>
          </a:prstGeom>
          <a:noFill/>
        </p:spPr>
        <p:txBody>
          <a:bodyPr wrap="square" lIns="0" rIns="0" tIns="0" bIns="0" anchor="ctr">
            <a:spAutoFit/>
          </a:bodyPr>
          <a:lstStyle/>
          <a:p>
            <a:pPr algn="ctr">
              <a:lnSpc>
                <a:spcPct val="108000"/>
              </a:lnSpc>
              <a:spcAft>
                <a:spcPts val="0"/>
              </a:spcAft>
            </a:pPr>
            <a:r>
              <a:rPr sz="950" b="0" i="0">
                <a:solidFill>
                  <a:srgbClr val="1B2733"/>
                </a:solidFill>
                <a:latin typeface="Calibri"/>
              </a:rPr>
              <a:t>Mengirim dokumen ke nasabah  (13)</a:t>
            </a:r>
          </a:p>
        </p:txBody>
      </p:sp>
      <p:cxnSp>
        <p:nvCxnSpPr>
          <p:cNvPr id="81" name="Connector 80"/>
          <p:cNvCxnSpPr/>
          <p:nvPr/>
        </p:nvCxnSpPr>
        <p:spPr>
          <a:xfrm>
            <a:off x="8778240" y="4133088"/>
            <a:ext cx="0" cy="118872"/>
          </a:xfrm>
          <a:prstGeom prst="line">
            <a:avLst/>
          </a:prstGeom>
          <a:ln w="1270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2" name="Rounded Rectangle 81"/>
          <p:cNvSpPr/>
          <p:nvPr/>
        </p:nvSpPr>
        <p:spPr>
          <a:xfrm>
            <a:off x="10561319" y="2093976"/>
            <a:ext cx="972312" cy="548640"/>
          </a:xfrm>
          <a:prstGeom prst="roundRect">
            <a:avLst>
              <a:gd name="adj" fmla="val 12000"/>
            </a:avLst>
          </a:prstGeom>
          <a:solidFill>
            <a:srgbClr val="FFFFFF"/>
          </a:solidFill>
          <a:ln w="14604">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634472" y="2130552"/>
            <a:ext cx="826008" cy="475488"/>
          </a:xfrm>
          <a:prstGeom prst="rect">
            <a:avLst/>
          </a:prstGeom>
          <a:noFill/>
        </p:spPr>
        <p:txBody>
          <a:bodyPr wrap="square" lIns="0" rIns="0" tIns="0" bIns="0" anchor="ctr">
            <a:spAutoFit/>
          </a:bodyPr>
          <a:lstStyle/>
          <a:p>
            <a:pPr algn="ctr">
              <a:lnSpc>
                <a:spcPct val="108000"/>
              </a:lnSpc>
              <a:spcAft>
                <a:spcPts val="0"/>
              </a:spcAft>
            </a:pPr>
            <a:r>
              <a:rPr sz="850" b="0" i="0">
                <a:solidFill>
                  <a:srgbClr val="1B2733"/>
                </a:solidFill>
                <a:latin typeface="Calibri"/>
              </a:rPr>
              <a:t>Minta dokumen (4)</a:t>
            </a:r>
          </a:p>
        </p:txBody>
      </p:sp>
      <p:cxnSp>
        <p:nvCxnSpPr>
          <p:cNvPr id="84" name="Connector 83"/>
          <p:cNvCxnSpPr/>
          <p:nvPr/>
        </p:nvCxnSpPr>
        <p:spPr>
          <a:xfrm>
            <a:off x="10241280" y="2276856"/>
            <a:ext cx="320039" cy="0"/>
          </a:xfrm>
          <a:prstGeom prst="line">
            <a:avLst/>
          </a:prstGeom>
          <a:ln w="12700">
            <a:solidFill>
              <a:srgbClr val="C97A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10241280" y="2459736"/>
            <a:ext cx="320039" cy="0"/>
          </a:xfrm>
          <a:prstGeom prst="line">
            <a:avLst/>
          </a:prstGeom>
          <a:ln w="12700">
            <a:solidFill>
              <a:srgbClr val="C97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7315200" y="4791456"/>
            <a:ext cx="4206240" cy="274320"/>
          </a:xfrm>
          <a:prstGeom prst="rect">
            <a:avLst/>
          </a:prstGeom>
          <a:noFill/>
        </p:spPr>
        <p:txBody>
          <a:bodyPr wrap="square" lIns="0" rIns="0" tIns="0" bIns="0" anchor="t">
            <a:spAutoFit/>
          </a:bodyPr>
          <a:lstStyle/>
          <a:p>
            <a:pPr algn="l">
              <a:lnSpc>
                <a:spcPct val="112000"/>
              </a:lnSpc>
              <a:spcAft>
                <a:spcPts val="0"/>
              </a:spcAft>
            </a:pPr>
            <a:r>
              <a:rPr sz="900" b="0" i="1">
                <a:solidFill>
                  <a:srgbClr val="5A6672"/>
                </a:solidFill>
                <a:latin typeface="Calibri"/>
              </a:rPr>
              <a:t>Angka dalam kurung: berapa kali aktivitas itu terjadi.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PROCESS MINING</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Tiga hal yang bisa dilakukan dengan event log</a:t>
            </a:r>
          </a:p>
        </p:txBody>
      </p:sp>
      <p:sp>
        <p:nvSpPr>
          <p:cNvPr id="4" name="Rounded Rectangle 3"/>
          <p:cNvSpPr/>
          <p:nvPr/>
        </p:nvSpPr>
        <p:spPr>
          <a:xfrm>
            <a:off x="9019032" y="438912"/>
            <a:ext cx="2514600" cy="274320"/>
          </a:xfrm>
          <a:prstGeom prst="roundRect">
            <a:avLst/>
          </a:prstGeom>
          <a:solidFill>
            <a:srgbClr val="FF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19032" y="484632"/>
            <a:ext cx="2514600" cy="237744"/>
          </a:xfrm>
          <a:prstGeom prst="rect">
            <a:avLst/>
          </a:prstGeom>
          <a:noFill/>
        </p:spPr>
        <p:txBody>
          <a:bodyPr wrap="square" lIns="0" rIns="0" tIns="0" bIns="0" anchor="t">
            <a:spAutoFit/>
          </a:bodyPr>
          <a:lstStyle/>
          <a:p>
            <a:pPr algn="ctr">
              <a:lnSpc>
                <a:spcPct val="100000"/>
              </a:lnSpc>
              <a:spcAft>
                <a:spcPts val="0"/>
              </a:spcAft>
            </a:pPr>
            <a:r>
              <a:rPr sz="950" b="1" i="0">
                <a:solidFill>
                  <a:srgbClr val="C97A0A"/>
                </a:solidFill>
                <a:latin typeface="Calibri"/>
              </a:rPr>
              <a:t>Boleh disingkat kalau waktu mepet</a:t>
            </a:r>
          </a:p>
        </p:txBody>
      </p:sp>
      <p:sp>
        <p:nvSpPr>
          <p:cNvPr id="6" name="Rectangle 5"/>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440680"/>
            <a:ext cx="10875264" cy="502920"/>
          </a:xfrm>
          <a:prstGeom prst="rect">
            <a:avLst/>
          </a:prstGeom>
          <a:noFill/>
        </p:spPr>
        <p:txBody>
          <a:bodyPr wrap="square" lIns="0" rIns="0" tIns="0" bIns="0" anchor="t">
            <a:spAutoFit/>
          </a:bodyPr>
          <a:lstStyle/>
          <a:p>
            <a:pPr algn="l">
              <a:lnSpc>
                <a:spcPct val="118000"/>
              </a:lnSpc>
              <a:spcAft>
                <a:spcPts val="0"/>
              </a:spcAft>
            </a:pPr>
            <a:r>
              <a:rPr sz="1350" b="1" i="0">
                <a:solidFill>
                  <a:srgbClr val="1B2733"/>
                </a:solidFill>
                <a:latin typeface="Calibri"/>
              </a:rPr>
              <a:t>Ingat bias dari Pertemuan 2: log cuma mencatat yang lewat sistem. Grup WhatsApp Pak Agus tidak ada di sana.</a:t>
            </a:r>
          </a:p>
        </p:txBody>
      </p:sp>
      <p:sp>
        <p:nvSpPr>
          <p:cNvPr id="8" name="TextBox 7"/>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9" name="TextBox 8"/>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18</a:t>
            </a:r>
          </a:p>
        </p:txBody>
      </p:sp>
      <p:sp>
        <p:nvSpPr>
          <p:cNvPr id="10" name="Rectangle 9"/>
          <p:cNvSpPr/>
          <p:nvPr/>
        </p:nvSpPr>
        <p:spPr>
          <a:xfrm>
            <a:off x="658368" y="2592324"/>
            <a:ext cx="3442208" cy="1481328"/>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4400" y="2830068"/>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84932"/>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1</a:t>
            </a:r>
          </a:p>
        </p:txBody>
      </p:sp>
      <p:sp>
        <p:nvSpPr>
          <p:cNvPr id="13" name="TextBox 12"/>
          <p:cNvSpPr txBox="1"/>
          <p:nvPr/>
        </p:nvSpPr>
        <p:spPr>
          <a:xfrm>
            <a:off x="1371600" y="2866644"/>
            <a:ext cx="2527808" cy="310896"/>
          </a:xfrm>
          <a:prstGeom prst="rect">
            <a:avLst/>
          </a:prstGeom>
          <a:noFill/>
        </p:spPr>
        <p:txBody>
          <a:bodyPr wrap="square" lIns="0" rIns="0" tIns="0" bIns="0" anchor="t">
            <a:spAutoFit/>
          </a:bodyPr>
          <a:lstStyle/>
          <a:p>
            <a:pPr algn="l">
              <a:lnSpc>
                <a:spcPct val="105000"/>
              </a:lnSpc>
              <a:spcAft>
                <a:spcPts val="0"/>
              </a:spcAft>
            </a:pPr>
            <a:r>
              <a:rPr sz="1600" b="1" i="0">
                <a:solidFill>
                  <a:srgbClr val="1B2733"/>
                </a:solidFill>
                <a:latin typeface="Calibri"/>
              </a:rPr>
              <a:t>Discovery</a:t>
            </a:r>
          </a:p>
        </p:txBody>
      </p:sp>
      <p:sp>
        <p:nvSpPr>
          <p:cNvPr id="14" name="TextBox 13"/>
          <p:cNvSpPr txBox="1"/>
          <p:nvPr/>
        </p:nvSpPr>
        <p:spPr>
          <a:xfrm>
            <a:off x="914400" y="3323844"/>
            <a:ext cx="2930144" cy="566927"/>
          </a:xfrm>
          <a:prstGeom prst="rect">
            <a:avLst/>
          </a:prstGeom>
          <a:noFill/>
        </p:spPr>
        <p:txBody>
          <a:bodyPr wrap="square" lIns="0" rIns="0" tIns="0" bIns="0" anchor="t">
            <a:spAutoFit/>
          </a:bodyPr>
          <a:lstStyle/>
          <a:p>
            <a:pPr algn="l">
              <a:lnSpc>
                <a:spcPct val="132000"/>
              </a:lnSpc>
              <a:spcAft>
                <a:spcPts val="0"/>
              </a:spcAft>
            </a:pPr>
            <a:r>
              <a:rPr sz="1250" b="0" i="0">
                <a:solidFill>
                  <a:srgbClr val="5A6672"/>
                </a:solidFill>
                <a:latin typeface="Calibri"/>
              </a:rPr>
              <a:t>Menggambar proses dari data, tanpa wawancara.</a:t>
            </a:r>
          </a:p>
        </p:txBody>
      </p:sp>
      <p:sp>
        <p:nvSpPr>
          <p:cNvPr id="15" name="Rectangle 14"/>
          <p:cNvSpPr/>
          <p:nvPr/>
        </p:nvSpPr>
        <p:spPr>
          <a:xfrm>
            <a:off x="4374896" y="2592324"/>
            <a:ext cx="3442208" cy="1481328"/>
          </a:xfrm>
          <a:prstGeom prst="rect">
            <a:avLst/>
          </a:prstGeom>
          <a:solidFill>
            <a:srgbClr val="ED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30928" y="2830068"/>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30928" y="2884932"/>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2</a:t>
            </a:r>
          </a:p>
        </p:txBody>
      </p:sp>
      <p:sp>
        <p:nvSpPr>
          <p:cNvPr id="18" name="TextBox 17"/>
          <p:cNvSpPr txBox="1"/>
          <p:nvPr/>
        </p:nvSpPr>
        <p:spPr>
          <a:xfrm>
            <a:off x="5088128" y="2866644"/>
            <a:ext cx="2527808" cy="310896"/>
          </a:xfrm>
          <a:prstGeom prst="rect">
            <a:avLst/>
          </a:prstGeom>
          <a:noFill/>
        </p:spPr>
        <p:txBody>
          <a:bodyPr wrap="square" lIns="0" rIns="0" tIns="0" bIns="0" anchor="t">
            <a:spAutoFit/>
          </a:bodyPr>
          <a:lstStyle/>
          <a:p>
            <a:pPr algn="l">
              <a:lnSpc>
                <a:spcPct val="105000"/>
              </a:lnSpc>
              <a:spcAft>
                <a:spcPts val="0"/>
              </a:spcAft>
            </a:pPr>
            <a:r>
              <a:rPr sz="1600" b="1" i="0">
                <a:solidFill>
                  <a:srgbClr val="1B2733"/>
                </a:solidFill>
                <a:latin typeface="Calibri"/>
              </a:rPr>
              <a:t>Conformance checking</a:t>
            </a:r>
          </a:p>
        </p:txBody>
      </p:sp>
      <p:sp>
        <p:nvSpPr>
          <p:cNvPr id="19" name="TextBox 18"/>
          <p:cNvSpPr txBox="1"/>
          <p:nvPr/>
        </p:nvSpPr>
        <p:spPr>
          <a:xfrm>
            <a:off x="4630928" y="3323844"/>
            <a:ext cx="2930144" cy="566927"/>
          </a:xfrm>
          <a:prstGeom prst="rect">
            <a:avLst/>
          </a:prstGeom>
          <a:noFill/>
        </p:spPr>
        <p:txBody>
          <a:bodyPr wrap="square" lIns="0" rIns="0" tIns="0" bIns="0" anchor="t">
            <a:spAutoFit/>
          </a:bodyPr>
          <a:lstStyle/>
          <a:p>
            <a:pPr algn="l">
              <a:lnSpc>
                <a:spcPct val="132000"/>
              </a:lnSpc>
              <a:spcAft>
                <a:spcPts val="0"/>
              </a:spcAft>
            </a:pPr>
            <a:r>
              <a:rPr sz="1250" b="0" i="0">
                <a:solidFill>
                  <a:srgbClr val="5A6672"/>
                </a:solidFill>
                <a:latin typeface="Calibri"/>
              </a:rPr>
              <a:t>Membandingkan yang benar-benar terjadi dengan SOP.</a:t>
            </a:r>
          </a:p>
        </p:txBody>
      </p:sp>
      <p:sp>
        <p:nvSpPr>
          <p:cNvPr id="20" name="Rectangle 19"/>
          <p:cNvSpPr/>
          <p:nvPr/>
        </p:nvSpPr>
        <p:spPr>
          <a:xfrm>
            <a:off x="8091424" y="2592324"/>
            <a:ext cx="3442208" cy="1481328"/>
          </a:xfrm>
          <a:prstGeom prst="rect">
            <a:avLst/>
          </a:prstGeom>
          <a:solidFill>
            <a:srgbClr val="F3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47456" y="2830068"/>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47456" y="2884932"/>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3</a:t>
            </a:r>
          </a:p>
        </p:txBody>
      </p:sp>
      <p:sp>
        <p:nvSpPr>
          <p:cNvPr id="23" name="TextBox 22"/>
          <p:cNvSpPr txBox="1"/>
          <p:nvPr/>
        </p:nvSpPr>
        <p:spPr>
          <a:xfrm>
            <a:off x="8804656" y="2866644"/>
            <a:ext cx="2527808" cy="310896"/>
          </a:xfrm>
          <a:prstGeom prst="rect">
            <a:avLst/>
          </a:prstGeom>
          <a:noFill/>
        </p:spPr>
        <p:txBody>
          <a:bodyPr wrap="square" lIns="0" rIns="0" tIns="0" bIns="0" anchor="t">
            <a:spAutoFit/>
          </a:bodyPr>
          <a:lstStyle/>
          <a:p>
            <a:pPr algn="l">
              <a:lnSpc>
                <a:spcPct val="105000"/>
              </a:lnSpc>
              <a:spcAft>
                <a:spcPts val="0"/>
              </a:spcAft>
            </a:pPr>
            <a:r>
              <a:rPr sz="1600" b="1" i="0">
                <a:solidFill>
                  <a:srgbClr val="1B2733"/>
                </a:solidFill>
                <a:latin typeface="Calibri"/>
              </a:rPr>
              <a:t>Enhancement</a:t>
            </a:r>
          </a:p>
        </p:txBody>
      </p:sp>
      <p:sp>
        <p:nvSpPr>
          <p:cNvPr id="24" name="TextBox 23"/>
          <p:cNvSpPr txBox="1"/>
          <p:nvPr/>
        </p:nvSpPr>
        <p:spPr>
          <a:xfrm>
            <a:off x="8347456" y="3323844"/>
            <a:ext cx="2930144" cy="566927"/>
          </a:xfrm>
          <a:prstGeom prst="rect">
            <a:avLst/>
          </a:prstGeom>
          <a:noFill/>
        </p:spPr>
        <p:txBody>
          <a:bodyPr wrap="square" lIns="0" rIns="0" tIns="0" bIns="0" anchor="t">
            <a:spAutoFit/>
          </a:bodyPr>
          <a:lstStyle/>
          <a:p>
            <a:pPr algn="l">
              <a:lnSpc>
                <a:spcPct val="132000"/>
              </a:lnSpc>
              <a:spcAft>
                <a:spcPts val="0"/>
              </a:spcAft>
            </a:pPr>
            <a:r>
              <a:rPr sz="1250" b="0" i="0">
                <a:solidFill>
                  <a:srgbClr val="5A6672"/>
                </a:solidFill>
                <a:latin typeface="Calibri"/>
              </a:rPr>
              <a:t>Menambahkan waktu dan frekuensi ke model yang sudah ada.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BASELINE</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Catat baseline sebelum mengubah apa pun</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19</a:t>
            </a:r>
          </a:p>
        </p:txBody>
      </p:sp>
      <p:sp>
        <p:nvSpPr>
          <p:cNvPr id="6" name="Rectangle 5"/>
          <p:cNvSpPr/>
          <p:nvPr/>
        </p:nvSpPr>
        <p:spPr>
          <a:xfrm>
            <a:off x="658368" y="2578608"/>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688336"/>
            <a:ext cx="9960864" cy="832103"/>
          </a:xfrm>
          <a:prstGeom prst="rect">
            <a:avLst/>
          </a:prstGeom>
          <a:noFill/>
        </p:spPr>
        <p:txBody>
          <a:bodyPr wrap="square" lIns="0" rIns="0" tIns="0" bIns="0" anchor="ctr">
            <a:spAutoFit/>
          </a:bodyPr>
          <a:lstStyle/>
          <a:p>
            <a:pPr algn="l">
              <a:lnSpc>
                <a:spcPct val="118000"/>
              </a:lnSpc>
              <a:spcAft>
                <a:spcPts val="0"/>
              </a:spcAft>
            </a:pPr>
            <a:r>
              <a:rPr sz="2000" b="1" i="0">
                <a:solidFill>
                  <a:srgbClr val="FFFFFF"/>
                </a:solidFill>
                <a:latin typeface="Calibri"/>
              </a:rPr>
              <a:t>Kalau tidak ada angka sebelum otomasi, tidak ada yang bisa membuktikan otomasinya berhasil.</a:t>
            </a:r>
          </a:p>
        </p:txBody>
      </p:sp>
      <p:sp>
        <p:nvSpPr>
          <p:cNvPr id="8" name="TextBox 7"/>
          <p:cNvSpPr txBox="1"/>
          <p:nvPr/>
        </p:nvSpPr>
        <p:spPr>
          <a:xfrm>
            <a:off x="658368" y="3941064"/>
            <a:ext cx="9352727" cy="1280160"/>
          </a:xfrm>
          <a:prstGeom prst="rect">
            <a:avLst/>
          </a:prstGeom>
          <a:noFill/>
        </p:spPr>
        <p:txBody>
          <a:bodyPr wrap="square" lIns="0" rIns="0" tIns="0" bIns="0" anchor="t">
            <a:spAutoFit/>
          </a:bodyPr>
          <a:lstStyle/>
          <a:p>
            <a:pPr algn="l">
              <a:lnSpc>
                <a:spcPct val="135000"/>
              </a:lnSpc>
              <a:spcAft>
                <a:spcPts val="1200"/>
              </a:spcAft>
            </a:pPr>
            <a:r>
              <a:rPr sz="1500" b="0" i="0">
                <a:solidFill>
                  <a:srgbClr val="5A6672"/>
                </a:solidFill>
                <a:latin typeface="Calibri"/>
              </a:rPr>
              <a:t>Tim yang bilang “sekarang jauh lebih cepat” tanpa baseline biasanya membandingkan dengan ingatan.</a:t>
            </a:r>
          </a:p>
          <a:p>
            <a:pPr algn="l">
              <a:lnSpc>
                <a:spcPct val="135000"/>
              </a:lnSpc>
              <a:spcAft>
                <a:spcPts val="1200"/>
              </a:spcAft>
            </a:pPr>
            <a:r>
              <a:rPr sz="1500" b="0" i="0">
                <a:solidFill>
                  <a:srgbClr val="5A6672"/>
                </a:solidFill>
                <a:latin typeface="Calibri"/>
              </a:rPr>
              <a:t>Di Tugas 1, baseline KPI wajib. Boleh pakai asumsi, asal asumsinya ditulis.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7C86"/>
        </a:solidFill>
        <a:effectLst/>
      </p:bgPr>
    </p:bg>
    <p:spTree>
      <p:nvGrpSpPr>
        <p:cNvPr id="1" name=""/>
        <p:cNvGrpSpPr/>
        <p:nvPr/>
      </p:nvGrpSpPr>
      <p:grpSpPr/>
      <p:sp>
        <p:nvSpPr>
          <p:cNvPr id="2" name="Oval 1"/>
          <p:cNvSpPr/>
          <p:nvPr/>
        </p:nvSpPr>
        <p:spPr>
          <a:xfrm>
            <a:off x="9601200" y="-1097280"/>
            <a:ext cx="4023360" cy="40233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80" y="3840480"/>
            <a:ext cx="3291840" cy="329184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5486400" cy="320040"/>
          </a:xfrm>
          <a:prstGeom prst="rect">
            <a:avLst/>
          </a:prstGeom>
          <a:noFill/>
        </p:spPr>
        <p:txBody>
          <a:bodyPr wrap="square" lIns="0" rIns="0" tIns="0" bIns="0" anchor="t">
            <a:spAutoFit/>
          </a:bodyPr>
          <a:lstStyle/>
          <a:p>
            <a:pPr algn="l">
              <a:lnSpc>
                <a:spcPct val="100000"/>
              </a:lnSpc>
              <a:spcAft>
                <a:spcPts val="0"/>
              </a:spcAft>
            </a:pPr>
            <a:r>
              <a:rPr sz="1300" b="1" i="0">
                <a:solidFill>
                  <a:srgbClr val="AFE4E9"/>
                </a:solidFill>
                <a:latin typeface="Calibri"/>
              </a:rPr>
              <a:t>MODUL 3</a:t>
            </a:r>
          </a:p>
        </p:txBody>
      </p:sp>
      <p:sp>
        <p:nvSpPr>
          <p:cNvPr id="5" name="TextBox 4"/>
          <p:cNvSpPr txBox="1"/>
          <p:nvPr/>
        </p:nvSpPr>
        <p:spPr>
          <a:xfrm>
            <a:off x="658368" y="2670048"/>
            <a:ext cx="9326880" cy="914400"/>
          </a:xfrm>
          <a:prstGeom prst="rect">
            <a:avLst/>
          </a:prstGeom>
          <a:noFill/>
        </p:spPr>
        <p:txBody>
          <a:bodyPr wrap="square" lIns="0" rIns="0" tIns="0" bIns="0" anchor="t">
            <a:spAutoFit/>
          </a:bodyPr>
          <a:lstStyle/>
          <a:p>
            <a:pPr algn="l">
              <a:lnSpc>
                <a:spcPct val="105000"/>
              </a:lnSpc>
              <a:spcAft>
                <a:spcPts val="0"/>
              </a:spcAft>
            </a:pPr>
            <a:r>
              <a:rPr sz="3800" b="1" i="0">
                <a:solidFill>
                  <a:srgbClr val="FFFFFF"/>
                </a:solidFill>
                <a:latin typeface="Calibri"/>
              </a:rPr>
              <a:t>Apa yang Layak Diotomasi</a:t>
            </a:r>
          </a:p>
        </p:txBody>
      </p:sp>
      <p:sp>
        <p:nvSpPr>
          <p:cNvPr id="6" name="TextBox 5"/>
          <p:cNvSpPr txBox="1"/>
          <p:nvPr/>
        </p:nvSpPr>
        <p:spPr>
          <a:xfrm>
            <a:off x="658368" y="3703320"/>
            <a:ext cx="8778240" cy="548640"/>
          </a:xfrm>
          <a:prstGeom prst="rect">
            <a:avLst/>
          </a:prstGeom>
          <a:noFill/>
        </p:spPr>
        <p:txBody>
          <a:bodyPr wrap="square" lIns="0" rIns="0" tIns="0" bIns="0" anchor="t">
            <a:spAutoFit/>
          </a:bodyPr>
          <a:lstStyle/>
          <a:p>
            <a:pPr algn="l">
              <a:lnSpc>
                <a:spcPct val="120000"/>
              </a:lnSpc>
              <a:spcAft>
                <a:spcPts val="0"/>
              </a:spcAft>
            </a:pPr>
            <a:r>
              <a:rPr sz="1600" b="0" i="0">
                <a:solidFill>
                  <a:srgbClr val="AFE4E9"/>
                </a:solidFill>
                <a:latin typeface="Calibri"/>
              </a:rPr>
              <a:t>Dan kalau layak, pakai apa.</a:t>
            </a:r>
          </a:p>
        </p:txBody>
      </p:sp>
      <p:sp>
        <p:nvSpPr>
          <p:cNvPr id="7" name="TextBox 6"/>
          <p:cNvSpPr txBox="1"/>
          <p:nvPr/>
        </p:nvSpPr>
        <p:spPr>
          <a:xfrm>
            <a:off x="658368" y="5852160"/>
            <a:ext cx="7315200" cy="320040"/>
          </a:xfrm>
          <a:prstGeom prst="rect">
            <a:avLst/>
          </a:prstGeom>
          <a:noFill/>
        </p:spPr>
        <p:txBody>
          <a:bodyPr wrap="square" lIns="0" rIns="0" tIns="0" bIns="0" anchor="t">
            <a:spAutoFit/>
          </a:bodyPr>
          <a:lstStyle/>
          <a:p>
            <a:pPr algn="l">
              <a:lnSpc>
                <a:spcPct val="100000"/>
              </a:lnSpc>
              <a:spcAft>
                <a:spcPts val="0"/>
              </a:spcAft>
            </a:pPr>
            <a:r>
              <a:rPr sz="1200" b="0" i="0">
                <a:solidFill>
                  <a:srgbClr val="AFE4E9"/>
                </a:solidFill>
                <a:latin typeface="Calibri"/>
              </a:rPr>
              <a:t>sekitar 15 menit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KEPUTUSAN OTOMASI</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Empat hal yang dilihat sebelum memilih</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21</a:t>
            </a:r>
          </a:p>
        </p:txBody>
      </p:sp>
      <p:sp>
        <p:nvSpPr>
          <p:cNvPr id="6" name="TextBox 5"/>
          <p:cNvSpPr txBox="1"/>
          <p:nvPr/>
        </p:nvSpPr>
        <p:spPr>
          <a:xfrm>
            <a:off x="658368" y="1810512"/>
            <a:ext cx="2103120" cy="365760"/>
          </a:xfrm>
          <a:prstGeom prst="rect">
            <a:avLst/>
          </a:prstGeom>
          <a:noFill/>
        </p:spPr>
        <p:txBody>
          <a:bodyPr wrap="square" lIns="0" rIns="0" tIns="0" bIns="0" anchor="t">
            <a:spAutoFit/>
          </a:bodyPr>
          <a:lstStyle/>
          <a:p>
            <a:pPr algn="l">
              <a:lnSpc>
                <a:spcPct val="112000"/>
              </a:lnSpc>
              <a:spcAft>
                <a:spcPts val="0"/>
              </a:spcAft>
            </a:pPr>
            <a:r>
              <a:rPr sz="1500" b="1" i="0">
                <a:solidFill>
                  <a:srgbClr val="116B75"/>
                </a:solidFill>
                <a:latin typeface="Calibri"/>
              </a:rPr>
              <a:t>Volume</a:t>
            </a:r>
          </a:p>
        </p:txBody>
      </p:sp>
      <p:sp>
        <p:nvSpPr>
          <p:cNvPr id="7" name="Rectangle 6"/>
          <p:cNvSpPr/>
          <p:nvPr/>
        </p:nvSpPr>
        <p:spPr>
          <a:xfrm>
            <a:off x="2880360" y="1737360"/>
            <a:ext cx="813815" cy="384048"/>
          </a:xfrm>
          <a:prstGeom prst="rect">
            <a:avLst/>
          </a:prstGeom>
          <a:solidFill>
            <a:srgbClr val="DBEB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21608" y="1737360"/>
            <a:ext cx="813815" cy="384048"/>
          </a:xfrm>
          <a:prstGeom prst="rect">
            <a:avLst/>
          </a:prstGeom>
          <a:solidFill>
            <a:srgbClr val="ADD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62856" y="1737360"/>
            <a:ext cx="813815" cy="384048"/>
          </a:xfrm>
          <a:prstGeom prst="rect">
            <a:avLst/>
          </a:prstGeom>
          <a:solidFill>
            <a:srgbClr val="7FBA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04104" y="1737360"/>
            <a:ext cx="813815" cy="384048"/>
          </a:xfrm>
          <a:prstGeom prst="rect">
            <a:avLst/>
          </a:prstGeom>
          <a:solidFill>
            <a:srgbClr val="51A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737360"/>
            <a:ext cx="813815" cy="384048"/>
          </a:xfrm>
          <a:prstGeom prst="rect">
            <a:avLst/>
          </a:prstGeom>
          <a:solidFill>
            <a:srgbClr val="2488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80360" y="2157984"/>
            <a:ext cx="1371600" cy="274320"/>
          </a:xfrm>
          <a:prstGeom prst="rect">
            <a:avLst/>
          </a:prstGeom>
          <a:noFill/>
        </p:spPr>
        <p:txBody>
          <a:bodyPr wrap="square" lIns="0" rIns="0" tIns="0" bIns="0" anchor="t">
            <a:spAutoFit/>
          </a:bodyPr>
          <a:lstStyle/>
          <a:p>
            <a:pPr algn="l">
              <a:lnSpc>
                <a:spcPct val="112000"/>
              </a:lnSpc>
              <a:spcAft>
                <a:spcPts val="0"/>
              </a:spcAft>
            </a:pPr>
            <a:r>
              <a:rPr sz="950" b="0" i="0">
                <a:solidFill>
                  <a:srgbClr val="5A6672"/>
                </a:solidFill>
                <a:latin typeface="Calibri"/>
              </a:rPr>
              <a:t>sedikit</a:t>
            </a:r>
          </a:p>
        </p:txBody>
      </p:sp>
      <p:sp>
        <p:nvSpPr>
          <p:cNvPr id="13" name="TextBox 12"/>
          <p:cNvSpPr txBox="1"/>
          <p:nvPr/>
        </p:nvSpPr>
        <p:spPr>
          <a:xfrm>
            <a:off x="5715000" y="2157984"/>
            <a:ext cx="1371600" cy="274320"/>
          </a:xfrm>
          <a:prstGeom prst="rect">
            <a:avLst/>
          </a:prstGeom>
          <a:noFill/>
        </p:spPr>
        <p:txBody>
          <a:bodyPr wrap="square" lIns="0" rIns="0" tIns="0" bIns="0" anchor="t">
            <a:spAutoFit/>
          </a:bodyPr>
          <a:lstStyle/>
          <a:p>
            <a:pPr algn="r">
              <a:lnSpc>
                <a:spcPct val="112000"/>
              </a:lnSpc>
              <a:spcAft>
                <a:spcPts val="0"/>
              </a:spcAft>
            </a:pPr>
            <a:r>
              <a:rPr sz="950" b="0" i="0">
                <a:solidFill>
                  <a:srgbClr val="5A6672"/>
                </a:solidFill>
                <a:latin typeface="Calibri"/>
              </a:rPr>
              <a:t>banyak</a:t>
            </a:r>
          </a:p>
        </p:txBody>
      </p:sp>
      <p:sp>
        <p:nvSpPr>
          <p:cNvPr id="14" name="TextBox 13"/>
          <p:cNvSpPr txBox="1"/>
          <p:nvPr/>
        </p:nvSpPr>
        <p:spPr>
          <a:xfrm>
            <a:off x="7406640" y="1719072"/>
            <a:ext cx="4126992" cy="731520"/>
          </a:xfrm>
          <a:prstGeom prst="rect">
            <a:avLst/>
          </a:prstGeom>
          <a:noFill/>
        </p:spPr>
        <p:txBody>
          <a:bodyPr wrap="square" lIns="0" rIns="0" tIns="0" bIns="0" anchor="t">
            <a:spAutoFit/>
          </a:bodyPr>
          <a:lstStyle/>
          <a:p>
            <a:pPr algn="l">
              <a:lnSpc>
                <a:spcPct val="112000"/>
              </a:lnSpc>
              <a:spcAft>
                <a:spcPts val="0"/>
              </a:spcAft>
            </a:pPr>
            <a:r>
              <a:rPr sz="1200" b="0" i="0">
                <a:solidFill>
                  <a:srgbClr val="1B2733"/>
                </a:solidFill>
                <a:latin typeface="Calibri"/>
              </a:rPr>
              <a:t>Makin banyak, makin layak diotomasi. Ini sumbu yang menentukan perlu atau tidak.</a:t>
            </a:r>
          </a:p>
        </p:txBody>
      </p:sp>
      <p:sp>
        <p:nvSpPr>
          <p:cNvPr id="15" name="TextBox 14"/>
          <p:cNvSpPr txBox="1"/>
          <p:nvPr/>
        </p:nvSpPr>
        <p:spPr>
          <a:xfrm>
            <a:off x="658368" y="2743200"/>
            <a:ext cx="2103120" cy="365760"/>
          </a:xfrm>
          <a:prstGeom prst="rect">
            <a:avLst/>
          </a:prstGeom>
          <a:noFill/>
        </p:spPr>
        <p:txBody>
          <a:bodyPr wrap="square" lIns="0" rIns="0" tIns="0" bIns="0" anchor="t">
            <a:spAutoFit/>
          </a:bodyPr>
          <a:lstStyle/>
          <a:p>
            <a:pPr algn="l">
              <a:lnSpc>
                <a:spcPct val="112000"/>
              </a:lnSpc>
              <a:spcAft>
                <a:spcPts val="0"/>
              </a:spcAft>
            </a:pPr>
            <a:r>
              <a:rPr sz="1500" b="1" i="0">
                <a:solidFill>
                  <a:srgbClr val="116B75"/>
                </a:solidFill>
                <a:latin typeface="Calibri"/>
              </a:rPr>
              <a:t>Variasi masukan</a:t>
            </a:r>
          </a:p>
        </p:txBody>
      </p:sp>
      <p:sp>
        <p:nvSpPr>
          <p:cNvPr id="16" name="Rectangle 15"/>
          <p:cNvSpPr/>
          <p:nvPr/>
        </p:nvSpPr>
        <p:spPr>
          <a:xfrm>
            <a:off x="2880360" y="2670048"/>
            <a:ext cx="813815" cy="384048"/>
          </a:xfrm>
          <a:prstGeom prst="rect">
            <a:avLst/>
          </a:prstGeom>
          <a:solidFill>
            <a:srgbClr val="DBEB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721608" y="2670048"/>
            <a:ext cx="813815" cy="384048"/>
          </a:xfrm>
          <a:prstGeom prst="rect">
            <a:avLst/>
          </a:prstGeom>
          <a:solidFill>
            <a:srgbClr val="ADD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62856" y="2670048"/>
            <a:ext cx="813815" cy="384048"/>
          </a:xfrm>
          <a:prstGeom prst="rect">
            <a:avLst/>
          </a:prstGeom>
          <a:solidFill>
            <a:srgbClr val="7FBA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04104" y="2670048"/>
            <a:ext cx="813815" cy="384048"/>
          </a:xfrm>
          <a:prstGeom prst="rect">
            <a:avLst/>
          </a:prstGeom>
          <a:solidFill>
            <a:srgbClr val="51A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5352" y="2670048"/>
            <a:ext cx="813815" cy="384048"/>
          </a:xfrm>
          <a:prstGeom prst="rect">
            <a:avLst/>
          </a:prstGeom>
          <a:solidFill>
            <a:srgbClr val="2488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80360" y="3090672"/>
            <a:ext cx="1371600" cy="274320"/>
          </a:xfrm>
          <a:prstGeom prst="rect">
            <a:avLst/>
          </a:prstGeom>
          <a:noFill/>
        </p:spPr>
        <p:txBody>
          <a:bodyPr wrap="square" lIns="0" rIns="0" tIns="0" bIns="0" anchor="t">
            <a:spAutoFit/>
          </a:bodyPr>
          <a:lstStyle/>
          <a:p>
            <a:pPr algn="l">
              <a:lnSpc>
                <a:spcPct val="112000"/>
              </a:lnSpc>
              <a:spcAft>
                <a:spcPts val="0"/>
              </a:spcAft>
            </a:pPr>
            <a:r>
              <a:rPr sz="950" b="0" i="0">
                <a:solidFill>
                  <a:srgbClr val="5A6672"/>
                </a:solidFill>
                <a:latin typeface="Calibri"/>
              </a:rPr>
              <a:t>seragam</a:t>
            </a:r>
          </a:p>
        </p:txBody>
      </p:sp>
      <p:sp>
        <p:nvSpPr>
          <p:cNvPr id="22" name="TextBox 21"/>
          <p:cNvSpPr txBox="1"/>
          <p:nvPr/>
        </p:nvSpPr>
        <p:spPr>
          <a:xfrm>
            <a:off x="5715000" y="3090672"/>
            <a:ext cx="1371600" cy="274320"/>
          </a:xfrm>
          <a:prstGeom prst="rect">
            <a:avLst/>
          </a:prstGeom>
          <a:noFill/>
        </p:spPr>
        <p:txBody>
          <a:bodyPr wrap="square" lIns="0" rIns="0" tIns="0" bIns="0" anchor="t">
            <a:spAutoFit/>
          </a:bodyPr>
          <a:lstStyle/>
          <a:p>
            <a:pPr algn="r">
              <a:lnSpc>
                <a:spcPct val="112000"/>
              </a:lnSpc>
              <a:spcAft>
                <a:spcPts val="0"/>
              </a:spcAft>
            </a:pPr>
            <a:r>
              <a:rPr sz="950" b="0" i="0">
                <a:solidFill>
                  <a:srgbClr val="5A6672"/>
                </a:solidFill>
                <a:latin typeface="Calibri"/>
              </a:rPr>
              <a:t>beragam</a:t>
            </a:r>
          </a:p>
        </p:txBody>
      </p:sp>
      <p:sp>
        <p:nvSpPr>
          <p:cNvPr id="23" name="TextBox 22"/>
          <p:cNvSpPr txBox="1"/>
          <p:nvPr/>
        </p:nvSpPr>
        <p:spPr>
          <a:xfrm>
            <a:off x="7406640" y="2651760"/>
            <a:ext cx="4126992" cy="731520"/>
          </a:xfrm>
          <a:prstGeom prst="rect">
            <a:avLst/>
          </a:prstGeom>
          <a:noFill/>
        </p:spPr>
        <p:txBody>
          <a:bodyPr wrap="square" lIns="0" rIns="0" tIns="0" bIns="0" anchor="t">
            <a:spAutoFit/>
          </a:bodyPr>
          <a:lstStyle/>
          <a:p>
            <a:pPr algn="l">
              <a:lnSpc>
                <a:spcPct val="112000"/>
              </a:lnSpc>
              <a:spcAft>
                <a:spcPts val="0"/>
              </a:spcAft>
            </a:pPr>
            <a:r>
              <a:rPr sz="1200" b="0" i="0">
                <a:solidFill>
                  <a:srgbClr val="1B2733"/>
                </a:solidFill>
                <a:latin typeface="Calibri"/>
              </a:rPr>
              <a:t>Makin beragam, makin perlu ML atau agen. Aturan biasa cepat kewalahan.</a:t>
            </a:r>
          </a:p>
        </p:txBody>
      </p:sp>
      <p:sp>
        <p:nvSpPr>
          <p:cNvPr id="24" name="TextBox 23"/>
          <p:cNvSpPr txBox="1"/>
          <p:nvPr/>
        </p:nvSpPr>
        <p:spPr>
          <a:xfrm>
            <a:off x="658368" y="3675887"/>
            <a:ext cx="2103120" cy="365760"/>
          </a:xfrm>
          <a:prstGeom prst="rect">
            <a:avLst/>
          </a:prstGeom>
          <a:noFill/>
        </p:spPr>
        <p:txBody>
          <a:bodyPr wrap="square" lIns="0" rIns="0" tIns="0" bIns="0" anchor="t">
            <a:spAutoFit/>
          </a:bodyPr>
          <a:lstStyle/>
          <a:p>
            <a:pPr algn="l">
              <a:lnSpc>
                <a:spcPct val="112000"/>
              </a:lnSpc>
              <a:spcAft>
                <a:spcPts val="0"/>
              </a:spcAft>
            </a:pPr>
            <a:r>
              <a:rPr sz="1500" b="1" i="0">
                <a:solidFill>
                  <a:srgbClr val="116B75"/>
                </a:solidFill>
                <a:latin typeface="Calibri"/>
              </a:rPr>
              <a:t>Kadar judgment</a:t>
            </a:r>
          </a:p>
        </p:txBody>
      </p:sp>
      <p:sp>
        <p:nvSpPr>
          <p:cNvPr id="25" name="Rectangle 24"/>
          <p:cNvSpPr/>
          <p:nvPr/>
        </p:nvSpPr>
        <p:spPr>
          <a:xfrm>
            <a:off x="2880360" y="3602736"/>
            <a:ext cx="813815" cy="384048"/>
          </a:xfrm>
          <a:prstGeom prst="rect">
            <a:avLst/>
          </a:prstGeom>
          <a:solidFill>
            <a:srgbClr val="DBEB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721608" y="3602736"/>
            <a:ext cx="813815" cy="384048"/>
          </a:xfrm>
          <a:prstGeom prst="rect">
            <a:avLst/>
          </a:prstGeom>
          <a:solidFill>
            <a:srgbClr val="ADD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62856" y="3602736"/>
            <a:ext cx="813815" cy="384048"/>
          </a:xfrm>
          <a:prstGeom prst="rect">
            <a:avLst/>
          </a:prstGeom>
          <a:solidFill>
            <a:srgbClr val="7FBA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04104" y="3602736"/>
            <a:ext cx="813815" cy="384048"/>
          </a:xfrm>
          <a:prstGeom prst="rect">
            <a:avLst/>
          </a:prstGeom>
          <a:solidFill>
            <a:srgbClr val="51A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45352" y="3602736"/>
            <a:ext cx="813815" cy="384048"/>
          </a:xfrm>
          <a:prstGeom prst="rect">
            <a:avLst/>
          </a:prstGeom>
          <a:solidFill>
            <a:srgbClr val="2488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0360" y="4023360"/>
            <a:ext cx="1371600" cy="274320"/>
          </a:xfrm>
          <a:prstGeom prst="rect">
            <a:avLst/>
          </a:prstGeom>
          <a:noFill/>
        </p:spPr>
        <p:txBody>
          <a:bodyPr wrap="square" lIns="0" rIns="0" tIns="0" bIns="0" anchor="t">
            <a:spAutoFit/>
          </a:bodyPr>
          <a:lstStyle/>
          <a:p>
            <a:pPr algn="l">
              <a:lnSpc>
                <a:spcPct val="112000"/>
              </a:lnSpc>
              <a:spcAft>
                <a:spcPts val="0"/>
              </a:spcAft>
            </a:pPr>
            <a:r>
              <a:rPr sz="950" b="0" i="0">
                <a:solidFill>
                  <a:srgbClr val="5A6672"/>
                </a:solidFill>
                <a:latin typeface="Calibri"/>
              </a:rPr>
              <a:t>rendah</a:t>
            </a:r>
          </a:p>
        </p:txBody>
      </p:sp>
      <p:sp>
        <p:nvSpPr>
          <p:cNvPr id="31" name="TextBox 30"/>
          <p:cNvSpPr txBox="1"/>
          <p:nvPr/>
        </p:nvSpPr>
        <p:spPr>
          <a:xfrm>
            <a:off x="5715000" y="4023360"/>
            <a:ext cx="1371600" cy="274320"/>
          </a:xfrm>
          <a:prstGeom prst="rect">
            <a:avLst/>
          </a:prstGeom>
          <a:noFill/>
        </p:spPr>
        <p:txBody>
          <a:bodyPr wrap="square" lIns="0" rIns="0" tIns="0" bIns="0" anchor="t">
            <a:spAutoFit/>
          </a:bodyPr>
          <a:lstStyle/>
          <a:p>
            <a:pPr algn="r">
              <a:lnSpc>
                <a:spcPct val="112000"/>
              </a:lnSpc>
              <a:spcAft>
                <a:spcPts val="0"/>
              </a:spcAft>
            </a:pPr>
            <a:r>
              <a:rPr sz="950" b="0" i="0">
                <a:solidFill>
                  <a:srgbClr val="5A6672"/>
                </a:solidFill>
                <a:latin typeface="Calibri"/>
              </a:rPr>
              <a:t>tinggi</a:t>
            </a:r>
          </a:p>
        </p:txBody>
      </p:sp>
      <p:sp>
        <p:nvSpPr>
          <p:cNvPr id="32" name="TextBox 31"/>
          <p:cNvSpPr txBox="1"/>
          <p:nvPr/>
        </p:nvSpPr>
        <p:spPr>
          <a:xfrm>
            <a:off x="7406640" y="3584448"/>
            <a:ext cx="4126992" cy="731520"/>
          </a:xfrm>
          <a:prstGeom prst="rect">
            <a:avLst/>
          </a:prstGeom>
          <a:noFill/>
        </p:spPr>
        <p:txBody>
          <a:bodyPr wrap="square" lIns="0" rIns="0" tIns="0" bIns="0" anchor="t">
            <a:spAutoFit/>
          </a:bodyPr>
          <a:lstStyle/>
          <a:p>
            <a:pPr algn="l">
              <a:lnSpc>
                <a:spcPct val="112000"/>
              </a:lnSpc>
              <a:spcAft>
                <a:spcPts val="0"/>
              </a:spcAft>
            </a:pPr>
            <a:r>
              <a:rPr sz="1200" b="0" i="0">
                <a:solidFill>
                  <a:srgbClr val="1B2733"/>
                </a:solidFill>
                <a:latin typeface="Calibri"/>
              </a:rPr>
              <a:t>Makin tinggi, makin perlu manusia di titik keputusan.</a:t>
            </a:r>
          </a:p>
        </p:txBody>
      </p:sp>
      <p:sp>
        <p:nvSpPr>
          <p:cNvPr id="33" name="TextBox 32"/>
          <p:cNvSpPr txBox="1"/>
          <p:nvPr/>
        </p:nvSpPr>
        <p:spPr>
          <a:xfrm>
            <a:off x="658368" y="4608576"/>
            <a:ext cx="2103120" cy="365760"/>
          </a:xfrm>
          <a:prstGeom prst="rect">
            <a:avLst/>
          </a:prstGeom>
          <a:noFill/>
        </p:spPr>
        <p:txBody>
          <a:bodyPr wrap="square" lIns="0" rIns="0" tIns="0" bIns="0" anchor="t">
            <a:spAutoFit/>
          </a:bodyPr>
          <a:lstStyle/>
          <a:p>
            <a:pPr algn="l">
              <a:lnSpc>
                <a:spcPct val="112000"/>
              </a:lnSpc>
              <a:spcAft>
                <a:spcPts val="0"/>
              </a:spcAft>
            </a:pPr>
            <a:r>
              <a:rPr sz="1500" b="1" i="0">
                <a:solidFill>
                  <a:srgbClr val="116B75"/>
                </a:solidFill>
                <a:latin typeface="Calibri"/>
              </a:rPr>
              <a:t>Tingkat risiko</a:t>
            </a:r>
          </a:p>
        </p:txBody>
      </p:sp>
      <p:sp>
        <p:nvSpPr>
          <p:cNvPr id="34" name="Rectangle 33"/>
          <p:cNvSpPr/>
          <p:nvPr/>
        </p:nvSpPr>
        <p:spPr>
          <a:xfrm>
            <a:off x="2880360" y="4535424"/>
            <a:ext cx="813815" cy="384048"/>
          </a:xfrm>
          <a:prstGeom prst="rect">
            <a:avLst/>
          </a:prstGeom>
          <a:solidFill>
            <a:srgbClr val="DBEB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21608" y="4535424"/>
            <a:ext cx="813815" cy="384048"/>
          </a:xfrm>
          <a:prstGeom prst="rect">
            <a:avLst/>
          </a:prstGeom>
          <a:solidFill>
            <a:srgbClr val="ADD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62856" y="4535424"/>
            <a:ext cx="813815" cy="384048"/>
          </a:xfrm>
          <a:prstGeom prst="rect">
            <a:avLst/>
          </a:prstGeom>
          <a:solidFill>
            <a:srgbClr val="7FBA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04104" y="4535424"/>
            <a:ext cx="813815" cy="384048"/>
          </a:xfrm>
          <a:prstGeom prst="rect">
            <a:avLst/>
          </a:prstGeom>
          <a:solidFill>
            <a:srgbClr val="51A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45352" y="4535424"/>
            <a:ext cx="813815" cy="384048"/>
          </a:xfrm>
          <a:prstGeom prst="rect">
            <a:avLst/>
          </a:prstGeom>
          <a:solidFill>
            <a:srgbClr val="2488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80360" y="4956048"/>
            <a:ext cx="1371600" cy="274320"/>
          </a:xfrm>
          <a:prstGeom prst="rect">
            <a:avLst/>
          </a:prstGeom>
          <a:noFill/>
        </p:spPr>
        <p:txBody>
          <a:bodyPr wrap="square" lIns="0" rIns="0" tIns="0" bIns="0" anchor="t">
            <a:spAutoFit/>
          </a:bodyPr>
          <a:lstStyle/>
          <a:p>
            <a:pPr algn="l">
              <a:lnSpc>
                <a:spcPct val="112000"/>
              </a:lnSpc>
              <a:spcAft>
                <a:spcPts val="0"/>
              </a:spcAft>
            </a:pPr>
            <a:r>
              <a:rPr sz="950" b="0" i="0">
                <a:solidFill>
                  <a:srgbClr val="5A6672"/>
                </a:solidFill>
                <a:latin typeface="Calibri"/>
              </a:rPr>
              <a:t>kecil</a:t>
            </a:r>
          </a:p>
        </p:txBody>
      </p:sp>
      <p:sp>
        <p:nvSpPr>
          <p:cNvPr id="40" name="TextBox 39"/>
          <p:cNvSpPr txBox="1"/>
          <p:nvPr/>
        </p:nvSpPr>
        <p:spPr>
          <a:xfrm>
            <a:off x="5715000" y="4956048"/>
            <a:ext cx="1371600" cy="274320"/>
          </a:xfrm>
          <a:prstGeom prst="rect">
            <a:avLst/>
          </a:prstGeom>
          <a:noFill/>
        </p:spPr>
        <p:txBody>
          <a:bodyPr wrap="square" lIns="0" rIns="0" tIns="0" bIns="0" anchor="t">
            <a:spAutoFit/>
          </a:bodyPr>
          <a:lstStyle/>
          <a:p>
            <a:pPr algn="r">
              <a:lnSpc>
                <a:spcPct val="112000"/>
              </a:lnSpc>
              <a:spcAft>
                <a:spcPts val="0"/>
              </a:spcAft>
            </a:pPr>
            <a:r>
              <a:rPr sz="950" b="0" i="0">
                <a:solidFill>
                  <a:srgbClr val="5A6672"/>
                </a:solidFill>
                <a:latin typeface="Calibri"/>
              </a:rPr>
              <a:t>besar</a:t>
            </a:r>
          </a:p>
        </p:txBody>
      </p:sp>
      <p:sp>
        <p:nvSpPr>
          <p:cNvPr id="41" name="TextBox 40"/>
          <p:cNvSpPr txBox="1"/>
          <p:nvPr/>
        </p:nvSpPr>
        <p:spPr>
          <a:xfrm>
            <a:off x="7406640" y="4517136"/>
            <a:ext cx="4126992" cy="731520"/>
          </a:xfrm>
          <a:prstGeom prst="rect">
            <a:avLst/>
          </a:prstGeom>
          <a:noFill/>
        </p:spPr>
        <p:txBody>
          <a:bodyPr wrap="square" lIns="0" rIns="0" tIns="0" bIns="0" anchor="t">
            <a:spAutoFit/>
          </a:bodyPr>
          <a:lstStyle/>
          <a:p>
            <a:pPr algn="l">
              <a:lnSpc>
                <a:spcPct val="112000"/>
              </a:lnSpc>
              <a:spcAft>
                <a:spcPts val="0"/>
              </a:spcAft>
            </a:pPr>
            <a:r>
              <a:rPr sz="1200" b="0" i="0">
                <a:solidFill>
                  <a:srgbClr val="1B2733"/>
                </a:solidFill>
                <a:latin typeface="Calibri"/>
              </a:rPr>
              <a:t>Makin besar, makin perlu kontrol dan persetujuan manusia.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KEPUTUSAN OTOMASI</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Lima pilihan, masing-masing ada risikonya</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22</a:t>
            </a:r>
          </a:p>
        </p:txBody>
      </p:sp>
      <p:graphicFrame>
        <p:nvGraphicFramePr>
          <p:cNvPr id="6" name="Table 5"/>
          <p:cNvGraphicFramePr>
            <a:graphicFrameLocks noGrp="1"/>
          </p:cNvGraphicFramePr>
          <p:nvPr/>
        </p:nvGraphicFramePr>
        <p:xfrm>
          <a:off x="658368" y="1860804"/>
          <a:ext cx="10875263" cy="3767323"/>
        </p:xfrm>
        <a:graphic>
          <a:graphicData uri="http://schemas.openxmlformats.org/drawingml/2006/table">
            <a:tbl>
              <a:tblPr>
                <a:tableStyleId>{5C22544A-7EE6-4342-B048-85BDC9FD1C3A}</a:tableStyleId>
              </a:tblPr>
              <a:tblGrid>
                <a:gridCol w="2233313"/>
                <a:gridCol w="2913017"/>
                <a:gridCol w="3107218"/>
                <a:gridCol w="2621715"/>
              </a:tblGrid>
              <a:tr h="475488">
                <a:tc>
                  <a:txBody>
                    <a:bodyPr wrap="square"/>
                    <a:lstStyle/>
                    <a:p>
                      <a:pPr algn="l">
                        <a:lnSpc>
                          <a:spcPct val="118000"/>
                        </a:lnSpc>
                      </a:pPr>
                      <a:r>
                        <a:rPr sz="1350" b="1">
                          <a:solidFill>
                            <a:srgbClr val="FFFFFF"/>
                          </a:solidFill>
                          <a:latin typeface="Calibri"/>
                        </a:rPr>
                        <a:t>Mekanisme</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Cocok untuk</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Contoh di klaim</a:t>
                      </a: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a:rPr>
                        <a:t>Hati-hati</a:t>
                      </a:r>
                    </a:p>
                  </a:txBody>
                  <a:tcPr marL="128016" marR="128016" marT="64008" marB="64008" anchor="ctr">
                    <a:solidFill>
                      <a:srgbClr val="0E7C86"/>
                    </a:solidFill>
                  </a:tcPr>
                </a:tc>
              </a:tr>
              <a:tr h="658367">
                <a:tc>
                  <a:txBody>
                    <a:bodyPr wrap="square"/>
                    <a:lstStyle/>
                    <a:p>
                      <a:pPr algn="l">
                        <a:lnSpc>
                          <a:spcPct val="118000"/>
                        </a:lnSpc>
                      </a:pPr>
                      <a:r>
                        <a:rPr sz="1250" b="1">
                          <a:solidFill>
                            <a:srgbClr val="1B2733"/>
                          </a:solidFill>
                          <a:latin typeface="Calibri"/>
                        </a:rPr>
                        <a:t>Aturan deterministik</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Volume tinggi, aturan jelas</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Cek polis aktif, tabel DMN akseptasi</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Aturannya harus benar-benar jelas dulu</a:t>
                      </a:r>
                    </a:p>
                  </a:txBody>
                  <a:tcPr marL="128016" marR="128016" marT="64008" marB="64008" anchor="ctr">
                    <a:solidFill>
                      <a:srgbClr val="FFFFFF"/>
                    </a:solidFill>
                  </a:tcPr>
                </a:tc>
              </a:tr>
              <a:tr h="658367">
                <a:tc>
                  <a:txBody>
                    <a:bodyPr wrap="square"/>
                    <a:lstStyle/>
                    <a:p>
                      <a:pPr algn="l">
                        <a:lnSpc>
                          <a:spcPct val="118000"/>
                        </a:lnSpc>
                      </a:pPr>
                      <a:r>
                        <a:rPr sz="1250" b="1">
                          <a:solidFill>
                            <a:srgbClr val="1B2733"/>
                          </a:solidFill>
                          <a:latin typeface="Calibri"/>
                        </a:rPr>
                        <a:t>RPA</a:t>
                      </a:r>
                    </a:p>
                  </a:txBody>
                  <a:tcPr marL="128016" marR="128016" marT="64008" marB="64008" anchor="ctr">
                    <a:solidFill>
                      <a:srgbClr val="F4F9FA"/>
                    </a:solidFill>
                  </a:tcPr>
                </a:tc>
                <a:tc>
                  <a:txBody>
                    <a:bodyPr wrap="square"/>
                    <a:lstStyle/>
                    <a:p>
                      <a:pPr algn="l">
                        <a:lnSpc>
                          <a:spcPct val="118000"/>
                        </a:lnSpc>
                      </a:pPr>
                      <a:r>
                        <a:rPr sz="1250" b="0">
                          <a:solidFill>
                            <a:srgbClr val="1B2733"/>
                          </a:solidFill>
                          <a:latin typeface="Calibri"/>
                        </a:rPr>
                        <a:t>Sistem lama tanpa API, langkah klik yang tetap</a:t>
                      </a:r>
                    </a:p>
                  </a:txBody>
                  <a:tcPr marL="128016" marR="128016" marT="64008" marB="64008" anchor="ctr">
                    <a:solidFill>
                      <a:srgbClr val="F4F9FA"/>
                    </a:solidFill>
                  </a:tcPr>
                </a:tc>
                <a:tc>
                  <a:txBody>
                    <a:bodyPr wrap="square"/>
                    <a:lstStyle/>
                    <a:p>
                      <a:pPr algn="l">
                        <a:lnSpc>
                          <a:spcPct val="118000"/>
                        </a:lnSpc>
                      </a:pPr>
                      <a:r>
                        <a:rPr sz="1250" b="0">
                          <a:solidFill>
                            <a:srgbClr val="1B2733"/>
                          </a:solidFill>
                          <a:latin typeface="Calibri"/>
                        </a:rPr>
                        <a:t>Menyalin data tagihan dari email ke sistem</a:t>
                      </a:r>
                    </a:p>
                  </a:txBody>
                  <a:tcPr marL="128016" marR="128016" marT="64008" marB="64008" anchor="ctr">
                    <a:solidFill>
                      <a:srgbClr val="F4F9FA"/>
                    </a:solidFill>
                  </a:tcPr>
                </a:tc>
                <a:tc>
                  <a:txBody>
                    <a:bodyPr wrap="square"/>
                    <a:lstStyle/>
                    <a:p>
                      <a:pPr algn="l">
                        <a:lnSpc>
                          <a:spcPct val="118000"/>
                        </a:lnSpc>
                      </a:pPr>
                      <a:r>
                        <a:rPr sz="1250" b="0">
                          <a:solidFill>
                            <a:srgbClr val="1B2733"/>
                          </a:solidFill>
                          <a:latin typeface="Calibri"/>
                        </a:rPr>
                        <a:t>Patah begitu tampilan berubah</a:t>
                      </a:r>
                    </a:p>
                  </a:txBody>
                  <a:tcPr marL="128016" marR="128016" marT="64008" marB="64008" anchor="ctr">
                    <a:solidFill>
                      <a:srgbClr val="F4F9FA"/>
                    </a:solidFill>
                  </a:tcPr>
                </a:tc>
              </a:tr>
              <a:tr h="658367">
                <a:tc>
                  <a:txBody>
                    <a:bodyPr wrap="square"/>
                    <a:lstStyle/>
                    <a:p>
                      <a:pPr algn="l">
                        <a:lnSpc>
                          <a:spcPct val="118000"/>
                        </a:lnSpc>
                      </a:pPr>
                      <a:r>
                        <a:rPr sz="1250" b="1">
                          <a:solidFill>
                            <a:srgbClr val="1B2733"/>
                          </a:solidFill>
                          <a:latin typeface="Calibri"/>
                        </a:rPr>
                        <a:t>ML sempit</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Masukan beragam, satu tugas sempit</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Mengenali jenis dokumen, estimasi dari foto</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Hasilnya peluang, bukan kepastian</a:t>
                      </a:r>
                    </a:p>
                  </a:txBody>
                  <a:tcPr marL="128016" marR="128016" marT="64008" marB="64008" anchor="ctr">
                    <a:solidFill>
                      <a:srgbClr val="FFFFFF"/>
                    </a:solidFill>
                  </a:tcPr>
                </a:tc>
              </a:tr>
              <a:tr h="658367">
                <a:tc>
                  <a:txBody>
                    <a:bodyPr wrap="square"/>
                    <a:lstStyle/>
                    <a:p>
                      <a:pPr algn="l">
                        <a:lnSpc>
                          <a:spcPct val="118000"/>
                        </a:lnSpc>
                      </a:pPr>
                      <a:r>
                        <a:rPr sz="1250" b="1">
                          <a:solidFill>
                            <a:srgbClr val="1B2733"/>
                          </a:solidFill>
                          <a:latin typeface="Calibri"/>
                        </a:rPr>
                        <a:t>AI agent</a:t>
                      </a:r>
                    </a:p>
                  </a:txBody>
                  <a:tcPr marL="128016" marR="128016" marT="64008" marB="64008" anchor="ctr">
                    <a:solidFill>
                      <a:srgbClr val="F4F9FA"/>
                    </a:solidFill>
                  </a:tcPr>
                </a:tc>
                <a:tc>
                  <a:txBody>
                    <a:bodyPr wrap="square"/>
                    <a:lstStyle/>
                    <a:p>
                      <a:pPr algn="l">
                        <a:lnSpc>
                          <a:spcPct val="118000"/>
                        </a:lnSpc>
                      </a:pPr>
                      <a:r>
                        <a:rPr sz="1250" b="0">
                          <a:solidFill>
                            <a:srgbClr val="1B2733"/>
                          </a:solidFill>
                          <a:latin typeface="Calibri"/>
                        </a:rPr>
                        <a:t>Menafsir dan menyusun, langkahnya berubah-ubah</a:t>
                      </a:r>
                    </a:p>
                  </a:txBody>
                  <a:tcPr marL="128016" marR="128016" marT="64008" marB="64008" anchor="ctr">
                    <a:solidFill>
                      <a:srgbClr val="F4F9FA"/>
                    </a:solidFill>
                  </a:tcPr>
                </a:tc>
                <a:tc>
                  <a:txBody>
                    <a:bodyPr wrap="square"/>
                    <a:lstStyle/>
                    <a:p>
                      <a:pPr algn="l">
                        <a:lnSpc>
                          <a:spcPct val="118000"/>
                        </a:lnSpc>
                      </a:pPr>
                      <a:r>
                        <a:rPr sz="1250" b="0">
                          <a:solidFill>
                            <a:srgbClr val="1B2733"/>
                          </a:solidFill>
                          <a:latin typeface="Calibri"/>
                        </a:rPr>
                        <a:t>Mencocokkan tagihan dengan estimasi</a:t>
                      </a:r>
                    </a:p>
                  </a:txBody>
                  <a:tcPr marL="128016" marR="128016" marT="64008" marB="64008" anchor="ctr">
                    <a:solidFill>
                      <a:srgbClr val="F4F9FA"/>
                    </a:solidFill>
                  </a:tcPr>
                </a:tc>
                <a:tc>
                  <a:txBody>
                    <a:bodyPr wrap="square"/>
                    <a:lstStyle/>
                    <a:p>
                      <a:pPr algn="l">
                        <a:lnSpc>
                          <a:spcPct val="118000"/>
                        </a:lnSpc>
                      </a:pPr>
                      <a:r>
                        <a:rPr sz="1250" b="0">
                          <a:solidFill>
                            <a:srgbClr val="1B2733"/>
                          </a:solidFill>
                          <a:latin typeface="Calibri"/>
                        </a:rPr>
                        <a:t>Tidak deterministik, wajib ada cara mengecek hasilnya</a:t>
                      </a:r>
                    </a:p>
                  </a:txBody>
                  <a:tcPr marL="128016" marR="128016" marT="64008" marB="64008" anchor="ctr">
                    <a:solidFill>
                      <a:srgbClr val="F4F9FA"/>
                    </a:solidFill>
                  </a:tcPr>
                </a:tc>
              </a:tr>
              <a:tr h="658367">
                <a:tc>
                  <a:txBody>
                    <a:bodyPr wrap="square"/>
                    <a:lstStyle/>
                    <a:p>
                      <a:pPr algn="l">
                        <a:lnSpc>
                          <a:spcPct val="118000"/>
                        </a:lnSpc>
                      </a:pPr>
                      <a:r>
                        <a:rPr sz="1250" b="1">
                          <a:solidFill>
                            <a:srgbClr val="1B2733"/>
                          </a:solidFill>
                          <a:latin typeface="Calibri"/>
                        </a:rPr>
                        <a:t>Tetap manusia</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Judgment tinggi, risiko besar</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Memutuskan klaim abu-abu</a:t>
                      </a:r>
                    </a:p>
                  </a:txBody>
                  <a:tcPr marL="128016" marR="128016" marT="64008" marB="64008" anchor="ctr">
                    <a:solidFill>
                      <a:srgbClr val="FFFFFF"/>
                    </a:solidFill>
                  </a:tcPr>
                </a:tc>
                <a:tc>
                  <a:txBody>
                    <a:bodyPr wrap="square"/>
                    <a:lstStyle/>
                    <a:p>
                      <a:pPr algn="l">
                        <a:lnSpc>
                          <a:spcPct val="118000"/>
                        </a:lnSpc>
                      </a:pPr>
                      <a:r>
                        <a:rPr sz="1250" b="0">
                          <a:solidFill>
                            <a:srgbClr val="1B2733"/>
                          </a:solidFill>
                          <a:latin typeface="Calibri"/>
                        </a:rPr>
                        <a:t>Ini juga keputusan desain, bukan kegagalan</a:t>
                      </a:r>
                    </a:p>
                  </a:txBody>
                  <a:tcPr marL="128016" marR="128016" marT="64008" marB="64008"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KEPUTUSAN OTOMASI</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Jangan mengotomasi langkah yang seharusnya dihapus</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23</a:t>
            </a:r>
          </a:p>
        </p:txBody>
      </p:sp>
      <p:sp>
        <p:nvSpPr>
          <p:cNvPr id="6" name="Rectangle 5"/>
          <p:cNvSpPr/>
          <p:nvPr/>
        </p:nvSpPr>
        <p:spPr>
          <a:xfrm>
            <a:off x="658368" y="2788920"/>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898648"/>
            <a:ext cx="9960864" cy="832103"/>
          </a:xfrm>
          <a:prstGeom prst="rect">
            <a:avLst/>
          </a:prstGeom>
          <a:noFill/>
        </p:spPr>
        <p:txBody>
          <a:bodyPr wrap="square" lIns="0" rIns="0" tIns="0" bIns="0" anchor="ctr">
            <a:spAutoFit/>
          </a:bodyPr>
          <a:lstStyle/>
          <a:p>
            <a:pPr algn="l">
              <a:lnSpc>
                <a:spcPct val="118000"/>
              </a:lnSpc>
              <a:spcAft>
                <a:spcPts val="0"/>
              </a:spcAft>
            </a:pPr>
            <a:r>
              <a:rPr sz="2000" b="1" i="0">
                <a:solidFill>
                  <a:srgbClr val="FFFFFF"/>
                </a:solidFill>
                <a:latin typeface="Calibri"/>
              </a:rPr>
              <a:t>Kalau tagihan bolak-balik tiga kali, mengotomasi pemeriksaannya cuma membuat bolak-baliknya lebih cepat.</a:t>
            </a:r>
          </a:p>
        </p:txBody>
      </p:sp>
      <p:sp>
        <p:nvSpPr>
          <p:cNvPr id="8" name="TextBox 7"/>
          <p:cNvSpPr txBox="1"/>
          <p:nvPr/>
        </p:nvSpPr>
        <p:spPr>
          <a:xfrm>
            <a:off x="658368" y="4151376"/>
            <a:ext cx="9352727" cy="859536"/>
          </a:xfrm>
          <a:prstGeom prst="rect">
            <a:avLst/>
          </a:prstGeom>
          <a:noFill/>
        </p:spPr>
        <p:txBody>
          <a:bodyPr wrap="square" lIns="0" rIns="0" tIns="0" bIns="0" anchor="t">
            <a:spAutoFit/>
          </a:bodyPr>
          <a:lstStyle/>
          <a:p>
            <a:pPr algn="l">
              <a:lnSpc>
                <a:spcPct val="135000"/>
              </a:lnSpc>
              <a:spcAft>
                <a:spcPts val="1200"/>
              </a:spcAft>
            </a:pPr>
            <a:r>
              <a:rPr sz="1500" b="0" i="0">
                <a:solidFill>
                  <a:srgbClr val="5A6672"/>
                </a:solidFill>
                <a:latin typeface="Calibri"/>
              </a:rPr>
              <a:t>Urutannya: hapus atau kurangi langkah NVA, sederhanakan yang tersisa, baru pilih mekanismenya. Merancang hasil akhirnya kita kerjakan di Pertemuan 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7C86"/>
        </a:solidFill>
        <a:effectLst/>
      </p:bgPr>
    </p:bg>
    <p:spTree>
      <p:nvGrpSpPr>
        <p:cNvPr id="1" name=""/>
        <p:cNvGrpSpPr/>
        <p:nvPr/>
      </p:nvGrpSpPr>
      <p:grpSpPr/>
      <p:sp>
        <p:nvSpPr>
          <p:cNvPr id="2" name="Oval 1"/>
          <p:cNvSpPr/>
          <p:nvPr/>
        </p:nvSpPr>
        <p:spPr>
          <a:xfrm>
            <a:off x="9601200" y="-1097280"/>
            <a:ext cx="4023360" cy="40233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80" y="3840480"/>
            <a:ext cx="3291840" cy="329184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5486400" cy="320040"/>
          </a:xfrm>
          <a:prstGeom prst="rect">
            <a:avLst/>
          </a:prstGeom>
          <a:noFill/>
        </p:spPr>
        <p:txBody>
          <a:bodyPr wrap="square" lIns="0" rIns="0" tIns="0" bIns="0" anchor="t">
            <a:spAutoFit/>
          </a:bodyPr>
          <a:lstStyle/>
          <a:p>
            <a:pPr algn="l">
              <a:lnSpc>
                <a:spcPct val="100000"/>
              </a:lnSpc>
              <a:spcAft>
                <a:spcPts val="0"/>
              </a:spcAft>
            </a:pPr>
            <a:r>
              <a:rPr sz="1300" b="1" i="0">
                <a:solidFill>
                  <a:srgbClr val="AFE4E9"/>
                </a:solidFill>
                <a:latin typeface="Calibri"/>
              </a:rPr>
              <a:t>STUDI KASUS</a:t>
            </a:r>
          </a:p>
        </p:txBody>
      </p:sp>
      <p:sp>
        <p:nvSpPr>
          <p:cNvPr id="5" name="TextBox 4"/>
          <p:cNvSpPr txBox="1"/>
          <p:nvPr/>
        </p:nvSpPr>
        <p:spPr>
          <a:xfrm>
            <a:off x="658368" y="2670048"/>
            <a:ext cx="9326880" cy="1371600"/>
          </a:xfrm>
          <a:prstGeom prst="rect">
            <a:avLst/>
          </a:prstGeom>
          <a:noFill/>
        </p:spPr>
        <p:txBody>
          <a:bodyPr wrap="square" lIns="0" rIns="0" tIns="0" bIns="0" anchor="t">
            <a:spAutoFit/>
          </a:bodyPr>
          <a:lstStyle/>
          <a:p>
            <a:pPr algn="l">
              <a:lnSpc>
                <a:spcPct val="105000"/>
              </a:lnSpc>
              <a:spcAft>
                <a:spcPts val="0"/>
              </a:spcAft>
            </a:pPr>
            <a:r>
              <a:rPr sz="3800" b="1" i="0">
                <a:solidFill>
                  <a:srgbClr val="FFFFFF"/>
                </a:solidFill>
                <a:latin typeface="Calibri"/>
              </a:rPr>
              <a:t>Endorsement Polis dan Peta Otomasi</a:t>
            </a:r>
          </a:p>
        </p:txBody>
      </p:sp>
      <p:sp>
        <p:nvSpPr>
          <p:cNvPr id="6" name="TextBox 5"/>
          <p:cNvSpPr txBox="1"/>
          <p:nvPr/>
        </p:nvSpPr>
        <p:spPr>
          <a:xfrm>
            <a:off x="658368" y="4160520"/>
            <a:ext cx="8778240" cy="548640"/>
          </a:xfrm>
          <a:prstGeom prst="rect">
            <a:avLst/>
          </a:prstGeom>
          <a:noFill/>
        </p:spPr>
        <p:txBody>
          <a:bodyPr wrap="square" lIns="0" rIns="0" tIns="0" bIns="0" anchor="t">
            <a:spAutoFit/>
          </a:bodyPr>
          <a:lstStyle/>
          <a:p>
            <a:pPr algn="l">
              <a:lnSpc>
                <a:spcPct val="120000"/>
              </a:lnSpc>
              <a:spcAft>
                <a:spcPts val="0"/>
              </a:spcAft>
            </a:pPr>
            <a:r>
              <a:rPr sz="1600" b="0" i="0">
                <a:solidFill>
                  <a:srgbClr val="AFE4E9"/>
                </a:solidFill>
                <a:latin typeface="Calibri"/>
              </a:rPr>
              <a:t>12 permintaan endorsement bulan lalu, lalu sepuluh aktivitas klaim untuk ditempatkan.</a:t>
            </a:r>
          </a:p>
        </p:txBody>
      </p:sp>
      <p:sp>
        <p:nvSpPr>
          <p:cNvPr id="7" name="TextBox 6"/>
          <p:cNvSpPr txBox="1"/>
          <p:nvPr/>
        </p:nvSpPr>
        <p:spPr>
          <a:xfrm>
            <a:off x="658368" y="5852160"/>
            <a:ext cx="7315200" cy="320040"/>
          </a:xfrm>
          <a:prstGeom prst="rect">
            <a:avLst/>
          </a:prstGeom>
          <a:noFill/>
        </p:spPr>
        <p:txBody>
          <a:bodyPr wrap="square" lIns="0" rIns="0" tIns="0" bIns="0" anchor="t">
            <a:spAutoFit/>
          </a:bodyPr>
          <a:lstStyle/>
          <a:p>
            <a:pPr algn="l">
              <a:lnSpc>
                <a:spcPct val="100000"/>
              </a:lnSpc>
              <a:spcAft>
                <a:spcPts val="0"/>
              </a:spcAft>
            </a:pPr>
            <a:r>
              <a:rPr sz="1200" b="0" i="0">
                <a:solidFill>
                  <a:srgbClr val="AFE4E9"/>
                </a:solidFill>
                <a:latin typeface="Calibri"/>
              </a:rPr>
              <a:t>sekitar 30 menit  |  15 menit event log, 10 menit matriks, 5 menit bahas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STUDI KASUS</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Situasinya</a:t>
            </a: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rIns="0" tIns="0" bIns="0" anchor="t">
            <a:spAutoFit/>
          </a:bodyPr>
          <a:lstStyle/>
          <a:p>
            <a:pPr algn="l">
              <a:lnSpc>
                <a:spcPct val="118000"/>
              </a:lnSpc>
              <a:spcAft>
                <a:spcPts val="0"/>
              </a:spcAft>
            </a:pPr>
            <a:r>
              <a:rPr sz="1350" b="1" i="0">
                <a:solidFill>
                  <a:srgbClr val="1B2733"/>
                </a:solidFill>
                <a:latin typeface="Calibri"/>
              </a:rPr>
              <a:t>Kasusnya fiktif dan disederhanakan.</a:t>
            </a:r>
          </a:p>
        </p:txBody>
      </p:sp>
      <p:sp>
        <p:nvSpPr>
          <p:cNvPr id="6" name="TextBox 5"/>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7" name="TextBox 6"/>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25</a:t>
            </a:r>
          </a:p>
        </p:txBody>
      </p:sp>
      <p:sp>
        <p:nvSpPr>
          <p:cNvPr id="8" name="Rectangle 7"/>
          <p:cNvSpPr/>
          <p:nvPr/>
        </p:nvSpPr>
        <p:spPr>
          <a:xfrm>
            <a:off x="658368" y="2377440"/>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487168"/>
            <a:ext cx="9960864" cy="832103"/>
          </a:xfrm>
          <a:prstGeom prst="rect">
            <a:avLst/>
          </a:prstGeom>
          <a:noFill/>
        </p:spPr>
        <p:txBody>
          <a:bodyPr wrap="square" lIns="0" rIns="0" tIns="0" bIns="0" anchor="ctr">
            <a:spAutoFit/>
          </a:bodyPr>
          <a:lstStyle/>
          <a:p>
            <a:pPr algn="l">
              <a:lnSpc>
                <a:spcPct val="118000"/>
              </a:lnSpc>
              <a:spcAft>
                <a:spcPts val="0"/>
              </a:spcAft>
            </a:pPr>
            <a:r>
              <a:rPr sz="2000" b="1" i="0">
                <a:solidFill>
                  <a:srgbClr val="FFFFFF"/>
                </a:solidFill>
                <a:latin typeface="Calibri"/>
              </a:rPr>
              <a:t>Kepala divisi bilang endorsement polis terlalu lama, dan minta diotomasi pakai AI.</a:t>
            </a:r>
          </a:p>
        </p:txBody>
      </p:sp>
      <p:sp>
        <p:nvSpPr>
          <p:cNvPr id="10" name="TextBox 9"/>
          <p:cNvSpPr txBox="1"/>
          <p:nvPr/>
        </p:nvSpPr>
        <p:spPr>
          <a:xfrm>
            <a:off x="658368" y="3739896"/>
            <a:ext cx="9352727" cy="859536"/>
          </a:xfrm>
          <a:prstGeom prst="rect">
            <a:avLst/>
          </a:prstGeom>
          <a:noFill/>
        </p:spPr>
        <p:txBody>
          <a:bodyPr wrap="square" lIns="0" rIns="0" tIns="0" bIns="0" anchor="t">
            <a:spAutoFit/>
          </a:bodyPr>
          <a:lstStyle/>
          <a:p>
            <a:pPr algn="l">
              <a:lnSpc>
                <a:spcPct val="135000"/>
              </a:lnSpc>
              <a:spcAft>
                <a:spcPts val="1200"/>
              </a:spcAft>
            </a:pPr>
            <a:r>
              <a:rPr sz="1500" b="0" i="0">
                <a:solidFill>
                  <a:srgbClr val="5A6672"/>
                </a:solidFill>
                <a:latin typeface="Calibri"/>
              </a:rPr>
              <a:t>Kamu dapat event log 12 permintaan endorsement bulan lalu. Sebelum setuju atau menolak, cari tahu dulu: lamanya di mana, dan apakah AI memang jawabannya.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AKTIVITAS</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Cara kerjanya</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26</a:t>
            </a:r>
          </a:p>
        </p:txBody>
      </p:sp>
      <p:sp>
        <p:nvSpPr>
          <p:cNvPr id="6" name="Oval 5"/>
          <p:cNvSpPr/>
          <p:nvPr/>
        </p:nvSpPr>
        <p:spPr>
          <a:xfrm>
            <a:off x="658368" y="1659636"/>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14500"/>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1</a:t>
            </a:r>
          </a:p>
        </p:txBody>
      </p:sp>
      <p:sp>
        <p:nvSpPr>
          <p:cNvPr id="8" name="TextBox 7"/>
          <p:cNvSpPr txBox="1"/>
          <p:nvPr/>
        </p:nvSpPr>
        <p:spPr>
          <a:xfrm>
            <a:off x="1225295" y="1641348"/>
            <a:ext cx="10308336" cy="420623"/>
          </a:xfrm>
          <a:prstGeom prst="rect">
            <a:avLst/>
          </a:prstGeom>
          <a:noFill/>
        </p:spPr>
        <p:txBody>
          <a:bodyPr wrap="square" lIns="0" rIns="0" tIns="0" bIns="0" anchor="t">
            <a:spAutoFit/>
          </a:bodyPr>
          <a:lstStyle/>
          <a:p>
            <a:pPr algn="l">
              <a:lnSpc>
                <a:spcPct val="130000"/>
              </a:lnSpc>
              <a:spcAft>
                <a:spcPts val="0"/>
              </a:spcAft>
            </a:pPr>
            <a:r>
              <a:rPr sz="1350" b="0" i="0">
                <a:solidFill>
                  <a:srgbClr val="1B2733"/>
                </a:solidFill>
                <a:latin typeface="Calibri"/>
              </a:rPr>
              <a:t>Kelompok 4 sampai 5 orang.</a:t>
            </a:r>
          </a:p>
        </p:txBody>
      </p:sp>
      <p:sp>
        <p:nvSpPr>
          <p:cNvPr id="9" name="Oval 8"/>
          <p:cNvSpPr/>
          <p:nvPr/>
        </p:nvSpPr>
        <p:spPr>
          <a:xfrm>
            <a:off x="658368" y="2400300"/>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55164"/>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2</a:t>
            </a:r>
          </a:p>
        </p:txBody>
      </p:sp>
      <p:sp>
        <p:nvSpPr>
          <p:cNvPr id="11" name="TextBox 10"/>
          <p:cNvSpPr txBox="1"/>
          <p:nvPr/>
        </p:nvSpPr>
        <p:spPr>
          <a:xfrm>
            <a:off x="1225295" y="2382012"/>
            <a:ext cx="10308336" cy="694944"/>
          </a:xfrm>
          <a:prstGeom prst="rect">
            <a:avLst/>
          </a:prstGeom>
          <a:noFill/>
        </p:spPr>
        <p:txBody>
          <a:bodyPr wrap="square" lIns="0" rIns="0" tIns="0" bIns="0" anchor="t">
            <a:spAutoFit/>
          </a:bodyPr>
          <a:lstStyle/>
          <a:p>
            <a:pPr algn="l">
              <a:lnSpc>
                <a:spcPct val="130000"/>
              </a:lnSpc>
              <a:spcAft>
                <a:spcPts val="0"/>
              </a:spcAft>
            </a:pPr>
            <a:r>
              <a:rPr sz="1350" b="0" i="0">
                <a:solidFill>
                  <a:srgbClr val="1B2733"/>
                </a:solidFill>
                <a:latin typeface="Calibri"/>
              </a:rPr>
              <a:t>Tahap A, 15 menit: hitung cycle time tiap kasus, rata-ratanya per jenis endorsement, dan cari waktu tunggu terbesar ada sebelum aktivitas apa.</a:t>
            </a:r>
          </a:p>
        </p:txBody>
      </p:sp>
      <p:sp>
        <p:nvSpPr>
          <p:cNvPr id="12" name="Oval 11"/>
          <p:cNvSpPr/>
          <p:nvPr/>
        </p:nvSpPr>
        <p:spPr>
          <a:xfrm>
            <a:off x="658368" y="3415284"/>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470148"/>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3</a:t>
            </a:r>
          </a:p>
        </p:txBody>
      </p:sp>
      <p:sp>
        <p:nvSpPr>
          <p:cNvPr id="14" name="TextBox 13"/>
          <p:cNvSpPr txBox="1"/>
          <p:nvPr/>
        </p:nvSpPr>
        <p:spPr>
          <a:xfrm>
            <a:off x="1225295" y="3396996"/>
            <a:ext cx="10308336" cy="420623"/>
          </a:xfrm>
          <a:prstGeom prst="rect">
            <a:avLst/>
          </a:prstGeom>
          <a:noFill/>
        </p:spPr>
        <p:txBody>
          <a:bodyPr wrap="square" lIns="0" rIns="0" tIns="0" bIns="0" anchor="t">
            <a:spAutoFit/>
          </a:bodyPr>
          <a:lstStyle/>
          <a:p>
            <a:pPr algn="l">
              <a:lnSpc>
                <a:spcPct val="130000"/>
              </a:lnSpc>
              <a:spcAft>
                <a:spcPts val="0"/>
              </a:spcAft>
            </a:pPr>
            <a:r>
              <a:rPr sz="1350" b="0" i="0">
                <a:solidFill>
                  <a:srgbClr val="1B2733"/>
                </a:solidFill>
                <a:latin typeface="Calibri"/>
              </a:rPr>
              <a:t>Hitung rework rate dan error rate.</a:t>
            </a:r>
          </a:p>
        </p:txBody>
      </p:sp>
      <p:sp>
        <p:nvSpPr>
          <p:cNvPr id="15" name="Oval 14"/>
          <p:cNvSpPr/>
          <p:nvPr/>
        </p:nvSpPr>
        <p:spPr>
          <a:xfrm>
            <a:off x="658368" y="4155948"/>
            <a:ext cx="365760" cy="365760"/>
          </a:xfrm>
          <a:prstGeom prst="ellipse">
            <a:avLst/>
          </a:prstGeom>
          <a:solidFill>
            <a:srgbClr val="C9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210812"/>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4</a:t>
            </a:r>
          </a:p>
        </p:txBody>
      </p:sp>
      <p:sp>
        <p:nvSpPr>
          <p:cNvPr id="17" name="TextBox 16"/>
          <p:cNvSpPr txBox="1"/>
          <p:nvPr/>
        </p:nvSpPr>
        <p:spPr>
          <a:xfrm>
            <a:off x="1225295" y="4137660"/>
            <a:ext cx="10308336" cy="694944"/>
          </a:xfrm>
          <a:prstGeom prst="rect">
            <a:avLst/>
          </a:prstGeom>
          <a:noFill/>
        </p:spPr>
        <p:txBody>
          <a:bodyPr wrap="square" lIns="0" rIns="0" tIns="0" bIns="0" anchor="t">
            <a:spAutoFit/>
          </a:bodyPr>
          <a:lstStyle/>
          <a:p>
            <a:pPr algn="l">
              <a:lnSpc>
                <a:spcPct val="130000"/>
              </a:lnSpc>
              <a:spcAft>
                <a:spcPts val="0"/>
              </a:spcAft>
            </a:pPr>
            <a:r>
              <a:rPr sz="1350" b="0" i="0">
                <a:solidFill>
                  <a:srgbClr val="1B2733"/>
                </a:solidFill>
                <a:latin typeface="Calibri"/>
              </a:rPr>
              <a:t>Tahap B, 10 menit: tempatkan sepuluh aktivitas klaim di salah satu dari lima mekanisme, satu kalimat alasan per aktivitas.</a:t>
            </a:r>
          </a:p>
        </p:txBody>
      </p:sp>
      <p:sp>
        <p:nvSpPr>
          <p:cNvPr id="18" name="Oval 17"/>
          <p:cNvSpPr/>
          <p:nvPr/>
        </p:nvSpPr>
        <p:spPr>
          <a:xfrm>
            <a:off x="658368" y="5170931"/>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225796"/>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5</a:t>
            </a:r>
          </a:p>
        </p:txBody>
      </p:sp>
      <p:sp>
        <p:nvSpPr>
          <p:cNvPr id="20" name="TextBox 19"/>
          <p:cNvSpPr txBox="1"/>
          <p:nvPr/>
        </p:nvSpPr>
        <p:spPr>
          <a:xfrm>
            <a:off x="1225295" y="5152644"/>
            <a:ext cx="10308336" cy="694944"/>
          </a:xfrm>
          <a:prstGeom prst="rect">
            <a:avLst/>
          </a:prstGeom>
          <a:noFill/>
        </p:spPr>
        <p:txBody>
          <a:bodyPr wrap="square" lIns="0" rIns="0" tIns="0" bIns="0" anchor="t">
            <a:spAutoFit/>
          </a:bodyPr>
          <a:lstStyle/>
          <a:p>
            <a:pPr algn="l">
              <a:lnSpc>
                <a:spcPct val="130000"/>
              </a:lnSpc>
              <a:spcAft>
                <a:spcPts val="0"/>
              </a:spcAft>
            </a:pPr>
            <a:r>
              <a:rPr sz="1350" b="0" i="0">
                <a:solidFill>
                  <a:srgbClr val="1B2733"/>
                </a:solidFill>
                <a:latin typeface="Calibri"/>
              </a:rPr>
              <a:t>Tulis jawaban singkat untuk kepala divisi: setuju, tidak setuju, atau setuju sebagian. Lima menit terakhir kita bahas bareng.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PEMBAHASAN BERSAMA</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Yang biasanya terjadi</a:t>
            </a:r>
          </a:p>
        </p:txBody>
      </p:sp>
      <p:sp>
        <p:nvSpPr>
          <p:cNvPr id="4" name="Rounded Rectangle 3"/>
          <p:cNvSpPr/>
          <p:nvPr/>
        </p:nvSpPr>
        <p:spPr>
          <a:xfrm>
            <a:off x="9019032" y="438912"/>
            <a:ext cx="2514600" cy="274320"/>
          </a:xfrm>
          <a:prstGeom prst="roundRect">
            <a:avLst/>
          </a:prstGeom>
          <a:solidFill>
            <a:srgbClr val="FF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19032" y="484632"/>
            <a:ext cx="2514600" cy="237744"/>
          </a:xfrm>
          <a:prstGeom prst="rect">
            <a:avLst/>
          </a:prstGeom>
          <a:noFill/>
        </p:spPr>
        <p:txBody>
          <a:bodyPr wrap="square" lIns="0" rIns="0" tIns="0" bIns="0" anchor="t">
            <a:spAutoFit/>
          </a:bodyPr>
          <a:lstStyle/>
          <a:p>
            <a:pPr algn="ctr">
              <a:lnSpc>
                <a:spcPct val="100000"/>
              </a:lnSpc>
              <a:spcAft>
                <a:spcPts val="0"/>
              </a:spcAft>
            </a:pPr>
            <a:r>
              <a:rPr sz="950" b="1" i="0">
                <a:solidFill>
                  <a:srgbClr val="C97A0A"/>
                </a:solidFill>
                <a:latin typeface="Calibri"/>
              </a:rPr>
              <a:t>Tampilkan setelah pembahasan</a:t>
            </a:r>
          </a:p>
        </p:txBody>
      </p:sp>
      <p:sp>
        <p:nvSpPr>
          <p:cNvPr id="6" name="TextBox 5"/>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7" name="TextBox 6"/>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27</a:t>
            </a:r>
          </a:p>
        </p:txBody>
      </p:sp>
      <p:sp>
        <p:nvSpPr>
          <p:cNvPr id="8" name="Oval 7"/>
          <p:cNvSpPr/>
          <p:nvPr/>
        </p:nvSpPr>
        <p:spPr>
          <a:xfrm>
            <a:off x="658368" y="2153412"/>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208276"/>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1</a:t>
            </a:r>
          </a:p>
        </p:txBody>
      </p:sp>
      <p:sp>
        <p:nvSpPr>
          <p:cNvPr id="10" name="TextBox 9"/>
          <p:cNvSpPr txBox="1"/>
          <p:nvPr/>
        </p:nvSpPr>
        <p:spPr>
          <a:xfrm>
            <a:off x="1225295" y="2135124"/>
            <a:ext cx="10308336" cy="420623"/>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Yang dicari aktivitas yang paling lama dikerjakan, padahal yang paling lama itu menunggu.</a:t>
            </a:r>
          </a:p>
        </p:txBody>
      </p:sp>
      <p:sp>
        <p:nvSpPr>
          <p:cNvPr id="11" name="Oval 10"/>
          <p:cNvSpPr/>
          <p:nvPr/>
        </p:nvSpPr>
        <p:spPr>
          <a:xfrm>
            <a:off x="658368" y="2994660"/>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049524"/>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2</a:t>
            </a:r>
          </a:p>
        </p:txBody>
      </p:sp>
      <p:sp>
        <p:nvSpPr>
          <p:cNvPr id="13" name="TextBox 12"/>
          <p:cNvSpPr txBox="1"/>
          <p:nvPr/>
        </p:nvSpPr>
        <p:spPr>
          <a:xfrm>
            <a:off x="1225295" y="2976372"/>
            <a:ext cx="10308336" cy="420623"/>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Rata-rata dihitung untuk semua jenis sekaligus, jadi ganti alamat dan naik nilai pertanggungan tercampur.</a:t>
            </a:r>
          </a:p>
        </p:txBody>
      </p:sp>
      <p:sp>
        <p:nvSpPr>
          <p:cNvPr id="14" name="Oval 13"/>
          <p:cNvSpPr/>
          <p:nvPr/>
        </p:nvSpPr>
        <p:spPr>
          <a:xfrm>
            <a:off x="658368" y="3835908"/>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890772"/>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3</a:t>
            </a:r>
          </a:p>
        </p:txBody>
      </p:sp>
      <p:sp>
        <p:nvSpPr>
          <p:cNvPr id="16" name="TextBox 15"/>
          <p:cNvSpPr txBox="1"/>
          <p:nvPr/>
        </p:nvSpPr>
        <p:spPr>
          <a:xfrm>
            <a:off x="1225295" y="3817620"/>
            <a:ext cx="10308336" cy="420623"/>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AI dipilih untuk langkah yang sebenarnya cukup pakai aturan biasa.</a:t>
            </a:r>
          </a:p>
        </p:txBody>
      </p:sp>
      <p:sp>
        <p:nvSpPr>
          <p:cNvPr id="17" name="Oval 16"/>
          <p:cNvSpPr/>
          <p:nvPr/>
        </p:nvSpPr>
        <p:spPr>
          <a:xfrm>
            <a:off x="658368" y="4677156"/>
            <a:ext cx="365760" cy="365760"/>
          </a:xfrm>
          <a:prstGeom prst="ellipse">
            <a:avLst/>
          </a:prstGeom>
          <a:solidFill>
            <a:srgbClr val="C9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4732020"/>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4</a:t>
            </a:r>
          </a:p>
        </p:txBody>
      </p:sp>
      <p:sp>
        <p:nvSpPr>
          <p:cNvPr id="19" name="TextBox 18"/>
          <p:cNvSpPr txBox="1"/>
          <p:nvPr/>
        </p:nvSpPr>
        <p:spPr>
          <a:xfrm>
            <a:off x="1225295" y="4658868"/>
            <a:ext cx="10308336" cy="694944"/>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Hampir tidak ada yang mengusulkan mengubah jadwal persetujuan, padahal itu tidak butuh teknologi sama sekali.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HASIL STUDI KASUS</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Jadi, AI atau bukan?</a:t>
            </a: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rIns="0" tIns="0" bIns="0" anchor="t">
            <a:spAutoFit/>
          </a:bodyPr>
          <a:lstStyle/>
          <a:p>
            <a:pPr algn="l">
              <a:lnSpc>
                <a:spcPct val="118000"/>
              </a:lnSpc>
              <a:spcAft>
                <a:spcPts val="0"/>
              </a:spcAft>
            </a:pPr>
            <a:r>
              <a:rPr sz="1350" b="1" i="0">
                <a:solidFill>
                  <a:srgbClr val="1B2733"/>
                </a:solidFill>
                <a:latin typeface="Calibri"/>
              </a:rPr>
              <a:t>Jawaban yang jujur untuk kepala divisi: setuju sebagian, dan mulai dari jadwal persetujuan serta kelengkapan dokumen di awal.</a:t>
            </a:r>
          </a:p>
        </p:txBody>
      </p:sp>
      <p:sp>
        <p:nvSpPr>
          <p:cNvPr id="6" name="TextBox 5"/>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7" name="TextBox 6"/>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28</a:t>
            </a:r>
          </a:p>
        </p:txBody>
      </p:sp>
      <p:sp>
        <p:nvSpPr>
          <p:cNvPr id="8" name="Rectangle 7"/>
          <p:cNvSpPr/>
          <p:nvPr/>
        </p:nvSpPr>
        <p:spPr>
          <a:xfrm>
            <a:off x="658368" y="1847088"/>
            <a:ext cx="10875264" cy="1417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1956816"/>
            <a:ext cx="9960864" cy="1197864"/>
          </a:xfrm>
          <a:prstGeom prst="rect">
            <a:avLst/>
          </a:prstGeom>
          <a:noFill/>
        </p:spPr>
        <p:txBody>
          <a:bodyPr wrap="square" lIns="0" rIns="0" tIns="0" bIns="0" anchor="ctr">
            <a:spAutoFit/>
          </a:bodyPr>
          <a:lstStyle/>
          <a:p>
            <a:pPr algn="l">
              <a:lnSpc>
                <a:spcPct val="118000"/>
              </a:lnSpc>
              <a:spcAft>
                <a:spcPts val="0"/>
              </a:spcAft>
            </a:pPr>
            <a:r>
              <a:rPr sz="2000" b="1" i="0">
                <a:solidFill>
                  <a:srgbClr val="FFFFFF"/>
                </a:solidFill>
                <a:latin typeface="Calibri"/>
              </a:rPr>
              <a:t>Waktu tunggu terbesar ada sebelum persetujuan underwriter: rata-rata 2,6 hari, padahal persetujuannya sendiri cuma sekitar 10 menit.</a:t>
            </a:r>
          </a:p>
        </p:txBody>
      </p:sp>
      <p:sp>
        <p:nvSpPr>
          <p:cNvPr id="10" name="TextBox 9"/>
          <p:cNvSpPr txBox="1"/>
          <p:nvPr/>
        </p:nvSpPr>
        <p:spPr>
          <a:xfrm>
            <a:off x="658368" y="3575304"/>
            <a:ext cx="9352727" cy="1554480"/>
          </a:xfrm>
          <a:prstGeom prst="rect">
            <a:avLst/>
          </a:prstGeom>
          <a:noFill/>
        </p:spPr>
        <p:txBody>
          <a:bodyPr wrap="square" lIns="0" rIns="0" tIns="0" bIns="0" anchor="t">
            <a:spAutoFit/>
          </a:bodyPr>
          <a:lstStyle/>
          <a:p>
            <a:pPr algn="l">
              <a:lnSpc>
                <a:spcPct val="135000"/>
              </a:lnSpc>
              <a:spcAft>
                <a:spcPts val="1200"/>
              </a:spcAft>
            </a:pPr>
            <a:r>
              <a:rPr sz="1500" b="0" i="0">
                <a:solidFill>
                  <a:srgbClr val="5A6672"/>
                </a:solidFill>
                <a:latin typeface="Calibri"/>
              </a:rPr>
              <a:t>Semua persetujuan di data ini terjadi Selasa atau Kamis sekitar pukul 14.00. Penyumbang kedua: menunggu dokumen yang kurang dari nasabah, rata-rata 3,8 hari setiap kali terjadi.</a:t>
            </a:r>
          </a:p>
          <a:p>
            <a:pPr algn="l">
              <a:lnSpc>
                <a:spcPct val="135000"/>
              </a:lnSpc>
              <a:spcAft>
                <a:spcPts val="1200"/>
              </a:spcAft>
            </a:pPr>
            <a:r>
              <a:rPr sz="1500" b="0" i="0">
                <a:solidFill>
                  <a:srgbClr val="5A6672"/>
                </a:solidFill>
                <a:latin typeface="Calibri"/>
              </a:rPr>
              <a:t>Satu endorsement rata-rata dikerjakan 109 menit dari cycle time 5,4 hari. Mempercepat hitung premi hampir tidak terasa selama dua antrean itu tidak diubah.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PENUTUP</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Yang perlu diingat dari hari ini</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29</a:t>
            </a:r>
          </a:p>
        </p:txBody>
      </p:sp>
      <p:sp>
        <p:nvSpPr>
          <p:cNvPr id="6" name="Oval 5"/>
          <p:cNvSpPr/>
          <p:nvPr/>
        </p:nvSpPr>
        <p:spPr>
          <a:xfrm>
            <a:off x="658368" y="2711196"/>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766060"/>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1</a:t>
            </a:r>
          </a:p>
        </p:txBody>
      </p:sp>
      <p:sp>
        <p:nvSpPr>
          <p:cNvPr id="8" name="TextBox 7"/>
          <p:cNvSpPr txBox="1"/>
          <p:nvPr/>
        </p:nvSpPr>
        <p:spPr>
          <a:xfrm>
            <a:off x="1225295" y="2692908"/>
            <a:ext cx="10308336" cy="420623"/>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Cari masalah dulu, baru hitung. Issue register perlu kolom data dan asumsi.</a:t>
            </a:r>
          </a:p>
        </p:txBody>
      </p:sp>
      <p:sp>
        <p:nvSpPr>
          <p:cNvPr id="9" name="Oval 8"/>
          <p:cNvSpPr/>
          <p:nvPr/>
        </p:nvSpPr>
        <p:spPr>
          <a:xfrm>
            <a:off x="658368" y="3552444"/>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607308"/>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2</a:t>
            </a:r>
          </a:p>
        </p:txBody>
      </p:sp>
      <p:sp>
        <p:nvSpPr>
          <p:cNvPr id="11" name="TextBox 10"/>
          <p:cNvSpPr txBox="1"/>
          <p:nvPr/>
        </p:nvSpPr>
        <p:spPr>
          <a:xfrm>
            <a:off x="1225295" y="3534156"/>
            <a:ext cx="10308336" cy="420623"/>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Waktu tunggu biasanya jauh lebih besar dari waktu kerja. Ukur keduanya, dan catat baseline-nya.</a:t>
            </a:r>
          </a:p>
        </p:txBody>
      </p:sp>
      <p:sp>
        <p:nvSpPr>
          <p:cNvPr id="12" name="Oval 11"/>
          <p:cNvSpPr/>
          <p:nvPr/>
        </p:nvSpPr>
        <p:spPr>
          <a:xfrm>
            <a:off x="658368" y="4393692"/>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448556"/>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3</a:t>
            </a:r>
          </a:p>
        </p:txBody>
      </p:sp>
      <p:sp>
        <p:nvSpPr>
          <p:cNvPr id="14" name="TextBox 13"/>
          <p:cNvSpPr txBox="1"/>
          <p:nvPr/>
        </p:nvSpPr>
        <p:spPr>
          <a:xfrm>
            <a:off x="1225295" y="4375404"/>
            <a:ext cx="10308336" cy="420623"/>
          </a:xfrm>
          <a:prstGeom prst="rect">
            <a:avLst/>
          </a:prstGeom>
          <a:noFill/>
        </p:spPr>
        <p:txBody>
          <a:bodyPr wrap="square" lIns="0" rIns="0" tIns="0" bIns="0" anchor="t">
            <a:spAutoFit/>
          </a:bodyPr>
          <a:lstStyle/>
          <a:p>
            <a:pPr algn="l">
              <a:lnSpc>
                <a:spcPct val="130000"/>
              </a:lnSpc>
              <a:spcAft>
                <a:spcPts val="0"/>
              </a:spcAft>
            </a:pPr>
            <a:r>
              <a:rPr sz="1500" b="0" i="0">
                <a:solidFill>
                  <a:srgbClr val="1B2733"/>
                </a:solidFill>
                <a:latin typeface="Calibri"/>
              </a:rPr>
              <a:t>Pilih mekanisme dari empat sumbu, dan jangan mengotomasi langkah yang seharusnya dihapus.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TUGAS 1</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Tugas 1 terbit hari ini</a:t>
            </a: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rIns="0" tIns="0" bIns="0" anchor="t">
            <a:spAutoFit/>
          </a:bodyPr>
          <a:lstStyle/>
          <a:p>
            <a:pPr algn="l">
              <a:lnSpc>
                <a:spcPct val="118000"/>
              </a:lnSpc>
              <a:spcAft>
                <a:spcPts val="0"/>
              </a:spcAft>
            </a:pPr>
            <a:r>
              <a:rPr sz="1350" b="1" i="0">
                <a:solidFill>
                  <a:srgbClr val="1B2733"/>
                </a:solidFill>
                <a:latin typeface="Calibri"/>
              </a:rPr>
              <a:t>Lembar tugas dan rubriknya dibagikan terpisah.</a:t>
            </a:r>
          </a:p>
        </p:txBody>
      </p:sp>
      <p:sp>
        <p:nvSpPr>
          <p:cNvPr id="6" name="TextBox 5"/>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7" name="TextBox 6"/>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30</a:t>
            </a:r>
          </a:p>
        </p:txBody>
      </p:sp>
      <p:sp>
        <p:nvSpPr>
          <p:cNvPr id="8" name="Rectangle 7"/>
          <p:cNvSpPr/>
          <p:nvPr/>
        </p:nvSpPr>
        <p:spPr>
          <a:xfrm>
            <a:off x="658368" y="2029968"/>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139696"/>
            <a:ext cx="9960864" cy="832103"/>
          </a:xfrm>
          <a:prstGeom prst="rect">
            <a:avLst/>
          </a:prstGeom>
          <a:noFill/>
        </p:spPr>
        <p:txBody>
          <a:bodyPr wrap="square" lIns="0" rIns="0" tIns="0" bIns="0" anchor="ctr">
            <a:spAutoFit/>
          </a:bodyPr>
          <a:lstStyle/>
          <a:p>
            <a:pPr algn="l">
              <a:lnSpc>
                <a:spcPct val="118000"/>
              </a:lnSpc>
              <a:spcAft>
                <a:spcPts val="0"/>
              </a:spcAft>
            </a:pPr>
            <a:r>
              <a:rPr sz="2000" b="1" i="0">
                <a:solidFill>
                  <a:srgbClr val="FFFFFF"/>
                </a:solidFill>
                <a:latin typeface="Calibri"/>
              </a:rPr>
              <a:t>Tugas 1: Process Discovery dan Analysis Report.</a:t>
            </a:r>
          </a:p>
        </p:txBody>
      </p:sp>
      <p:sp>
        <p:nvSpPr>
          <p:cNvPr id="10" name="TextBox 9"/>
          <p:cNvSpPr txBox="1"/>
          <p:nvPr/>
        </p:nvSpPr>
        <p:spPr>
          <a:xfrm>
            <a:off x="658368" y="3392424"/>
            <a:ext cx="9352727" cy="1554479"/>
          </a:xfrm>
          <a:prstGeom prst="rect">
            <a:avLst/>
          </a:prstGeom>
          <a:noFill/>
        </p:spPr>
        <p:txBody>
          <a:bodyPr wrap="square" lIns="0" rIns="0" tIns="0" bIns="0" anchor="t">
            <a:spAutoFit/>
          </a:bodyPr>
          <a:lstStyle/>
          <a:p>
            <a:pPr algn="l">
              <a:lnSpc>
                <a:spcPct val="135000"/>
              </a:lnSpc>
              <a:spcAft>
                <a:spcPts val="1200"/>
              </a:spcAft>
            </a:pPr>
            <a:r>
              <a:rPr sz="1500" b="0" i="0">
                <a:solidFill>
                  <a:srgbClr val="5A6672"/>
                </a:solidFill>
                <a:latin typeface="Calibri"/>
              </a:rPr>
              <a:t>Individu, 6 sampai 10 halaman, dikumpulkan sebelum Pertemuan 6. Bobot 10 persen dari nilai akhir.</a:t>
            </a:r>
          </a:p>
          <a:p>
            <a:pPr algn="l">
              <a:lnSpc>
                <a:spcPct val="135000"/>
              </a:lnSpc>
              <a:spcAft>
                <a:spcPts val="1200"/>
              </a:spcAft>
            </a:pPr>
            <a:r>
              <a:rPr sz="1500" b="0" i="0">
                <a:solidFill>
                  <a:srgbClr val="5A6672"/>
                </a:solidFill>
                <a:latin typeface="Calibri"/>
              </a:rPr>
              <a:t>Isinya gabungan Latihan 1, Latihan 2, dan materi hari ini: model BPMN, satu tabel DMN, issue register, baseline KPI, dan matriks peluang otomasi.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rIns="0" tIns="0" bIns="0" anchor="t">
            <a:spAutoFit/>
          </a:bodyPr>
          <a:lstStyle/>
          <a:p>
            <a:pPr algn="l">
              <a:lnSpc>
                <a:spcPct val="100000"/>
              </a:lnSpc>
              <a:spcAft>
                <a:spcPts val="0"/>
              </a:spcAft>
            </a:pPr>
            <a:r>
              <a:rPr sz="1100" b="1" i="0">
                <a:solidFill>
                  <a:srgbClr val="0E7C86"/>
                </a:solidFill>
                <a:latin typeface="Calibri"/>
              </a:rPr>
              <a:t>PERSIAPAN</a:t>
            </a:r>
          </a:p>
        </p:txBody>
      </p:sp>
      <p:sp>
        <p:nvSpPr>
          <p:cNvPr id="3" name="TextBox 2"/>
          <p:cNvSpPr txBox="1"/>
          <p:nvPr/>
        </p:nvSpPr>
        <p:spPr>
          <a:xfrm>
            <a:off x="658368" y="749808"/>
            <a:ext cx="10875264" cy="658368"/>
          </a:xfrm>
          <a:prstGeom prst="rect">
            <a:avLst/>
          </a:prstGeom>
          <a:noFill/>
        </p:spPr>
        <p:txBody>
          <a:bodyPr wrap="square" lIns="0" rIns="0" tIns="0" bIns="0" anchor="t">
            <a:spAutoFit/>
          </a:bodyPr>
          <a:lstStyle/>
          <a:p>
            <a:pPr algn="l">
              <a:lnSpc>
                <a:spcPct val="100000"/>
              </a:lnSpc>
              <a:spcAft>
                <a:spcPts val="0"/>
              </a:spcAft>
            </a:pPr>
            <a:r>
              <a:rPr sz="3000" b="1" i="0">
                <a:solidFill>
                  <a:srgbClr val="1B2733"/>
                </a:solidFill>
                <a:latin typeface="Calibri"/>
              </a:rPr>
              <a:t>Persiapan Pertemuan 5</a:t>
            </a:r>
          </a:p>
        </p:txBody>
      </p:sp>
      <p:sp>
        <p:nvSpPr>
          <p:cNvPr id="4" name="TextBox 3"/>
          <p:cNvSpPr txBox="1"/>
          <p:nvPr/>
        </p:nvSpPr>
        <p:spPr>
          <a:xfrm>
            <a:off x="658368" y="6327648"/>
            <a:ext cx="7315200" cy="256032"/>
          </a:xfrm>
          <a:prstGeom prst="rect">
            <a:avLst/>
          </a:prstGeom>
          <a:noFill/>
        </p:spPr>
        <p:txBody>
          <a:bodyPr wrap="square" lIns="0" rIns="0" tIns="0" bIns="0" anchor="t">
            <a:spAutoFit/>
          </a:bodyPr>
          <a:lstStyle/>
          <a:p>
            <a:pPr algn="l">
              <a:lnSpc>
                <a:spcPct val="100000"/>
              </a:lnSpc>
              <a:spcAft>
                <a:spcPts val="0"/>
              </a:spcAft>
            </a:pPr>
            <a:r>
              <a:rPr sz="850" b="0" i="0">
                <a:solidFill>
                  <a:srgbClr val="8A96A3"/>
                </a:solidFill>
                <a:latin typeface="Calibri"/>
              </a:rPr>
              <a:t>Analisis Proses, KPI, dan Peluang Otomasi  |  Mahasiswa Informatika UKSW</a:t>
            </a:r>
          </a:p>
        </p:txBody>
      </p:sp>
      <p:sp>
        <p:nvSpPr>
          <p:cNvPr id="5" name="TextBox 4"/>
          <p:cNvSpPr txBox="1"/>
          <p:nvPr/>
        </p:nvSpPr>
        <p:spPr>
          <a:xfrm>
            <a:off x="10893552" y="6327648"/>
            <a:ext cx="640080" cy="256032"/>
          </a:xfrm>
          <a:prstGeom prst="rect">
            <a:avLst/>
          </a:prstGeom>
          <a:noFill/>
        </p:spPr>
        <p:txBody>
          <a:bodyPr wrap="square" lIns="0" rIns="0" tIns="0" bIns="0" anchor="t">
            <a:spAutoFit/>
          </a:bodyPr>
          <a:lstStyle/>
          <a:p>
            <a:pPr algn="r">
              <a:lnSpc>
                <a:spcPct val="100000"/>
              </a:lnSpc>
              <a:spcAft>
                <a:spcPts val="0"/>
              </a:spcAft>
            </a:pPr>
            <a:r>
              <a:rPr sz="850" b="0" i="0">
                <a:solidFill>
                  <a:srgbClr val="8A96A3"/>
                </a:solidFill>
                <a:latin typeface="Calibri"/>
              </a:rPr>
              <a:t>31</a:t>
            </a:r>
          </a:p>
        </p:txBody>
      </p:sp>
      <p:sp>
        <p:nvSpPr>
          <p:cNvPr id="6" name="Rectangle 5"/>
          <p:cNvSpPr/>
          <p:nvPr/>
        </p:nvSpPr>
        <p:spPr>
          <a:xfrm>
            <a:off x="658368" y="2884932"/>
            <a:ext cx="3442208" cy="1719072"/>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3122676"/>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77540"/>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1</a:t>
            </a:r>
          </a:p>
        </p:txBody>
      </p:sp>
      <p:sp>
        <p:nvSpPr>
          <p:cNvPr id="9" name="TextBox 8"/>
          <p:cNvSpPr txBox="1"/>
          <p:nvPr/>
        </p:nvSpPr>
        <p:spPr>
          <a:xfrm>
            <a:off x="1371600" y="3159252"/>
            <a:ext cx="2527808" cy="310896"/>
          </a:xfrm>
          <a:prstGeom prst="rect">
            <a:avLst/>
          </a:prstGeom>
          <a:noFill/>
        </p:spPr>
        <p:txBody>
          <a:bodyPr wrap="square" lIns="0" rIns="0" tIns="0" bIns="0" anchor="t">
            <a:spAutoFit/>
          </a:bodyPr>
          <a:lstStyle/>
          <a:p>
            <a:pPr algn="l">
              <a:lnSpc>
                <a:spcPct val="105000"/>
              </a:lnSpc>
              <a:spcAft>
                <a:spcPts val="0"/>
              </a:spcAft>
            </a:pPr>
            <a:r>
              <a:rPr sz="1600" b="1" i="0">
                <a:solidFill>
                  <a:srgbClr val="1B2733"/>
                </a:solidFill>
                <a:latin typeface="Calibri"/>
              </a:rPr>
              <a:t>Baca</a:t>
            </a:r>
          </a:p>
        </p:txBody>
      </p:sp>
      <p:sp>
        <p:nvSpPr>
          <p:cNvPr id="10" name="TextBox 9"/>
          <p:cNvSpPr txBox="1"/>
          <p:nvPr/>
        </p:nvSpPr>
        <p:spPr>
          <a:xfrm>
            <a:off x="914400" y="3616452"/>
            <a:ext cx="2930144" cy="804672"/>
          </a:xfrm>
          <a:prstGeom prst="rect">
            <a:avLst/>
          </a:prstGeom>
          <a:noFill/>
        </p:spPr>
        <p:txBody>
          <a:bodyPr wrap="square" lIns="0" rIns="0" tIns="0" bIns="0" anchor="t">
            <a:spAutoFit/>
          </a:bodyPr>
          <a:lstStyle/>
          <a:p>
            <a:pPr algn="l">
              <a:lnSpc>
                <a:spcPct val="132000"/>
              </a:lnSpc>
              <a:spcAft>
                <a:spcPts val="0"/>
              </a:spcAft>
            </a:pPr>
            <a:r>
              <a:rPr sz="1250" b="0" i="0">
                <a:solidFill>
                  <a:srgbClr val="5A6672"/>
                </a:solidFill>
                <a:latin typeface="Calibri"/>
              </a:rPr>
              <a:t>Dokumentasi Claude Code, bagian How Claude Code works.</a:t>
            </a:r>
          </a:p>
        </p:txBody>
      </p:sp>
      <p:sp>
        <p:nvSpPr>
          <p:cNvPr id="11" name="Rectangle 10"/>
          <p:cNvSpPr/>
          <p:nvPr/>
        </p:nvSpPr>
        <p:spPr>
          <a:xfrm>
            <a:off x="4374896" y="2884932"/>
            <a:ext cx="3442208" cy="1719072"/>
          </a:xfrm>
          <a:prstGeom prst="rect">
            <a:avLst/>
          </a:prstGeom>
          <a:solidFill>
            <a:srgbClr val="ED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30928" y="3122676"/>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0928" y="3177540"/>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2</a:t>
            </a:r>
          </a:p>
        </p:txBody>
      </p:sp>
      <p:sp>
        <p:nvSpPr>
          <p:cNvPr id="14" name="TextBox 13"/>
          <p:cNvSpPr txBox="1"/>
          <p:nvPr/>
        </p:nvSpPr>
        <p:spPr>
          <a:xfrm>
            <a:off x="5088128" y="3159252"/>
            <a:ext cx="2527808" cy="310896"/>
          </a:xfrm>
          <a:prstGeom prst="rect">
            <a:avLst/>
          </a:prstGeom>
          <a:noFill/>
        </p:spPr>
        <p:txBody>
          <a:bodyPr wrap="square" lIns="0" rIns="0" tIns="0" bIns="0" anchor="t">
            <a:spAutoFit/>
          </a:bodyPr>
          <a:lstStyle/>
          <a:p>
            <a:pPr algn="l">
              <a:lnSpc>
                <a:spcPct val="105000"/>
              </a:lnSpc>
              <a:spcAft>
                <a:spcPts val="0"/>
              </a:spcAft>
            </a:pPr>
            <a:r>
              <a:rPr sz="1600" b="1" i="0">
                <a:solidFill>
                  <a:srgbClr val="1B2733"/>
                </a:solidFill>
                <a:latin typeface="Calibri"/>
              </a:rPr>
              <a:t>Bawa</a:t>
            </a:r>
          </a:p>
        </p:txBody>
      </p:sp>
      <p:sp>
        <p:nvSpPr>
          <p:cNvPr id="15" name="TextBox 14"/>
          <p:cNvSpPr txBox="1"/>
          <p:nvPr/>
        </p:nvSpPr>
        <p:spPr>
          <a:xfrm>
            <a:off x="4630928" y="3616452"/>
            <a:ext cx="2930144" cy="804672"/>
          </a:xfrm>
          <a:prstGeom prst="rect">
            <a:avLst/>
          </a:prstGeom>
          <a:noFill/>
        </p:spPr>
        <p:txBody>
          <a:bodyPr wrap="square" lIns="0" rIns="0" tIns="0" bIns="0" anchor="t">
            <a:spAutoFit/>
          </a:bodyPr>
          <a:lstStyle/>
          <a:p>
            <a:pPr algn="l">
              <a:lnSpc>
                <a:spcPct val="132000"/>
              </a:lnSpc>
              <a:spcAft>
                <a:spcPts val="0"/>
              </a:spcAft>
            </a:pPr>
            <a:r>
              <a:rPr sz="1250" b="0" i="0">
                <a:solidFill>
                  <a:srgbClr val="5A6672"/>
                </a:solidFill>
                <a:latin typeface="Calibri"/>
              </a:rPr>
              <a:t>Satu pengalamanmu pakai AI yang hasilnya ternyata salah.</a:t>
            </a:r>
          </a:p>
        </p:txBody>
      </p:sp>
      <p:sp>
        <p:nvSpPr>
          <p:cNvPr id="16" name="Rectangle 15"/>
          <p:cNvSpPr/>
          <p:nvPr/>
        </p:nvSpPr>
        <p:spPr>
          <a:xfrm>
            <a:off x="8091424" y="2884932"/>
            <a:ext cx="3442208" cy="1719072"/>
          </a:xfrm>
          <a:prstGeom prst="rect">
            <a:avLst/>
          </a:prstGeom>
          <a:solidFill>
            <a:srgbClr val="F3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47456" y="3122676"/>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7456" y="3177540"/>
            <a:ext cx="365760" cy="274320"/>
          </a:xfrm>
          <a:prstGeom prst="rect">
            <a:avLst/>
          </a:prstGeom>
          <a:noFill/>
        </p:spPr>
        <p:txBody>
          <a:bodyPr wrap="square" lIns="0" rIns="0" tIns="0" bIns="0" anchor="t">
            <a:spAutoFit/>
          </a:bodyPr>
          <a:lstStyle/>
          <a:p>
            <a:pPr algn="ctr">
              <a:lnSpc>
                <a:spcPct val="100000"/>
              </a:lnSpc>
              <a:spcAft>
                <a:spcPts val="0"/>
              </a:spcAft>
            </a:pPr>
            <a:r>
              <a:rPr sz="1200" b="1" i="0">
                <a:solidFill>
                  <a:srgbClr val="FFFFFF"/>
                </a:solidFill>
                <a:latin typeface="Calibri"/>
              </a:rPr>
              <a:t>3</a:t>
            </a:r>
          </a:p>
        </p:txBody>
      </p:sp>
      <p:sp>
        <p:nvSpPr>
          <p:cNvPr id="19" name="TextBox 18"/>
          <p:cNvSpPr txBox="1"/>
          <p:nvPr/>
        </p:nvSpPr>
        <p:spPr>
          <a:xfrm>
            <a:off x="8804656" y="3159252"/>
            <a:ext cx="2527808" cy="310896"/>
          </a:xfrm>
          <a:prstGeom prst="rect">
            <a:avLst/>
          </a:prstGeom>
          <a:noFill/>
        </p:spPr>
        <p:txBody>
          <a:bodyPr wrap="square" lIns="0" rIns="0" tIns="0" bIns="0" anchor="t">
            <a:spAutoFit/>
          </a:bodyPr>
          <a:lstStyle/>
          <a:p>
            <a:pPr algn="l">
              <a:lnSpc>
                <a:spcPct val="105000"/>
              </a:lnSpc>
              <a:spcAft>
                <a:spcPts val="0"/>
              </a:spcAft>
            </a:pPr>
            <a:r>
              <a:rPr sz="1600" b="1" i="0">
                <a:solidFill>
                  <a:srgbClr val="1B2733"/>
                </a:solidFill>
                <a:latin typeface="Calibri"/>
              </a:rPr>
              <a:t>Pikirkan</a:t>
            </a:r>
          </a:p>
        </p:txBody>
      </p:sp>
      <p:sp>
        <p:nvSpPr>
          <p:cNvPr id="20" name="TextBox 19"/>
          <p:cNvSpPr txBox="1"/>
          <p:nvPr/>
        </p:nvSpPr>
        <p:spPr>
          <a:xfrm>
            <a:off x="8347456" y="3616452"/>
            <a:ext cx="2930144" cy="804672"/>
          </a:xfrm>
          <a:prstGeom prst="rect">
            <a:avLst/>
          </a:prstGeom>
          <a:noFill/>
        </p:spPr>
        <p:txBody>
          <a:bodyPr wrap="square" lIns="0" rIns="0" tIns="0" bIns="0" anchor="t">
            <a:spAutoFit/>
          </a:bodyPr>
          <a:lstStyle/>
          <a:p>
            <a:pPr algn="l">
              <a:lnSpc>
                <a:spcPct val="132000"/>
              </a:lnSpc>
              <a:spcAft>
                <a:spcPts val="0"/>
              </a:spcAft>
            </a:pPr>
            <a:r>
              <a:rPr sz="1250" b="0" i="0">
                <a:solidFill>
                  <a:srgbClr val="5A6672"/>
                </a:solidFill>
                <a:latin typeface="Calibri"/>
              </a:rPr>
              <a:t>Dari sepuluh aktivitas klaim tadi, mana yang menurutmu paling aman diserahkan ke agen?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1 - Dari BPM ke Agentic Enterprise</dc:title>
  <dc:subject>PptxGenJS Presentation</dc:subject>
  <dc:creator>Fernando Widjaja</dc:creator>
  <cp:lastModifiedBy>Fernando Widjaja</cp:lastModifiedBy>
  <cp:revision>1</cp:revision>
  <dcterms:created xsi:type="dcterms:W3CDTF">2026-09-08T08:05:21Z</dcterms:created>
  <dcterms:modified xsi:type="dcterms:W3CDTF">2026-09-08T08:05:21Z</dcterms:modified>
</cp:coreProperties>
</file>