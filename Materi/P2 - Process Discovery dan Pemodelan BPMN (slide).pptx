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Buka dengan subjudulnya, jangan dengan judulnya. Baca keras kalimat “proses yang kamu gambar belum tentu proses yang benar benar terjadi”, lalu diam sebentar. Itu tesis seluruh sesi hari ini.</a:t>
            </a:r>
          </a:p>
          <a:p/>
          <a:p>
            <a:r>
              <a:t>Jangan menghabiskan waktu di slide ini. Target: 40 detik.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Lempar pertanyaannya ke kelas betulan, jangan retoris. Tunggu sampai ada yang menjawab “baca SOP” — hampir pasti ada.</a:t>
            </a:r>
          </a:p>
          <a:p/>
          <a:p>
            <a:r>
              <a:t>Jangan langsung dibantah. Bilang saja “oke, tahan jawaban itu”, lalu lanjut ke Slide 3. Biarkan slide berikutnya yang membantah, bukan kamu. Lebih kena kalau mahasiswa sendiri yang merasa jawabannya kurang.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Slide inti pertama. Kalau mahasiswa cuma ingat satu gambar dari hari ini, idealnya yang ini.</a:t>
            </a:r>
          </a:p>
          <a:p/>
          <a:p>
            <a:r>
              <a:t>Kaitkan ke jawaban “SOP” tadi: itu kolom pertama, dan kolom pertama justru yang paling sering basi. Tekankan kata “mendamaikan” — bukan memilih, bukan menyalin. Kata itu akan muncul lagi di Modul 3.</a:t>
            </a:r>
          </a:p>
          <a:p/>
          <a:p>
            <a:r>
              <a:t>Kalau ada waktu, minta satu mahasiswa yang pernah magang bercerita: apakah SOP di tempat magangnya sama dengan praktiknya?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Cepat saja, ini slide peta. 45 detik.</a:t>
            </a:r>
          </a:p>
          <a:p/>
          <a:p>
            <a:r>
              <a:t>Satu hal yang perlu ditegaskan: Modul 3 itu 35 menit, paling panjang. Beri tahu sejak sekarang supaya mahasiswa tidak kaget disuruh kerja kelompok, dan supaya yang suka izin keluar tahu waktunya bukan di situ.</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Kata “kebohongan” di subjudul itu sengaja provokatif. Kalau ada yang bereaksi, jelaskan: bukan orangnya yang bohong, tapi tiap teknik punya cara sendiri untuk menyesatkan kamu. Itu justru pesannya.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Bahas kolom Bias, bukan kolom Cara kerja. Cara kerjanya sudah jelas dari namanya; yang berharga justru biasnya.</a:t>
            </a:r>
          </a:p>
          <a:p/>
          <a:p>
            <a:r>
              <a:t>Bias observasi punya nama: efek Hawthorne. Sebut saja sekilas, tidak usah didalami.</a:t>
            </a:r>
          </a:p>
          <a:p/>
          <a:p>
            <a:r>
              <a:t>Baris terakhir adalah jembatan ke Modul 3 nanti. Pak Agus punya grup WhatsApp dengan bengkel — seluruh jalur komunikasi itu tidak akan muncul di log sistem mana pun. Simpan dulu, tapi ingat untuk menunjuk balik ke sini saat pembahasan kasus.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Butir kedua yang paling penting dan paling sulit dipercaya mahasiswa. Pakai analogi: coba jelaskan cara kamu mengikat tali sepatu, langkah demi langkah, tanpa memperagakan. Hampir semua orang gagal. Bukan karena tidak bisa mengikat, tapi karena keahlian yang sudah otomatis itu berhenti bisa diucapkan.</a:t>
            </a:r>
          </a:p>
          <a:p/>
          <a:p>
            <a:r>
              <a:t>Takeaway di slide ini adalah rumusan paling praktis sepanjang sesi. Minta mahasiswa menyalinnya.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Slide paling praktis di Modul 1. Mahasiswa akan memotretnya — beri waktu.</a:t>
            </a:r>
          </a:p>
          <a:p/>
          <a:p>
            <a:r>
              <a:t>Tunjukkan polanya, jangan cuma dibaca: keenamnya menanyakan kejadian konkret, bukan prosedur. Nomor 3 dan 4 adalah pembongkar workaround, dan itu langsung menyambung ke Slide 10.</a:t>
            </a:r>
          </a:p>
          <a:p/>
          <a:p>
            <a:r>
              <a:t>Kalau kelas masih segar, minta satu mahasiswa merumuskan pertanyaan ketujuh dengan pola yang sama. Bagus untuk mengetes apakah polanya sudah ketangkap.</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Sebut istilah cycle time sekali di sini, definisikan singkat: waktu dari kasus masuk sampai selesai, termasuk waktu menunggu. Istilah ini akan dipakai lagi di Pertemuan berikutnya.</a:t>
            </a:r>
          </a:p>
          <a:p/>
          <a:p>
            <a:r>
              <a:t>Hubungkan ke depan: nanti di kasus, Rina bilang tujuh hari, Dewi bilang rata rata dua minggu. Selisih itu hidup di jalur yang tidak mulus. Jangan bocorkan angkanya sekarang, cukup bilang “nanti kamu akan lihat sendiri selisihnya”.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SLIDE KUNCI. Ini yang akan dipanen di pembahasan kasus nanti — titik konflik nomor 8, harga minimum di pricelist. Tandai baik baik.</a:t>
            </a:r>
          </a:p>
          <a:p/>
          <a:p>
            <a:r>
              <a:t>Jangan beri contoh dari kasus klaim sekarang, itu akan merusak kejutannya. Pakai contoh netral: tombol yang harus diklik dua kali, kolom catatan yang dipakai menyimpan data yang tidak ada kolomnya, file Excel bayangan di samping sistem resmi.</a:t>
            </a:r>
          </a:p>
          <a:p/>
          <a:p>
            <a:r>
              <a:t>Kalimat yang layak diucapkan pelan pelan: pelakunya sendiri sudah menganggapnya normal. Itu sebabnya wawancara biasa tidak akan menemukannya — tidak ada yang merasa perlu menyebutkan hal yang normal.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SLIDE CADANGAN. Ini pangkasan pertama kalau kamu telat. Isinya berguna tapi bukan inti, dan tidak dipakai di tugas.</a:t>
            </a:r>
          </a:p>
          <a:p/>
          <a:p>
            <a:r>
              <a:t>Kalau sempat: syarat kedua lebih penting daripada angka empatnya. Empat orang dari satu lane yang sama tetap memberi satu sudut pandang. Dan orang yang menangani kasus gagal hampir selalu yang paling banyak tahu.</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Penutup Modul 1, sekaligus jembatan ke Modul 2. Tegaskan urutannya: gali dulu sampai tuntas, baru gambar.</a:t>
            </a:r>
          </a:p>
          <a:p/>
          <a:p>
            <a:r>
              <a:t>Ini juga pembenaran bentuk tugas mandiri nanti — yang dikumpulkan bukan cuma diagram, tapi juga tabel rekonsiliasi dan daftar pertanyaan lanjutan. Dua yang terakhir itu persis output discovery.</a:t>
            </a:r>
          </a:p>
          <a:p/>
          <a:p>
            <a:r>
              <a:t>Cek waktu di sini. Seharusnya menit ke-30.</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Ganti gigi di sini. Modul 1 diskusi, Modul 2 teknis dan padat. 25 menit untuk 10 slide, jadi jangan melebar.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Antisipasi keberatan yang pasti muncul: “di tempat saya pakai flowchart biasa juga jalan”. Jawabannya ada di kata berdebat.</a:t>
            </a:r>
          </a:p>
          <a:p/>
          <a:p>
            <a:r>
              <a:t>Model proses di industri terregulasi itu lampiran audit. Kalau notasinya ngawur, yang didebat jadi gambarnya, bukan prosesnya. Itu kerugian nyata, bukan soal kerapian.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Gambar di papan tulis bareng, jangan cuma tunjuk slide. Motorik membantu ingatan.</a:t>
            </a:r>
          </a:p>
          <a:p/>
          <a:p>
            <a:r>
              <a:t>Penekanan yang sering terlewat: tebal tipisnya lingkaran event itu bermakna, bukan hiasan. Start tipis, intermediate dobel, end tebal.</a:t>
            </a:r>
          </a:p>
          <a:p/>
          <a:p>
            <a:r>
              <a:t>Beda sequence flow dan message flow akan jadi kesalahan nomor 4 di Slide 19, jadi tanam sekarang: garis penuh di dalam pool, garis putus putus antar pool.</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Yang wajib dikuasai untuk tugas cuma XOR dan AND. Inclusive dan event-based cukup dikenali bentuknya.</a:t>
            </a:r>
          </a:p>
          <a:p/>
          <a:p>
            <a:r>
              <a:t>Cara menjelaskan cepat: XOR itu “atau”, AND itu “dan”, OR itu “satu atau lebih”, event-based itu “yang duluan datang menang”.</a:t>
            </a:r>
          </a:p>
          <a:p/>
          <a:p>
            <a:r>
              <a:t>Takeaway-nya wajib diulang. Di tugas, gateway tidak berpasangan langsung memotong nilai kriteria pertama.</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Pool itu satu organisasi atau satu pihak. Lane itu peran di dalamnya. Antar lane pakai sequence flow, antar pool wajib message flow.</a:t>
            </a:r>
          </a:p>
          <a:p/>
          <a:p>
            <a:r>
              <a:t>Takeaway slide ini yang paling sering bikin mahasiswa berhenti sejenak. Kebingungan menaruh aktivitas bukan kegagalan menggambar, itu temuan. Catat sebagai temuan, jangan dipaksa masuk salah satu lane.</a:t>
            </a:r>
          </a:p>
          <a:p/>
          <a:p>
            <a:r>
              <a:t>Struktur pool di gambar ini persis yang mereka butuhkan untuk tugas. Sebutkan itu terang terangan.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Terima laporan sampai jadwal survei. Telusuri jalur mulusnya dulu sampai habis, baru balik ke jalur eksepsinya.</a:t>
            </a:r>
          </a:p>
          <a:p/>
          <a:p>
            <a:r>
              <a:t>Tunjukkan bahwa jalur eksepsi cuma menambah dua elemen tapi menaikkan kejujuran model jauh lebih banyak. Itu argumen yang sama dengan Slide 9, sekarang dalam bentuk gambar.</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SLIDE INTERAKTIF. Jangan dibahas sendiri. Beri 3 menit, minta mahasiswa menemukan sendiri, baru dikumpulkan jawabannya.</a:t>
            </a:r>
          </a:p>
          <a:p/>
          <a:p>
            <a:r>
              <a:t>Lima kesalahan yang ditanam:</a:t>
            </a:r>
          </a:p>
          <a:p>
            <a:r>
              <a:t>1. Gateway dibuka pakai XOR, ditutup pakai AND.</a:t>
            </a:r>
          </a:p>
          <a:p>
            <a:r>
              <a:t>2. Ada end event tapi satu cabang menggantung tanpa penutup.</a:t>
            </a:r>
          </a:p>
          <a:p>
            <a:r>
              <a:t>3. Aktivitas ditulis kata benda. “Dokumen tagihan” seharusnya “Memeriksa dokumen tagihan”.</a:t>
            </a:r>
          </a:p>
          <a:p>
            <a:r>
              <a:t>4. Message flow dipakai di dalam satu pool.</a:t>
            </a:r>
          </a:p>
          <a:p>
            <a:r>
              <a:t>5. Cuma ada jalur disetujui, tidak ada jalur ditolak.</a:t>
            </a:r>
          </a:p>
          <a:p/>
          <a:p>
            <a:r>
              <a:t>Nomor 5 hampir selalu paling terakhir ditemukan, karena yang hilang memang lebih sulit dilihat daripada yang salah. Itu justru pesan yang mau kamu tanam — dan persis pesan Slide 28 nanti. Tunjuk balik ke sini waktu membahas lubang di kasus.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Pola yang hampir selalu ada di proses dokumen: berkas dikirim, diperiksa, tidak lengkap, dikembalikan, dilengkapi, diperiksa lagi.</a:t>
            </a:r>
          </a:p>
          <a:p/>
          <a:p>
            <a:r>
              <a:t>Di BPMN digambar sebagai gateway yang salah satu cabangnya balik ke aktivitas sebelumnya.</a:t>
            </a:r>
          </a:p>
          <a:p/>
          <a:p>
            <a:r>
              <a:t>Loop ini penyumbang waktu tunggu terbesar, dan hampir selalu lupa digambar. Di kasus nanti, Dewi menyebutnya terang terangan: bolak balik dua sampai tiga kali, paling sering Foto Epoxy kurang.</a:t>
            </a:r>
          </a:p>
          <a:p/>
          <a:p>
            <a:r>
              <a:t>Rework loop itu syarat wajib di tugas. Umumkan sekarang supaya tidak ada yang mengaku tidak tahu.</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SLIDE CADANGAN. Pangkasan kedua kalau telat.</a:t>
            </a:r>
          </a:p>
          <a:p/>
          <a:p>
            <a:r>
              <a:t>Kalau sempat, satu kalimat yang layak: tugas mereka ada di tingkat Analytical. Dan baris Executable itu jembatan ke seluruh sisa mata kuliah — di situlah agen akan bekerja nanti. Kalau kamu memangkas slide ini, ucapkan kalimat itu saja secara lisan di Slide 22.</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Lima nomor pertama cepat saja — semuanya sudah dibahas, ini cuma rekap. Habiskan waktu di nomor 6.</a:t>
            </a:r>
          </a:p>
          <a:p/>
          <a:p>
            <a:r>
              <a:t>Nomor 1 sampai 5 bisa ditemukan orang lain waktu mereview gambarmu. Nomor 6 tidak bisa, karena gambarnya kelihatan benar. Satu satunya yang bisa menemukannya adalah orang yang menjalankan prosesnya — dan dia biasanya tidak diundang ke rapat review.</a:t>
            </a:r>
          </a:p>
          <a:p/>
          <a:p>
            <a:r>
              <a:t>Ini persis jebakan yang akan mereka masuki di Modul 3. Ucapkan dengan nada seperti peringatan, lalu langsung pindah slide. Cek waktu: menit ke-55.</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BAGIKAN BAHAN KASUS SEKARANG, sebelum bicara apa apa. Satu set empat halaman per kelompok, plus glosarium satu per mahasiswa.</a:t>
            </a:r>
          </a:p>
          <a:p/>
          <a:p>
            <a:r>
              <a:t>Kalau sudah lewat menit 55, jangan bahas apa apa lagi — langsung bagi kelompok. Modul 3 adalah inti sesi; yang boleh dikorbankan itu Modul 1 dan 2, bukan ini.</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Sebutkan bahwa kasusnya fiktif — itu janji di silabus dan perlu ditepati terang terangan. Tapi sebutkan juga bahwa bentuk masalahnya nyata. Keduanya penting: yang pertama soal etika, yang kedua soal motivasi.</a:t>
            </a:r>
          </a:p>
          <a:p/>
          <a:p>
            <a:r>
              <a:t>Ingatkan glosarium ada di lembar terpisah. Mahasiswa TI tidak kenal istilah Risiko Sendiri, Foto Epoxy, atau Salvage, dan akan tersendat di situ kalau tidak diarahkan.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Baca nomor 5 dua kali. Itu yang membedakan kelompok yang mengerti dari yang sekadar rajin.</a:t>
            </a:r>
          </a:p>
          <a:p/>
          <a:p>
            <a:r>
              <a:t>Pasang timer yang kelihatan. 25 menit, dan tegas — kalau molor, sesi presentasi hilang dan seluruh panen pembelajaran ikut hilang.</a:t>
            </a:r>
          </a:p>
          <a:p/>
          <a:p>
            <a:r>
              <a:t>Keliling saat mereka kerja. Yang dicari: kelompok yang menggambar dokumen dan survei paralel (itu menghindari masalah, lihat Slide 27 nomor 2), dan kelompok yang sudah menyentuh soal taksiran ditolak nasabah. Yang kedua itu calon presenter terbaik.</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Rambu kedua yang sering disalahpahami. Tanda tanya di model bukan tanda menyerah — itu cara menandai bahwa informasinya memang belum ada. Analis yang menyembunyikan ketidaktahuan dengan menggambar sesuatu yang terlihat yakin justru lebih berbahaya.</a:t>
            </a:r>
          </a:p>
          <a:p/>
          <a:p>
            <a:r>
              <a:t>Larangan menelepon itu bukan kesulitan buatan. Di lapangan kamu memang sering harus menyerahkan draf sebelum semua narasumber bisa dihubungi ulang.</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JANGAN TAMPILKAN SEBELUM PRESENTASI SELESAI. Seluruh efeknya hilang kalau bocor duluan.</a:t>
            </a:r>
          </a:p>
          <a:p/>
          <a:p>
            <a:r>
              <a:t>Cara membawakannya: tampilkan satu per satu, dan setiap nomor tanyakan “ada yang begini tadi?”. Biasanya banyak yang mengangkat tangan, dan itu justru melegakan — mereka jadi tahu ini kesalahan yang wajar, bukan kebodohan pribadi.</a:t>
            </a:r>
          </a:p>
          <a:p/>
          <a:p>
            <a:r>
              <a:t>Nomor 4 ditahan paling akhir dan dibawakan paling pelan. Itu umpan untuk Slide 28.</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TITIK PUNCAK SESI. Pelankan tempo.</a:t>
            </a:r>
          </a:p>
          <a:p/>
          <a:p>
            <a:r>
              <a:t>Dua lubang yang tidak disebut siapa pun:</a:t>
            </a:r>
          </a:p>
          <a:p>
            <a:r>
              <a:t>— Utama: tidak ada satu pun sumber menjelaskan apa yang terjadi kalau nasabah menolak hasil taksiran. Dewi menyebut masalahnya, tapi waktu ditanya prosedurnya dia jawab tidak ada yang tertulis. SOP juga diam.</a:t>
            </a:r>
          </a:p>
          <a:p>
            <a:r>
              <a:t>— Lebih halus: tidak ada yang menjelaskan apa yang terjadi kalau surveyor dan akseptasi berbeda pendapat soal apakah kerusakan itu dijamin.</a:t>
            </a:r>
          </a:p>
          <a:p/>
          <a:p>
            <a:r>
              <a:t>Kalimat penutup yang menyambung ke seluruh mata kuliah: proses yang tidak terdefinisi itu persis tempat otomasi gagal. Bukan di bagian yang rumit, tapi di bagian yang tidak pernah ada yang memikirkannya.</a:t>
            </a:r>
          </a:p>
          <a:p/>
          <a:p>
            <a:r>
              <a:t>Jangan menambahkan apa apa setelah takeaway. Biarkan menggantung.</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Tiga kalimat, masing masing mewakili satu modul. Baca saja, jangan diperluas.</a:t>
            </a:r>
          </a:p>
          <a:p/>
          <a:p>
            <a:r>
              <a:t>Kalau mau satu sentuhan: tanya kelas mana dari ketiganya yang paling mengubah cara mereka berpikir hari ini. Tidak perlu dijawab keras, cukup dipikirkan.</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Tekankan kalimat kerja dua kali — itu insentif yang paling nyata buat mahasiswa, lebih dari bobot nilai.</a:t>
            </a:r>
          </a:p>
          <a:p/>
          <a:p>
            <a:r>
              <a:t>Sebutkan bahwa kriteria keempat rubrik, kepekaan terhadap yang kosong, yang paling membedakan. Tiga kriteria pertama hampir semua orang bisa kerjakan dengan baik.</a:t>
            </a:r>
          </a:p>
          <a:p/>
          <a:p>
            <a:r>
              <a:t>Ingatkan AI Usage Statement wajib, termasuk kalau tidak memakai AI sama sekali. Di mata kuliah ini itu bagian dari pelajaran, bukan formalitas administratif.</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Kartu Pikirkan itu umpan untuk Pertemuan 3 — decision model dan DMN. Tidak usah dijelaskan sekarang, biarkan jadi teka teki.</a:t>
            </a:r>
          </a:p>
          <a:p/>
          <a:p>
            <a:r>
              <a:t>Tutup tepat waktu. Sesi ini padat; menahan mahasiswa lewat menit ke-100 merusak kesan seluruh 100 menit sebelumnya.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7C86"/>
        </a:solidFill>
        <a:effectLst/>
      </p:bgPr>
    </p:bg>
    <p:spTree>
      <p:nvGrpSpPr>
        <p:cNvPr id="1" name=""/>
        <p:cNvGrpSpPr/>
        <p:nvPr/>
      </p:nvGrpSpPr>
      <p:grpSpPr/>
      <p:sp>
        <p:nvSpPr>
          <p:cNvPr id="2" name="Oval 1"/>
          <p:cNvSpPr/>
          <p:nvPr/>
        </p:nvSpPr>
        <p:spPr>
          <a:xfrm>
            <a:off x="9052560" y="-1371600"/>
            <a:ext cx="4754880" cy="475488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3200400"/>
            <a:ext cx="4023360" cy="4023360"/>
          </a:xfrm>
          <a:prstGeom prst="ellipse">
            <a:avLst/>
          </a:prstGeom>
          <a:solidFill>
            <a:srgbClr val="5B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4663440"/>
            <a:ext cx="3108960" cy="3108960"/>
          </a:xfrm>
          <a:prstGeom prst="ellipse">
            <a:avLst/>
          </a:prstGeom>
          <a:solidFill>
            <a:srgbClr val="2BA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561320" y="658368"/>
            <a:ext cx="1005840" cy="1005840"/>
          </a:xfrm>
          <a:prstGeom prst="ellipse">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993392"/>
            <a:ext cx="8229600" cy="292608"/>
          </a:xfrm>
          <a:prstGeom prst="rect">
            <a:avLst/>
          </a:prstGeom>
          <a:noFill/>
        </p:spPr>
        <p:txBody>
          <a:bodyPr wrap="square" lIns="0" tIns="0" rIns="0" bIns="0" anchor="t">
            <a:spAutoFit/>
          </a:bodyPr>
          <a:lstStyle/>
          <a:p>
            <a:pPr algn="l">
              <a:lnSpc>
                <a:spcPct val="100000"/>
              </a:lnSpc>
              <a:spcAft>
                <a:spcPts val="0"/>
              </a:spcAft>
            </a:pPr>
            <a:r>
              <a:rPr sz="1250" b="1" i="0">
                <a:solidFill>
                  <a:srgbClr val="AFE4E9"/>
                </a:solidFill>
                <a:latin typeface="Calibri" panose="020F0502020204030204"/>
              </a:rPr>
              <a:t>PERTEMUAN 2  |  AGENTIC CODING WITH AI</a:t>
            </a:r>
            <a:endParaRPr sz="1250" b="1" i="0">
              <a:solidFill>
                <a:srgbClr val="AFE4E9"/>
              </a:solidFill>
              <a:latin typeface="Calibri" panose="020F0502020204030204"/>
            </a:endParaRPr>
          </a:p>
        </p:txBody>
      </p:sp>
      <p:sp>
        <p:nvSpPr>
          <p:cNvPr id="7" name="TextBox 6"/>
          <p:cNvSpPr txBox="1"/>
          <p:nvPr/>
        </p:nvSpPr>
        <p:spPr>
          <a:xfrm>
            <a:off x="658368" y="2395728"/>
            <a:ext cx="8686800" cy="822960"/>
          </a:xfrm>
          <a:prstGeom prst="rect">
            <a:avLst/>
          </a:prstGeom>
          <a:noFill/>
        </p:spPr>
        <p:txBody>
          <a:bodyPr wrap="square" lIns="0" tIns="0" rIns="0" bIns="0" anchor="t">
            <a:spAutoFit/>
          </a:bodyPr>
          <a:lstStyle/>
          <a:p>
            <a:pPr algn="l">
              <a:lnSpc>
                <a:spcPct val="100000"/>
              </a:lnSpc>
              <a:spcAft>
                <a:spcPts val="0"/>
              </a:spcAft>
            </a:pPr>
            <a:r>
              <a:rPr sz="4600" b="1" i="0">
                <a:solidFill>
                  <a:srgbClr val="FFFFFF"/>
                </a:solidFill>
                <a:latin typeface="Calibri" panose="020F0502020204030204"/>
              </a:rPr>
              <a:t>Process Discovery dan</a:t>
            </a:r>
            <a:endParaRPr sz="4600" b="1" i="0">
              <a:solidFill>
                <a:srgbClr val="FFFFFF"/>
              </a:solidFill>
              <a:latin typeface="Calibri" panose="020F0502020204030204"/>
            </a:endParaRPr>
          </a:p>
        </p:txBody>
      </p:sp>
      <p:sp>
        <p:nvSpPr>
          <p:cNvPr id="8" name="TextBox 7"/>
          <p:cNvSpPr txBox="1"/>
          <p:nvPr/>
        </p:nvSpPr>
        <p:spPr>
          <a:xfrm>
            <a:off x="658368" y="3127248"/>
            <a:ext cx="8686800" cy="822960"/>
          </a:xfrm>
          <a:prstGeom prst="rect">
            <a:avLst/>
          </a:prstGeom>
          <a:noFill/>
        </p:spPr>
        <p:txBody>
          <a:bodyPr wrap="square" lIns="0" tIns="0" rIns="0" bIns="0" anchor="t">
            <a:spAutoFit/>
          </a:bodyPr>
          <a:lstStyle/>
          <a:p>
            <a:pPr algn="l">
              <a:lnSpc>
                <a:spcPct val="100000"/>
              </a:lnSpc>
              <a:spcAft>
                <a:spcPts val="0"/>
              </a:spcAft>
            </a:pPr>
            <a:r>
              <a:rPr sz="4600" b="1" i="0">
                <a:solidFill>
                  <a:srgbClr val="FFFFFF"/>
                </a:solidFill>
                <a:latin typeface="Calibri" panose="020F0502020204030204"/>
              </a:rPr>
              <a:t>Pemodelan BPMN 2.0</a:t>
            </a:r>
            <a:endParaRPr sz="4600" b="1" i="0">
              <a:solidFill>
                <a:srgbClr val="FFFFFF"/>
              </a:solidFill>
              <a:latin typeface="Calibri" panose="020F0502020204030204"/>
            </a:endParaRPr>
          </a:p>
        </p:txBody>
      </p:sp>
      <p:sp>
        <p:nvSpPr>
          <p:cNvPr id="9" name="TextBox 8"/>
          <p:cNvSpPr txBox="1"/>
          <p:nvPr/>
        </p:nvSpPr>
        <p:spPr>
          <a:xfrm>
            <a:off x="658368" y="4114800"/>
            <a:ext cx="8046720" cy="548640"/>
          </a:xfrm>
          <a:prstGeom prst="rect">
            <a:avLst/>
          </a:prstGeom>
          <a:noFill/>
        </p:spPr>
        <p:txBody>
          <a:bodyPr wrap="square" lIns="0" tIns="0" rIns="0" bIns="0" anchor="t">
            <a:spAutoFit/>
          </a:bodyPr>
          <a:lstStyle/>
          <a:p>
            <a:pPr algn="l">
              <a:lnSpc>
                <a:spcPct val="120000"/>
              </a:lnSpc>
              <a:spcAft>
                <a:spcPts val="0"/>
              </a:spcAft>
            </a:pPr>
            <a:r>
              <a:rPr sz="1600" b="0" i="0">
                <a:solidFill>
                  <a:srgbClr val="AFE4E9"/>
                </a:solidFill>
                <a:latin typeface="Calibri" panose="020F0502020204030204"/>
              </a:rPr>
              <a:t>Proses yang kamu gambar belum tentu proses yang benar benar terjadi.</a:t>
            </a:r>
            <a:endParaRPr sz="1600" b="0" i="0">
              <a:solidFill>
                <a:srgbClr val="AFE4E9"/>
              </a:solidFill>
              <a:latin typeface="Calibri" panose="020F0502020204030204"/>
            </a:endParaRPr>
          </a:p>
        </p:txBody>
      </p:sp>
      <p:sp>
        <p:nvSpPr>
          <p:cNvPr id="10" name="TextBox 9"/>
          <p:cNvSpPr txBox="1"/>
          <p:nvPr/>
        </p:nvSpPr>
        <p:spPr>
          <a:xfrm>
            <a:off x="658368" y="5074920"/>
            <a:ext cx="8229600" cy="320040"/>
          </a:xfrm>
          <a:prstGeom prst="rect">
            <a:avLst/>
          </a:prstGeom>
          <a:noFill/>
        </p:spPr>
        <p:txBody>
          <a:bodyPr wrap="square" lIns="0" tIns="0" rIns="0" bIns="0" anchor="t">
            <a:spAutoFit/>
          </a:bodyPr>
          <a:lstStyle/>
          <a:p>
            <a:pPr algn="l">
              <a:lnSpc>
                <a:spcPct val="100000"/>
              </a:lnSpc>
              <a:spcAft>
                <a:spcPts val="0"/>
              </a:spcAft>
            </a:pPr>
            <a:r>
              <a:rPr sz="1250" b="0" i="0">
                <a:solidFill>
                  <a:srgbClr val="AFE4E9"/>
                </a:solidFill>
                <a:latin typeface="Calibri" panose="020F0502020204030204"/>
              </a:rPr>
              <a:t>Untuk Mahasiswa Informatika  Universitas Kristen Satya Wacana</a:t>
            </a:r>
            <a:endParaRPr sz="1250" b="0" i="0">
              <a:solidFill>
                <a:srgbClr val="AFE4E9"/>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BALIK KE MINGGU LALU</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Balik ke pertanyaan minggu lalu</a:t>
            </a:r>
            <a:endParaRPr sz="3000" b="1" i="0">
              <a:solidFill>
                <a:srgbClr val="1B2733"/>
              </a:solidFill>
              <a:latin typeface="Calibri" panose="020F0502020204030204"/>
            </a:endParaRP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tIns="0" rIns="0" bIns="0" anchor="t">
            <a:spAutoFit/>
          </a:bodyPr>
          <a:lstStyle/>
          <a:p>
            <a:pPr algn="l">
              <a:lnSpc>
                <a:spcPct val="118000"/>
              </a:lnSpc>
              <a:spcAft>
                <a:spcPts val="0"/>
              </a:spcAft>
            </a:pPr>
            <a:r>
              <a:rPr sz="1350" b="1" i="0">
                <a:solidFill>
                  <a:srgbClr val="1B2733"/>
                </a:solidFill>
                <a:latin typeface="Calibri" panose="020F0502020204030204"/>
              </a:rPr>
              <a:t>Jawaban yang paling sering, dan paling salah, adalah dari SOP.</a:t>
            </a:r>
            <a:endParaRPr sz="1350" b="1" i="0">
              <a:solidFill>
                <a:srgbClr val="1B2733"/>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2</a:t>
            </a:r>
            <a:endParaRPr sz="850" b="0" i="0">
              <a:solidFill>
                <a:srgbClr val="8A96A3"/>
              </a:solidFill>
              <a:latin typeface="Calibri" panose="020F0502020204030204"/>
            </a:endParaRPr>
          </a:p>
        </p:txBody>
      </p:sp>
      <p:sp>
        <p:nvSpPr>
          <p:cNvPr id="8" name="Rectangle 7"/>
          <p:cNvSpPr/>
          <p:nvPr/>
        </p:nvSpPr>
        <p:spPr>
          <a:xfrm>
            <a:off x="658368" y="2514600"/>
            <a:ext cx="10875264" cy="105156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2624328"/>
            <a:ext cx="9960864" cy="832103"/>
          </a:xfrm>
          <a:prstGeom prst="rect">
            <a:avLst/>
          </a:prstGeom>
          <a:noFill/>
        </p:spPr>
        <p:txBody>
          <a:bodyPr wrap="square" lIns="0" tIns="0" rIns="0" bIns="0" anchor="ctr">
            <a:spAutoFit/>
          </a:bodyPr>
          <a:lstStyle/>
          <a:p>
            <a:pPr algn="l">
              <a:lnSpc>
                <a:spcPct val="118000"/>
              </a:lnSpc>
              <a:spcAft>
                <a:spcPts val="0"/>
              </a:spcAft>
            </a:pPr>
            <a:r>
              <a:rPr sz="2000" b="1" i="0">
                <a:solidFill>
                  <a:srgbClr val="FFFFFF"/>
                </a:solidFill>
                <a:latin typeface="Calibri" panose="020F0502020204030204"/>
              </a:rPr>
              <a:t>Kalau begitu, dari mana kamu tahu prosesnya seperti apa?</a:t>
            </a:r>
            <a:endParaRPr sz="2000" b="1" i="0">
              <a:solidFill>
                <a:srgbClr val="FFFFFF"/>
              </a:solidFill>
              <a:latin typeface="Calibri" panose="020F0502020204030204"/>
            </a:endParaRPr>
          </a:p>
        </p:txBody>
      </p:sp>
      <p:sp>
        <p:nvSpPr>
          <p:cNvPr id="10" name="TextBox 9"/>
          <p:cNvSpPr txBox="1"/>
          <p:nvPr/>
        </p:nvSpPr>
        <p:spPr>
          <a:xfrm>
            <a:off x="658368" y="3877056"/>
            <a:ext cx="9352727" cy="585216"/>
          </a:xfrm>
          <a:prstGeom prst="rect">
            <a:avLst/>
          </a:prstGeom>
          <a:noFill/>
        </p:spPr>
        <p:txBody>
          <a:bodyPr wrap="square" lIns="0" tIns="0" rIns="0" bIns="0" anchor="t">
            <a:spAutoFit/>
          </a:bodyPr>
          <a:lstStyle/>
          <a:p>
            <a:pPr algn="l">
              <a:lnSpc>
                <a:spcPct val="135000"/>
              </a:lnSpc>
              <a:spcAft>
                <a:spcPts val="1200"/>
              </a:spcAft>
            </a:pPr>
            <a:r>
              <a:rPr sz="1500" b="0" i="0">
                <a:solidFill>
                  <a:srgbClr val="5A6672"/>
                </a:solidFill>
                <a:latin typeface="Calibri" panose="020F0502020204030204"/>
              </a:rPr>
              <a:t>Minggu lalu kita sepakat: proses itu yang kita analisis, bukan aplikasinya.</a:t>
            </a:r>
            <a:endParaRPr sz="1500" b="0" i="0">
              <a:solidFill>
                <a:srgbClr val="5A6672"/>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KONSEP KUNCI</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Tiga versi dari satu proses yang sama</a:t>
            </a:r>
            <a:endParaRPr sz="3000" b="1" i="0">
              <a:solidFill>
                <a:srgbClr val="1B2733"/>
              </a:solidFill>
              <a:latin typeface="Calibri" panose="020F0502020204030204"/>
            </a:endParaRP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tIns="0" rIns="0" bIns="0" anchor="t">
            <a:spAutoFit/>
          </a:bodyPr>
          <a:lstStyle/>
          <a:p>
            <a:pPr algn="l">
              <a:lnSpc>
                <a:spcPct val="118000"/>
              </a:lnSpc>
              <a:spcAft>
                <a:spcPts val="0"/>
              </a:spcAft>
            </a:pPr>
            <a:r>
              <a:rPr sz="1350" b="1" i="0">
                <a:solidFill>
                  <a:srgbClr val="1B2733"/>
                </a:solidFill>
                <a:latin typeface="Calibri" panose="020F0502020204030204"/>
              </a:rPr>
              <a:t>Discovery itu kerja mendamaikan ketiganya, bukan menyalin salah satunya.</a:t>
            </a:r>
            <a:endParaRPr sz="1350" b="1" i="0">
              <a:solidFill>
                <a:srgbClr val="1B2733"/>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3</a:t>
            </a:r>
            <a:endParaRPr sz="850" b="0" i="0">
              <a:solidFill>
                <a:srgbClr val="8A96A3"/>
              </a:solidFill>
              <a:latin typeface="Calibri" panose="020F0502020204030204"/>
            </a:endParaRPr>
          </a:p>
        </p:txBody>
      </p:sp>
      <p:sp>
        <p:nvSpPr>
          <p:cNvPr id="8" name="Rectangle 7"/>
          <p:cNvSpPr/>
          <p:nvPr/>
        </p:nvSpPr>
        <p:spPr>
          <a:xfrm>
            <a:off x="658368" y="2473452"/>
            <a:ext cx="3442208" cy="1719072"/>
          </a:xfrm>
          <a:prstGeom prst="rect">
            <a:avLst/>
          </a:prstGeom>
          <a:solidFill>
            <a:srgbClr val="EC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2711196"/>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66060"/>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1</a:t>
            </a:r>
            <a:endParaRPr sz="1200" b="1" i="0">
              <a:solidFill>
                <a:srgbClr val="FFFFFF"/>
              </a:solidFill>
              <a:latin typeface="Calibri" panose="020F0502020204030204"/>
            </a:endParaRPr>
          </a:p>
        </p:txBody>
      </p:sp>
      <p:sp>
        <p:nvSpPr>
          <p:cNvPr id="11" name="TextBox 10"/>
          <p:cNvSpPr txBox="1"/>
          <p:nvPr/>
        </p:nvSpPr>
        <p:spPr>
          <a:xfrm>
            <a:off x="1371600" y="2747772"/>
            <a:ext cx="2527808" cy="310896"/>
          </a:xfrm>
          <a:prstGeom prst="rect">
            <a:avLst/>
          </a:prstGeom>
          <a:noFill/>
        </p:spPr>
        <p:txBody>
          <a:bodyPr wrap="square" lIns="0" tIns="0" rIns="0" bIns="0" anchor="t">
            <a:spAutoFit/>
          </a:bodyPr>
          <a:lstStyle/>
          <a:p>
            <a:pPr algn="l">
              <a:lnSpc>
                <a:spcPct val="105000"/>
              </a:lnSpc>
              <a:spcAft>
                <a:spcPts val="0"/>
              </a:spcAft>
            </a:pPr>
            <a:r>
              <a:rPr sz="1600" b="1" i="0">
                <a:solidFill>
                  <a:srgbClr val="1B2733"/>
                </a:solidFill>
                <a:latin typeface="Calibri" panose="020F0502020204030204"/>
              </a:rPr>
              <a:t>Yang didokumentasikan</a:t>
            </a:r>
            <a:endParaRPr sz="1600" b="1" i="0">
              <a:solidFill>
                <a:srgbClr val="1B2733"/>
              </a:solidFill>
              <a:latin typeface="Calibri" panose="020F0502020204030204"/>
            </a:endParaRPr>
          </a:p>
        </p:txBody>
      </p:sp>
      <p:sp>
        <p:nvSpPr>
          <p:cNvPr id="12" name="TextBox 11"/>
          <p:cNvSpPr txBox="1"/>
          <p:nvPr/>
        </p:nvSpPr>
        <p:spPr>
          <a:xfrm>
            <a:off x="914400" y="3204972"/>
            <a:ext cx="2930144" cy="804672"/>
          </a:xfrm>
          <a:prstGeom prst="rect">
            <a:avLst/>
          </a:prstGeom>
          <a:noFill/>
        </p:spPr>
        <p:txBody>
          <a:bodyPr wrap="square" lIns="0" tIns="0" rIns="0" bIns="0" anchor="t">
            <a:spAutoFit/>
          </a:bodyPr>
          <a:lstStyle/>
          <a:p>
            <a:pPr algn="l">
              <a:lnSpc>
                <a:spcPct val="132000"/>
              </a:lnSpc>
              <a:spcAft>
                <a:spcPts val="0"/>
              </a:spcAft>
            </a:pPr>
            <a:r>
              <a:rPr sz="1250" b="0" i="0">
                <a:solidFill>
                  <a:srgbClr val="5A6672"/>
                </a:solidFill>
                <a:latin typeface="Calibri" panose="020F0502020204030204"/>
              </a:rPr>
              <a:t>Ada di SOP dan flowchart. Rapi, tapi sering ketinggalan zaman.</a:t>
            </a:r>
            <a:endParaRPr sz="1250" b="0" i="0">
              <a:solidFill>
                <a:srgbClr val="5A6672"/>
              </a:solidFill>
              <a:latin typeface="Calibri" panose="020F0502020204030204"/>
            </a:endParaRPr>
          </a:p>
        </p:txBody>
      </p:sp>
      <p:sp>
        <p:nvSpPr>
          <p:cNvPr id="13" name="Rectangle 12"/>
          <p:cNvSpPr/>
          <p:nvPr/>
        </p:nvSpPr>
        <p:spPr>
          <a:xfrm>
            <a:off x="4374896" y="2473452"/>
            <a:ext cx="3442208" cy="1719072"/>
          </a:xfrm>
          <a:prstGeom prst="rect">
            <a:avLst/>
          </a:prstGeom>
          <a:solidFill>
            <a:srgbClr val="ED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30928" y="2711196"/>
            <a:ext cx="365760" cy="36576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30928" y="2766060"/>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2</a:t>
            </a:r>
            <a:endParaRPr sz="1200" b="1" i="0">
              <a:solidFill>
                <a:srgbClr val="FFFFFF"/>
              </a:solidFill>
              <a:latin typeface="Calibri" panose="020F0502020204030204"/>
            </a:endParaRPr>
          </a:p>
        </p:txBody>
      </p:sp>
      <p:sp>
        <p:nvSpPr>
          <p:cNvPr id="16" name="TextBox 15"/>
          <p:cNvSpPr txBox="1"/>
          <p:nvPr/>
        </p:nvSpPr>
        <p:spPr>
          <a:xfrm>
            <a:off x="5088128" y="2747772"/>
            <a:ext cx="2527808" cy="310896"/>
          </a:xfrm>
          <a:prstGeom prst="rect">
            <a:avLst/>
          </a:prstGeom>
          <a:noFill/>
        </p:spPr>
        <p:txBody>
          <a:bodyPr wrap="square" lIns="0" tIns="0" rIns="0" bIns="0" anchor="t">
            <a:spAutoFit/>
          </a:bodyPr>
          <a:lstStyle/>
          <a:p>
            <a:pPr algn="l">
              <a:lnSpc>
                <a:spcPct val="105000"/>
              </a:lnSpc>
              <a:spcAft>
                <a:spcPts val="0"/>
              </a:spcAft>
            </a:pPr>
            <a:r>
              <a:rPr sz="1600" b="1" i="0">
                <a:solidFill>
                  <a:srgbClr val="1B2733"/>
                </a:solidFill>
                <a:latin typeface="Calibri" panose="020F0502020204030204"/>
              </a:rPr>
              <a:t>Yang diyakini</a:t>
            </a:r>
            <a:endParaRPr sz="1600" b="1" i="0">
              <a:solidFill>
                <a:srgbClr val="1B2733"/>
              </a:solidFill>
              <a:latin typeface="Calibri" panose="020F0502020204030204"/>
            </a:endParaRPr>
          </a:p>
        </p:txBody>
      </p:sp>
      <p:sp>
        <p:nvSpPr>
          <p:cNvPr id="17" name="TextBox 16"/>
          <p:cNvSpPr txBox="1"/>
          <p:nvPr/>
        </p:nvSpPr>
        <p:spPr>
          <a:xfrm>
            <a:off x="4630928" y="3204972"/>
            <a:ext cx="2930144" cy="804672"/>
          </a:xfrm>
          <a:prstGeom prst="rect">
            <a:avLst/>
          </a:prstGeom>
          <a:noFill/>
        </p:spPr>
        <p:txBody>
          <a:bodyPr wrap="square" lIns="0" tIns="0" rIns="0" bIns="0" anchor="t">
            <a:spAutoFit/>
          </a:bodyPr>
          <a:lstStyle/>
          <a:p>
            <a:pPr algn="l">
              <a:lnSpc>
                <a:spcPct val="132000"/>
              </a:lnSpc>
              <a:spcAft>
                <a:spcPts val="0"/>
              </a:spcAft>
            </a:pPr>
            <a:r>
              <a:rPr sz="1250" b="0" i="0">
                <a:solidFill>
                  <a:srgbClr val="5A6672"/>
                </a:solidFill>
                <a:latin typeface="Calibri" panose="020F0502020204030204"/>
              </a:rPr>
              <a:t>Ada di kepala orang. Tiap orang punya versi berbeda, dan semuanya merasa benar.</a:t>
            </a:r>
            <a:endParaRPr sz="1250" b="0" i="0">
              <a:solidFill>
                <a:srgbClr val="5A6672"/>
              </a:solidFill>
              <a:latin typeface="Calibri" panose="020F0502020204030204"/>
            </a:endParaRPr>
          </a:p>
        </p:txBody>
      </p:sp>
      <p:sp>
        <p:nvSpPr>
          <p:cNvPr id="18" name="Rectangle 17"/>
          <p:cNvSpPr/>
          <p:nvPr/>
        </p:nvSpPr>
        <p:spPr>
          <a:xfrm>
            <a:off x="8091424" y="2473452"/>
            <a:ext cx="3442208" cy="1719072"/>
          </a:xfrm>
          <a:prstGeom prst="rect">
            <a:avLst/>
          </a:prstGeom>
          <a:solidFill>
            <a:srgbClr val="F3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47456" y="2711196"/>
            <a:ext cx="365760" cy="365760"/>
          </a:xfrm>
          <a:prstGeom prst="ellipse">
            <a:avLst/>
          </a:prstGeom>
          <a:solidFill>
            <a:srgbClr val="5B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47456" y="2766060"/>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3</a:t>
            </a:r>
            <a:endParaRPr sz="1200" b="1" i="0">
              <a:solidFill>
                <a:srgbClr val="FFFFFF"/>
              </a:solidFill>
              <a:latin typeface="Calibri" panose="020F0502020204030204"/>
            </a:endParaRPr>
          </a:p>
        </p:txBody>
      </p:sp>
      <p:sp>
        <p:nvSpPr>
          <p:cNvPr id="21" name="TextBox 20"/>
          <p:cNvSpPr txBox="1"/>
          <p:nvPr/>
        </p:nvSpPr>
        <p:spPr>
          <a:xfrm>
            <a:off x="8804656" y="2747772"/>
            <a:ext cx="2527808" cy="310896"/>
          </a:xfrm>
          <a:prstGeom prst="rect">
            <a:avLst/>
          </a:prstGeom>
          <a:noFill/>
        </p:spPr>
        <p:txBody>
          <a:bodyPr wrap="square" lIns="0" tIns="0" rIns="0" bIns="0" anchor="t">
            <a:spAutoFit/>
          </a:bodyPr>
          <a:lstStyle/>
          <a:p>
            <a:pPr algn="l">
              <a:lnSpc>
                <a:spcPct val="105000"/>
              </a:lnSpc>
              <a:spcAft>
                <a:spcPts val="0"/>
              </a:spcAft>
            </a:pPr>
            <a:r>
              <a:rPr sz="1600" b="1" i="0">
                <a:solidFill>
                  <a:srgbClr val="1B2733"/>
                </a:solidFill>
                <a:latin typeface="Calibri" panose="020F0502020204030204"/>
              </a:rPr>
              <a:t>Yang benar benar terjadi</a:t>
            </a:r>
            <a:endParaRPr sz="1600" b="1" i="0">
              <a:solidFill>
                <a:srgbClr val="1B2733"/>
              </a:solidFill>
              <a:latin typeface="Calibri" panose="020F0502020204030204"/>
            </a:endParaRPr>
          </a:p>
        </p:txBody>
      </p:sp>
      <p:sp>
        <p:nvSpPr>
          <p:cNvPr id="22" name="TextBox 21"/>
          <p:cNvSpPr txBox="1"/>
          <p:nvPr/>
        </p:nvSpPr>
        <p:spPr>
          <a:xfrm>
            <a:off x="8347456" y="3204972"/>
            <a:ext cx="2930144" cy="804672"/>
          </a:xfrm>
          <a:prstGeom prst="rect">
            <a:avLst/>
          </a:prstGeom>
          <a:noFill/>
        </p:spPr>
        <p:txBody>
          <a:bodyPr wrap="square" lIns="0" tIns="0" rIns="0" bIns="0" anchor="t">
            <a:spAutoFit/>
          </a:bodyPr>
          <a:lstStyle/>
          <a:p>
            <a:pPr algn="l">
              <a:lnSpc>
                <a:spcPct val="132000"/>
              </a:lnSpc>
              <a:spcAft>
                <a:spcPts val="0"/>
              </a:spcAft>
            </a:pPr>
            <a:r>
              <a:rPr sz="1250" b="0" i="0">
                <a:solidFill>
                  <a:srgbClr val="5A6672"/>
                </a:solidFill>
                <a:latin typeface="Calibri" panose="020F0502020204030204"/>
              </a:rPr>
              <a:t>Ada di log sistem dan di lapangan. Paling berantakan, dan paling jujur.</a:t>
            </a:r>
            <a:endParaRPr sz="1250" b="0" i="0">
              <a:solidFill>
                <a:srgbClr val="5A6672"/>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PETA SESI</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Apa yang kita kerjakan hari ini</a:t>
            </a:r>
            <a:endParaRPr sz="3000" b="1" i="0">
              <a:solidFill>
                <a:srgbClr val="1B2733"/>
              </a:solidFill>
              <a:latin typeface="Calibri" panose="020F0502020204030204"/>
            </a:endParaRP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tIns="0" rIns="0" bIns="0" anchor="t">
            <a:spAutoFit/>
          </a:bodyPr>
          <a:lstStyle/>
          <a:p>
            <a:pPr algn="l">
              <a:lnSpc>
                <a:spcPct val="118000"/>
              </a:lnSpc>
              <a:spcAft>
                <a:spcPts val="0"/>
              </a:spcAft>
            </a:pPr>
            <a:r>
              <a:rPr sz="1350" b="1" i="0">
                <a:solidFill>
                  <a:srgbClr val="1B2733"/>
                </a:solidFill>
                <a:latin typeface="Calibri" panose="020F0502020204030204"/>
              </a:rPr>
              <a:t>Di akhir sesi kamu punya draf model BPMN proses klaim kendaraan.</a:t>
            </a:r>
            <a:endParaRPr sz="1350" b="1" i="0">
              <a:solidFill>
                <a:srgbClr val="1B2733"/>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4</a:t>
            </a:r>
            <a:endParaRPr sz="850" b="0" i="0">
              <a:solidFill>
                <a:srgbClr val="8A96A3"/>
              </a:solidFill>
              <a:latin typeface="Calibri" panose="020F0502020204030204"/>
            </a:endParaRPr>
          </a:p>
        </p:txBody>
      </p:sp>
      <p:sp>
        <p:nvSpPr>
          <p:cNvPr id="8" name="Oval 7"/>
          <p:cNvSpPr/>
          <p:nvPr/>
        </p:nvSpPr>
        <p:spPr>
          <a:xfrm>
            <a:off x="704088" y="2427732"/>
            <a:ext cx="118872" cy="11887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281428"/>
            <a:ext cx="10509504" cy="420623"/>
          </a:xfrm>
          <a:prstGeom prst="rect">
            <a:avLst/>
          </a:prstGeom>
          <a:noFill/>
        </p:spPr>
        <p:txBody>
          <a:bodyPr wrap="square" lIns="0" tIns="0" rIns="0" bIns="0" anchor="t">
            <a:spAutoFit/>
          </a:bodyPr>
          <a:lstStyle/>
          <a:p>
            <a:pPr algn="l">
              <a:lnSpc>
                <a:spcPct val="130000"/>
              </a:lnSpc>
              <a:spcAft>
                <a:spcPts val="0"/>
              </a:spcAft>
            </a:pPr>
            <a:r>
              <a:rPr sz="1500" b="0" i="0">
                <a:solidFill>
                  <a:srgbClr val="1B2733"/>
                </a:solidFill>
                <a:latin typeface="Calibri" panose="020F0502020204030204"/>
              </a:rPr>
              <a:t>Modul 1 — Menggali. Empat teknik discovery dan bias masing masing.</a:t>
            </a:r>
            <a:endParaRPr sz="1500" b="0" i="0">
              <a:solidFill>
                <a:srgbClr val="1B2733"/>
              </a:solidFill>
              <a:latin typeface="Calibri" panose="020F0502020204030204"/>
            </a:endParaRPr>
          </a:p>
        </p:txBody>
      </p:sp>
      <p:sp>
        <p:nvSpPr>
          <p:cNvPr id="10" name="Oval 9"/>
          <p:cNvSpPr/>
          <p:nvPr/>
        </p:nvSpPr>
        <p:spPr>
          <a:xfrm>
            <a:off x="704088" y="3268980"/>
            <a:ext cx="118872" cy="11887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3122676"/>
            <a:ext cx="10509504" cy="420623"/>
          </a:xfrm>
          <a:prstGeom prst="rect">
            <a:avLst/>
          </a:prstGeom>
          <a:noFill/>
        </p:spPr>
        <p:txBody>
          <a:bodyPr wrap="square" lIns="0" tIns="0" rIns="0" bIns="0" anchor="t">
            <a:spAutoFit/>
          </a:bodyPr>
          <a:lstStyle/>
          <a:p>
            <a:pPr algn="l">
              <a:lnSpc>
                <a:spcPct val="130000"/>
              </a:lnSpc>
              <a:spcAft>
                <a:spcPts val="0"/>
              </a:spcAft>
            </a:pPr>
            <a:r>
              <a:rPr sz="1500" b="0" i="0">
                <a:solidFill>
                  <a:srgbClr val="1B2733"/>
                </a:solidFill>
                <a:latin typeface="Calibri" panose="020F0502020204030204"/>
              </a:rPr>
              <a:t>Modul 2 — Menggambar. Notasi BPMN 2.0 secukupnya untuk dipakai kerja.</a:t>
            </a:r>
            <a:endParaRPr sz="1500" b="0" i="0">
              <a:solidFill>
                <a:srgbClr val="1B2733"/>
              </a:solidFill>
              <a:latin typeface="Calibri" panose="020F0502020204030204"/>
            </a:endParaRPr>
          </a:p>
        </p:txBody>
      </p:sp>
      <p:sp>
        <p:nvSpPr>
          <p:cNvPr id="12" name="Oval 11"/>
          <p:cNvSpPr/>
          <p:nvPr/>
        </p:nvSpPr>
        <p:spPr>
          <a:xfrm>
            <a:off x="704088" y="4110228"/>
            <a:ext cx="118872" cy="11887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3963924"/>
            <a:ext cx="10509504" cy="420623"/>
          </a:xfrm>
          <a:prstGeom prst="rect">
            <a:avLst/>
          </a:prstGeom>
          <a:noFill/>
        </p:spPr>
        <p:txBody>
          <a:bodyPr wrap="square" lIns="0" tIns="0" rIns="0" bIns="0" anchor="t">
            <a:spAutoFit/>
          </a:bodyPr>
          <a:lstStyle/>
          <a:p>
            <a:pPr algn="l">
              <a:lnSpc>
                <a:spcPct val="130000"/>
              </a:lnSpc>
              <a:spcAft>
                <a:spcPts val="0"/>
              </a:spcAft>
            </a:pPr>
            <a:r>
              <a:rPr sz="1500" b="0" i="0">
                <a:solidFill>
                  <a:srgbClr val="1B2733"/>
                </a:solidFill>
                <a:latin typeface="Calibri" panose="020F0502020204030204"/>
              </a:rPr>
              <a:t>Modul 3 — Mendamaikan. Latihan dengan empat sumber yang saling bertentangan.</a:t>
            </a:r>
            <a:endParaRPr sz="1500" b="0" i="0">
              <a:solidFill>
                <a:srgbClr val="1B2733"/>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E7C86"/>
        </a:solidFill>
        <a:effectLst/>
      </p:bgPr>
    </p:bg>
    <p:spTree>
      <p:nvGrpSpPr>
        <p:cNvPr id="1" name=""/>
        <p:cNvGrpSpPr/>
        <p:nvPr/>
      </p:nvGrpSpPr>
      <p:grpSpPr/>
      <p:sp>
        <p:nvSpPr>
          <p:cNvPr id="2" name="Oval 1"/>
          <p:cNvSpPr/>
          <p:nvPr/>
        </p:nvSpPr>
        <p:spPr>
          <a:xfrm>
            <a:off x="9601200" y="-1097280"/>
            <a:ext cx="4023360" cy="402336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41280" y="3840480"/>
            <a:ext cx="3291840" cy="3291840"/>
          </a:xfrm>
          <a:prstGeom prst="ellipse">
            <a:avLst/>
          </a:prstGeom>
          <a:solidFill>
            <a:srgbClr val="5B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0"/>
            <a:ext cx="5486400" cy="320040"/>
          </a:xfrm>
          <a:prstGeom prst="rect">
            <a:avLst/>
          </a:prstGeom>
          <a:noFill/>
        </p:spPr>
        <p:txBody>
          <a:bodyPr wrap="square" lIns="0" tIns="0" rIns="0" bIns="0" anchor="t">
            <a:spAutoFit/>
          </a:bodyPr>
          <a:lstStyle/>
          <a:p>
            <a:pPr algn="l">
              <a:lnSpc>
                <a:spcPct val="100000"/>
              </a:lnSpc>
              <a:spcAft>
                <a:spcPts val="0"/>
              </a:spcAft>
            </a:pPr>
            <a:r>
              <a:rPr sz="1300" b="1" i="0">
                <a:solidFill>
                  <a:srgbClr val="AFE4E9"/>
                </a:solidFill>
                <a:latin typeface="Calibri" panose="020F0502020204030204"/>
              </a:rPr>
              <a:t>MODUL 1</a:t>
            </a:r>
            <a:endParaRPr sz="1300" b="1" i="0">
              <a:solidFill>
                <a:srgbClr val="AFE4E9"/>
              </a:solidFill>
              <a:latin typeface="Calibri" panose="020F0502020204030204"/>
            </a:endParaRPr>
          </a:p>
        </p:txBody>
      </p:sp>
      <p:sp>
        <p:nvSpPr>
          <p:cNvPr id="5" name="TextBox 4"/>
          <p:cNvSpPr txBox="1"/>
          <p:nvPr/>
        </p:nvSpPr>
        <p:spPr>
          <a:xfrm>
            <a:off x="658368" y="2670048"/>
            <a:ext cx="9326880" cy="914400"/>
          </a:xfrm>
          <a:prstGeom prst="rect">
            <a:avLst/>
          </a:prstGeom>
          <a:noFill/>
        </p:spPr>
        <p:txBody>
          <a:bodyPr wrap="square" lIns="0" tIns="0" rIns="0" bIns="0" anchor="t">
            <a:spAutoFit/>
          </a:bodyPr>
          <a:lstStyle/>
          <a:p>
            <a:pPr algn="l">
              <a:lnSpc>
                <a:spcPct val="105000"/>
              </a:lnSpc>
              <a:spcAft>
                <a:spcPts val="0"/>
              </a:spcAft>
            </a:pPr>
            <a:r>
              <a:rPr sz="3800" b="1" i="0">
                <a:solidFill>
                  <a:srgbClr val="FFFFFF"/>
                </a:solidFill>
                <a:latin typeface="Calibri" panose="020F0502020204030204"/>
              </a:rPr>
              <a:t>Menggali Proses</a:t>
            </a:r>
            <a:endParaRPr sz="3800" b="1" i="0">
              <a:solidFill>
                <a:srgbClr val="FFFFFF"/>
              </a:solidFill>
              <a:latin typeface="Calibri" panose="020F0502020204030204"/>
            </a:endParaRPr>
          </a:p>
        </p:txBody>
      </p:sp>
      <p:sp>
        <p:nvSpPr>
          <p:cNvPr id="6" name="TextBox 5"/>
          <p:cNvSpPr txBox="1"/>
          <p:nvPr/>
        </p:nvSpPr>
        <p:spPr>
          <a:xfrm>
            <a:off x="658368" y="3703320"/>
            <a:ext cx="8778240" cy="548640"/>
          </a:xfrm>
          <a:prstGeom prst="rect">
            <a:avLst/>
          </a:prstGeom>
          <a:noFill/>
        </p:spPr>
        <p:txBody>
          <a:bodyPr wrap="square" lIns="0" tIns="0" rIns="0" bIns="0" anchor="t">
            <a:spAutoFit/>
          </a:bodyPr>
          <a:lstStyle/>
          <a:p>
            <a:pPr algn="l">
              <a:lnSpc>
                <a:spcPct val="120000"/>
              </a:lnSpc>
              <a:spcAft>
                <a:spcPts val="0"/>
              </a:spcAft>
            </a:pPr>
            <a:r>
              <a:rPr sz="1600" b="0" i="0">
                <a:solidFill>
                  <a:srgbClr val="AFE4E9"/>
                </a:solidFill>
                <a:latin typeface="Calibri" panose="020F0502020204030204"/>
              </a:rPr>
              <a:t>Empat cara, empat jenis kebohongan yang berbeda.</a:t>
            </a:r>
            <a:endParaRPr sz="1600" b="0" i="0">
              <a:solidFill>
                <a:srgbClr val="AFE4E9"/>
              </a:solidFill>
              <a:latin typeface="Calibri" panose="020F0502020204030204"/>
            </a:endParaRPr>
          </a:p>
        </p:txBody>
      </p:sp>
      <p:sp>
        <p:nvSpPr>
          <p:cNvPr id="7" name="TextBox 6"/>
          <p:cNvSpPr txBox="1"/>
          <p:nvPr/>
        </p:nvSpPr>
        <p:spPr>
          <a:xfrm>
            <a:off x="658368" y="5852160"/>
            <a:ext cx="7315200" cy="320040"/>
          </a:xfrm>
          <a:prstGeom prst="rect">
            <a:avLst/>
          </a:prstGeom>
          <a:noFill/>
        </p:spPr>
        <p:txBody>
          <a:bodyPr wrap="square" lIns="0" tIns="0" rIns="0" bIns="0" anchor="t">
            <a:spAutoFit/>
          </a:bodyPr>
          <a:lstStyle/>
          <a:p>
            <a:pPr algn="l">
              <a:lnSpc>
                <a:spcPct val="100000"/>
              </a:lnSpc>
              <a:spcAft>
                <a:spcPts val="0"/>
              </a:spcAft>
            </a:pPr>
            <a:r>
              <a:rPr sz="1200" b="0" i="0">
                <a:solidFill>
                  <a:srgbClr val="AFE4E9"/>
                </a:solidFill>
                <a:latin typeface="Calibri" panose="020F0502020204030204"/>
              </a:rPr>
              <a:t>sekitar 20 menit</a:t>
            </a:r>
            <a:endParaRPr sz="1200" b="0" i="0">
              <a:solidFill>
                <a:srgbClr val="AFE4E9"/>
              </a:solidFill>
              <a:latin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EMPAT TEKNIK</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Empat teknik discovery</a:t>
            </a:r>
            <a:endParaRPr sz="3000" b="1" i="0">
              <a:solidFill>
                <a:srgbClr val="1B2733"/>
              </a:solidFill>
              <a:latin typeface="Calibri" panose="020F0502020204030204"/>
            </a:endParaRP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tIns="0" rIns="0" bIns="0" anchor="t">
            <a:spAutoFit/>
          </a:bodyPr>
          <a:lstStyle/>
          <a:p>
            <a:pPr algn="l">
              <a:lnSpc>
                <a:spcPct val="118000"/>
              </a:lnSpc>
              <a:spcAft>
                <a:spcPts val="0"/>
              </a:spcAft>
            </a:pPr>
            <a:r>
              <a:rPr sz="1350" b="1" i="0">
                <a:solidFill>
                  <a:srgbClr val="1B2733"/>
                </a:solidFill>
                <a:latin typeface="Calibri" panose="020F0502020204030204"/>
              </a:rPr>
              <a:t>Tidak ada satu teknik yang cukup. Yang bagus itu menyilangkan minimal dua.</a:t>
            </a:r>
            <a:endParaRPr sz="1350" b="1" i="0">
              <a:solidFill>
                <a:srgbClr val="1B2733"/>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6</a:t>
            </a:r>
            <a:endParaRPr sz="850" b="0" i="0">
              <a:solidFill>
                <a:srgbClr val="8A96A3"/>
              </a:solidFill>
              <a:latin typeface="Calibri" panose="020F0502020204030204"/>
            </a:endParaRPr>
          </a:p>
        </p:txBody>
      </p:sp>
      <p:graphicFrame>
        <p:nvGraphicFramePr>
          <p:cNvPr id="8" name="Table 7"/>
          <p:cNvGraphicFramePr>
            <a:graphicFrameLocks noGrp="1"/>
          </p:cNvGraphicFramePr>
          <p:nvPr/>
        </p:nvGraphicFramePr>
        <p:xfrm>
          <a:off x="658368" y="1778508"/>
          <a:ext cx="10875263" cy="3108960"/>
        </p:xfrm>
        <a:graphic>
          <a:graphicData uri="http://schemas.openxmlformats.org/drawingml/2006/table">
            <a:tbl>
              <a:tblPr>
                <a:tableStyleId>{5C22544A-7EE6-4342-B048-85BDC9FD1C3A}</a:tableStyleId>
              </a:tblPr>
              <a:tblGrid>
                <a:gridCol w="2330413"/>
                <a:gridCol w="3107218"/>
                <a:gridCol w="5437632"/>
              </a:tblGrid>
              <a:tr h="475488">
                <a:tc>
                  <a:txBody>
                    <a:bodyPr wrap="square"/>
                    <a:lstStyle/>
                    <a:p>
                      <a:pPr algn="l">
                        <a:lnSpc>
                          <a:spcPct val="118000"/>
                        </a:lnSpc>
                      </a:pPr>
                      <a:r>
                        <a:rPr sz="1350" b="1">
                          <a:solidFill>
                            <a:srgbClr val="FFFFFF"/>
                          </a:solidFill>
                          <a:latin typeface="Calibri" panose="020F0502020204030204"/>
                        </a:rPr>
                        <a:t>Teknik</a:t>
                      </a:r>
                      <a:endParaRPr sz="1350" b="1">
                        <a:solidFill>
                          <a:srgbClr val="FFFFFF"/>
                        </a:solidFill>
                        <a:latin typeface="Calibri" panose="020F0502020204030204"/>
                      </a:endParaRPr>
                    </a:p>
                  </a:txBody>
                  <a:tcPr marL="128016" marR="128016" marT="64008" marB="64008" anchor="ctr">
                    <a:solidFill>
                      <a:srgbClr val="0E7C86"/>
                    </a:solidFill>
                  </a:tcPr>
                </a:tc>
                <a:tc>
                  <a:txBody>
                    <a:bodyPr wrap="square"/>
                    <a:lstStyle/>
                    <a:p>
                      <a:pPr algn="l">
                        <a:lnSpc>
                          <a:spcPct val="118000"/>
                        </a:lnSpc>
                      </a:pPr>
                      <a:r>
                        <a:rPr sz="1350" b="1">
                          <a:solidFill>
                            <a:srgbClr val="FFFFFF"/>
                          </a:solidFill>
                          <a:latin typeface="Calibri" panose="020F0502020204030204"/>
                        </a:rPr>
                        <a:t>Cara kerja</a:t>
                      </a:r>
                      <a:endParaRPr sz="1350" b="1">
                        <a:solidFill>
                          <a:srgbClr val="FFFFFF"/>
                        </a:solidFill>
                        <a:latin typeface="Calibri" panose="020F0502020204030204"/>
                      </a:endParaRPr>
                    </a:p>
                  </a:txBody>
                  <a:tcPr marL="128016" marR="128016" marT="64008" marB="64008" anchor="ctr">
                    <a:solidFill>
                      <a:srgbClr val="0E7C86"/>
                    </a:solidFill>
                  </a:tcPr>
                </a:tc>
                <a:tc>
                  <a:txBody>
                    <a:bodyPr wrap="square"/>
                    <a:lstStyle/>
                    <a:p>
                      <a:pPr algn="l">
                        <a:lnSpc>
                          <a:spcPct val="118000"/>
                        </a:lnSpc>
                      </a:pPr>
                      <a:r>
                        <a:rPr sz="1350" b="1">
                          <a:solidFill>
                            <a:srgbClr val="FFFFFF"/>
                          </a:solidFill>
                          <a:latin typeface="Calibri" panose="020F0502020204030204"/>
                        </a:rPr>
                        <a:t>Biasnya</a:t>
                      </a:r>
                      <a:endParaRPr sz="1350" b="1">
                        <a:solidFill>
                          <a:srgbClr val="FFFFFF"/>
                        </a:solidFill>
                        <a:latin typeface="Calibri" panose="020F0502020204030204"/>
                      </a:endParaRPr>
                    </a:p>
                  </a:txBody>
                  <a:tcPr marL="128016" marR="128016" marT="64008" marB="64008" anchor="ctr">
                    <a:solidFill>
                      <a:srgbClr val="0E7C86"/>
                    </a:solidFill>
                  </a:tcPr>
                </a:tc>
              </a:tr>
              <a:tr h="658368">
                <a:tc>
                  <a:txBody>
                    <a:bodyPr wrap="square"/>
                    <a:lstStyle/>
                    <a:p>
                      <a:pPr algn="l">
                        <a:lnSpc>
                          <a:spcPct val="118000"/>
                        </a:lnSpc>
                      </a:pPr>
                      <a:r>
                        <a:rPr sz="1300" b="1">
                          <a:solidFill>
                            <a:srgbClr val="1B2733"/>
                          </a:solidFill>
                          <a:latin typeface="Calibri" panose="020F0502020204030204"/>
                        </a:rPr>
                        <a:t>Wawancara</a:t>
                      </a:r>
                      <a:endParaRPr sz="1300" b="1">
                        <a:solidFill>
                          <a:srgbClr val="1B2733"/>
                        </a:solidFill>
                        <a:latin typeface="Calibri" panose="020F0502020204030204"/>
                      </a:endParaRPr>
                    </a:p>
                  </a:txBody>
                  <a:tcPr marL="128016" marR="128016" marT="64008" marB="64008" anchor="ctr">
                    <a:solidFill>
                      <a:srgbClr val="FFFFFF"/>
                    </a:solidFill>
                  </a:tcPr>
                </a:tc>
                <a:tc>
                  <a:txBody>
                    <a:bodyPr wrap="square"/>
                    <a:lstStyle/>
                    <a:p>
                      <a:pPr algn="l">
                        <a:lnSpc>
                          <a:spcPct val="118000"/>
                        </a:lnSpc>
                      </a:pPr>
                      <a:r>
                        <a:rPr sz="1300" b="0">
                          <a:solidFill>
                            <a:srgbClr val="1B2733"/>
                          </a:solidFill>
                          <a:latin typeface="Calibri" panose="020F0502020204030204"/>
                        </a:rPr>
                        <a:t>Tanya langsung ke pelakunya</a:t>
                      </a:r>
                      <a:endParaRPr sz="1300" b="0">
                        <a:solidFill>
                          <a:srgbClr val="1B2733"/>
                        </a:solidFill>
                        <a:latin typeface="Calibri" panose="020F0502020204030204"/>
                      </a:endParaRPr>
                    </a:p>
                  </a:txBody>
                  <a:tcPr marL="128016" marR="128016" marT="64008" marB="64008" anchor="ctr">
                    <a:solidFill>
                      <a:srgbClr val="FFFFFF"/>
                    </a:solidFill>
                  </a:tcPr>
                </a:tc>
                <a:tc>
                  <a:txBody>
                    <a:bodyPr wrap="square"/>
                    <a:lstStyle/>
                    <a:p>
                      <a:pPr algn="l">
                        <a:lnSpc>
                          <a:spcPct val="118000"/>
                        </a:lnSpc>
                      </a:pPr>
                      <a:r>
                        <a:rPr sz="1300" b="0">
                          <a:solidFill>
                            <a:srgbClr val="1B2733"/>
                          </a:solidFill>
                          <a:latin typeface="Calibri" panose="020F0502020204030204"/>
                        </a:rPr>
                        <a:t>Orang menceritakan proses idealnya, bukan yang dia kerjakan tiap hari</a:t>
                      </a:r>
                      <a:endParaRPr sz="1300" b="0">
                        <a:solidFill>
                          <a:srgbClr val="1B2733"/>
                        </a:solidFill>
                        <a:latin typeface="Calibri" panose="020F0502020204030204"/>
                      </a:endParaRPr>
                    </a:p>
                  </a:txBody>
                  <a:tcPr marL="128016" marR="128016" marT="64008" marB="64008" anchor="ctr">
                    <a:solidFill>
                      <a:srgbClr val="FFFFFF"/>
                    </a:solidFill>
                  </a:tcPr>
                </a:tc>
              </a:tr>
              <a:tr h="658368">
                <a:tc>
                  <a:txBody>
                    <a:bodyPr wrap="square"/>
                    <a:lstStyle/>
                    <a:p>
                      <a:pPr algn="l">
                        <a:lnSpc>
                          <a:spcPct val="118000"/>
                        </a:lnSpc>
                      </a:pPr>
                      <a:r>
                        <a:rPr sz="1300" b="1">
                          <a:solidFill>
                            <a:srgbClr val="1B2733"/>
                          </a:solidFill>
                          <a:latin typeface="Calibri" panose="020F0502020204030204"/>
                        </a:rPr>
                        <a:t>Observasi</a:t>
                      </a:r>
                      <a:endParaRPr sz="1300" b="1">
                        <a:solidFill>
                          <a:srgbClr val="1B2733"/>
                        </a:solidFill>
                        <a:latin typeface="Calibri" panose="020F0502020204030204"/>
                      </a:endParaRPr>
                    </a:p>
                  </a:txBody>
                  <a:tcPr marL="128016" marR="128016" marT="64008" marB="64008" anchor="ctr">
                    <a:solidFill>
                      <a:srgbClr val="F4F9FA"/>
                    </a:solidFill>
                  </a:tcPr>
                </a:tc>
                <a:tc>
                  <a:txBody>
                    <a:bodyPr wrap="square"/>
                    <a:lstStyle/>
                    <a:p>
                      <a:pPr algn="l">
                        <a:lnSpc>
                          <a:spcPct val="118000"/>
                        </a:lnSpc>
                      </a:pPr>
                      <a:r>
                        <a:rPr sz="1300" b="0">
                          <a:solidFill>
                            <a:srgbClr val="1B2733"/>
                          </a:solidFill>
                          <a:latin typeface="Calibri" panose="020F0502020204030204"/>
                        </a:rPr>
                        <a:t>Duduk dan lihat orang bekerja</a:t>
                      </a:r>
                      <a:endParaRPr sz="1300" b="0">
                        <a:solidFill>
                          <a:srgbClr val="1B2733"/>
                        </a:solidFill>
                        <a:latin typeface="Calibri" panose="020F0502020204030204"/>
                      </a:endParaRPr>
                    </a:p>
                  </a:txBody>
                  <a:tcPr marL="128016" marR="128016" marT="64008" marB="64008" anchor="ctr">
                    <a:solidFill>
                      <a:srgbClr val="F4F9FA"/>
                    </a:solidFill>
                  </a:tcPr>
                </a:tc>
                <a:tc>
                  <a:txBody>
                    <a:bodyPr wrap="square"/>
                    <a:lstStyle/>
                    <a:p>
                      <a:pPr algn="l">
                        <a:lnSpc>
                          <a:spcPct val="118000"/>
                        </a:lnSpc>
                      </a:pPr>
                      <a:r>
                        <a:rPr sz="1300" b="0">
                          <a:solidFill>
                            <a:srgbClr val="1B2733"/>
                          </a:solidFill>
                          <a:latin typeface="Calibri" panose="020F0502020204030204"/>
                        </a:rPr>
                        <a:t>Orang berubah kalau merasa diamati</a:t>
                      </a:r>
                      <a:endParaRPr sz="1300" b="0">
                        <a:solidFill>
                          <a:srgbClr val="1B2733"/>
                        </a:solidFill>
                        <a:latin typeface="Calibri" panose="020F0502020204030204"/>
                      </a:endParaRPr>
                    </a:p>
                  </a:txBody>
                  <a:tcPr marL="128016" marR="128016" marT="64008" marB="64008" anchor="ctr">
                    <a:solidFill>
                      <a:srgbClr val="F4F9FA"/>
                    </a:solidFill>
                  </a:tcPr>
                </a:tc>
              </a:tr>
              <a:tr h="658368">
                <a:tc>
                  <a:txBody>
                    <a:bodyPr wrap="square"/>
                    <a:lstStyle/>
                    <a:p>
                      <a:pPr algn="l">
                        <a:lnSpc>
                          <a:spcPct val="118000"/>
                        </a:lnSpc>
                      </a:pPr>
                      <a:r>
                        <a:rPr sz="1300" b="1">
                          <a:solidFill>
                            <a:srgbClr val="1B2733"/>
                          </a:solidFill>
                          <a:latin typeface="Calibri" panose="020F0502020204030204"/>
                        </a:rPr>
                        <a:t>Analisis dokumen</a:t>
                      </a:r>
                      <a:endParaRPr sz="1300" b="1">
                        <a:solidFill>
                          <a:srgbClr val="1B2733"/>
                        </a:solidFill>
                        <a:latin typeface="Calibri" panose="020F0502020204030204"/>
                      </a:endParaRPr>
                    </a:p>
                  </a:txBody>
                  <a:tcPr marL="128016" marR="128016" marT="64008" marB="64008" anchor="ctr">
                    <a:solidFill>
                      <a:srgbClr val="FFFFFF"/>
                    </a:solidFill>
                  </a:tcPr>
                </a:tc>
                <a:tc>
                  <a:txBody>
                    <a:bodyPr wrap="square"/>
                    <a:lstStyle/>
                    <a:p>
                      <a:pPr algn="l">
                        <a:lnSpc>
                          <a:spcPct val="118000"/>
                        </a:lnSpc>
                      </a:pPr>
                      <a:r>
                        <a:rPr sz="1300" b="0">
                          <a:solidFill>
                            <a:srgbClr val="1B2733"/>
                          </a:solidFill>
                          <a:latin typeface="Calibri" panose="020F0502020204030204"/>
                        </a:rPr>
                        <a:t>Baca SOP, formulir, laporan</a:t>
                      </a:r>
                      <a:endParaRPr sz="1300" b="0">
                        <a:solidFill>
                          <a:srgbClr val="1B2733"/>
                        </a:solidFill>
                        <a:latin typeface="Calibri" panose="020F0502020204030204"/>
                      </a:endParaRPr>
                    </a:p>
                  </a:txBody>
                  <a:tcPr marL="128016" marR="128016" marT="64008" marB="64008" anchor="ctr">
                    <a:solidFill>
                      <a:srgbClr val="FFFFFF"/>
                    </a:solidFill>
                  </a:tcPr>
                </a:tc>
                <a:tc>
                  <a:txBody>
                    <a:bodyPr wrap="square"/>
                    <a:lstStyle/>
                    <a:p>
                      <a:pPr algn="l">
                        <a:lnSpc>
                          <a:spcPct val="118000"/>
                        </a:lnSpc>
                      </a:pPr>
                      <a:r>
                        <a:rPr sz="1300" b="0">
                          <a:solidFill>
                            <a:srgbClr val="1B2733"/>
                          </a:solidFill>
                          <a:latin typeface="Calibri" panose="020F0502020204030204"/>
                        </a:rPr>
                        <a:t>Dokumen menunjukkan niat, bukan kenyataan</a:t>
                      </a:r>
                      <a:endParaRPr sz="1300" b="0">
                        <a:solidFill>
                          <a:srgbClr val="1B2733"/>
                        </a:solidFill>
                        <a:latin typeface="Calibri" panose="020F0502020204030204"/>
                      </a:endParaRPr>
                    </a:p>
                  </a:txBody>
                  <a:tcPr marL="128016" marR="128016" marT="64008" marB="64008" anchor="ctr">
                    <a:solidFill>
                      <a:srgbClr val="FFFFFF"/>
                    </a:solidFill>
                  </a:tcPr>
                </a:tc>
              </a:tr>
              <a:tr h="658368">
                <a:tc>
                  <a:txBody>
                    <a:bodyPr wrap="square"/>
                    <a:lstStyle/>
                    <a:p>
                      <a:pPr algn="l">
                        <a:lnSpc>
                          <a:spcPct val="118000"/>
                        </a:lnSpc>
                      </a:pPr>
                      <a:r>
                        <a:rPr sz="1300" b="1">
                          <a:solidFill>
                            <a:srgbClr val="1B2733"/>
                          </a:solidFill>
                          <a:latin typeface="Calibri" panose="020F0502020204030204"/>
                        </a:rPr>
                        <a:t>Analisis log sistem</a:t>
                      </a:r>
                      <a:endParaRPr sz="1300" b="1">
                        <a:solidFill>
                          <a:srgbClr val="1B2733"/>
                        </a:solidFill>
                        <a:latin typeface="Calibri" panose="020F0502020204030204"/>
                      </a:endParaRPr>
                    </a:p>
                  </a:txBody>
                  <a:tcPr marL="128016" marR="128016" marT="64008" marB="64008" anchor="ctr">
                    <a:solidFill>
                      <a:srgbClr val="F4F9FA"/>
                    </a:solidFill>
                  </a:tcPr>
                </a:tc>
                <a:tc>
                  <a:txBody>
                    <a:bodyPr wrap="square"/>
                    <a:lstStyle/>
                    <a:p>
                      <a:pPr algn="l">
                        <a:lnSpc>
                          <a:spcPct val="118000"/>
                        </a:lnSpc>
                      </a:pPr>
                      <a:r>
                        <a:rPr sz="1300" b="0">
                          <a:solidFill>
                            <a:srgbClr val="1B2733"/>
                          </a:solidFill>
                          <a:latin typeface="Calibri" panose="020F0502020204030204"/>
                        </a:rPr>
                        <a:t>Tarik data dari aplikasinya</a:t>
                      </a:r>
                      <a:endParaRPr sz="1300" b="0">
                        <a:solidFill>
                          <a:srgbClr val="1B2733"/>
                        </a:solidFill>
                        <a:latin typeface="Calibri" panose="020F0502020204030204"/>
                      </a:endParaRPr>
                    </a:p>
                  </a:txBody>
                  <a:tcPr marL="128016" marR="128016" marT="64008" marB="64008" anchor="ctr">
                    <a:solidFill>
                      <a:srgbClr val="F4F9FA"/>
                    </a:solidFill>
                  </a:tcPr>
                </a:tc>
                <a:tc>
                  <a:txBody>
                    <a:bodyPr wrap="square"/>
                    <a:lstStyle/>
                    <a:p>
                      <a:pPr algn="l">
                        <a:lnSpc>
                          <a:spcPct val="118000"/>
                        </a:lnSpc>
                      </a:pPr>
                      <a:r>
                        <a:rPr sz="1300" b="0">
                          <a:solidFill>
                            <a:srgbClr val="1B2733"/>
                          </a:solidFill>
                          <a:latin typeface="Calibri" panose="020F0502020204030204"/>
                        </a:rPr>
                        <a:t>Cuma menangkap yang lewat sistem. Yang lewat email dan WhatsApp tidak tercatat</a:t>
                      </a:r>
                      <a:endParaRPr sz="1300" b="0">
                        <a:solidFill>
                          <a:srgbClr val="1B2733"/>
                        </a:solidFill>
                        <a:latin typeface="Calibri" panose="020F0502020204030204"/>
                      </a:endParaRPr>
                    </a:p>
                  </a:txBody>
                  <a:tcPr marL="128016" marR="128016" marT="64008" marB="64008" anchor="ctr">
                    <a:solidFill>
                      <a:srgbClr val="F4F9FA"/>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KENAPA SERING MELESET</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Kenapa wawancara sering meleset</a:t>
            </a:r>
            <a:endParaRPr sz="3000" b="1" i="0">
              <a:solidFill>
                <a:srgbClr val="1B2733"/>
              </a:solidFill>
              <a:latin typeface="Calibri" panose="020F0502020204030204"/>
            </a:endParaRP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tIns="0" rIns="0" bIns="0" anchor="t">
            <a:spAutoFit/>
          </a:bodyPr>
          <a:lstStyle/>
          <a:p>
            <a:pPr algn="l">
              <a:lnSpc>
                <a:spcPct val="118000"/>
              </a:lnSpc>
              <a:spcAft>
                <a:spcPts val="0"/>
              </a:spcAft>
            </a:pPr>
            <a:r>
              <a:rPr sz="1350" b="1" i="0">
                <a:solidFill>
                  <a:srgbClr val="1B2733"/>
                </a:solidFill>
                <a:latin typeface="Calibri" panose="020F0502020204030204"/>
              </a:rPr>
              <a:t>Kalau kamu tanya bagaimana prosesnya, kamu dapat SOP. Kalau kamu tanya kapan terakhir kali ini kacau, kamu dapat kenyataan.</a:t>
            </a:r>
            <a:endParaRPr sz="1350" b="1" i="0">
              <a:solidFill>
                <a:srgbClr val="1B2733"/>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7</a:t>
            </a:r>
            <a:endParaRPr sz="850" b="0" i="0">
              <a:solidFill>
                <a:srgbClr val="8A96A3"/>
              </a:solidFill>
              <a:latin typeface="Calibri" panose="020F0502020204030204"/>
            </a:endParaRPr>
          </a:p>
        </p:txBody>
      </p:sp>
      <p:sp>
        <p:nvSpPr>
          <p:cNvPr id="8" name="Oval 7"/>
          <p:cNvSpPr/>
          <p:nvPr/>
        </p:nvSpPr>
        <p:spPr>
          <a:xfrm>
            <a:off x="704088" y="2290572"/>
            <a:ext cx="118872" cy="11887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144268"/>
            <a:ext cx="10509504" cy="420623"/>
          </a:xfrm>
          <a:prstGeom prst="rect">
            <a:avLst/>
          </a:prstGeom>
          <a:noFill/>
        </p:spPr>
        <p:txBody>
          <a:bodyPr wrap="square" lIns="0" tIns="0" rIns="0" bIns="0" anchor="t">
            <a:spAutoFit/>
          </a:bodyPr>
          <a:lstStyle/>
          <a:p>
            <a:pPr algn="l">
              <a:lnSpc>
                <a:spcPct val="130000"/>
              </a:lnSpc>
              <a:spcAft>
                <a:spcPts val="0"/>
              </a:spcAft>
            </a:pPr>
            <a:r>
              <a:rPr sz="1500" b="0" i="0">
                <a:solidFill>
                  <a:srgbClr val="1B2733"/>
                </a:solidFill>
                <a:latin typeface="Calibri" panose="020F0502020204030204"/>
              </a:rPr>
              <a:t>Orang menceritakan versi yang membuat dirinya terlihat kompeten.</a:t>
            </a:r>
            <a:endParaRPr sz="1500" b="0" i="0">
              <a:solidFill>
                <a:srgbClr val="1B2733"/>
              </a:solidFill>
              <a:latin typeface="Calibri" panose="020F0502020204030204"/>
            </a:endParaRPr>
          </a:p>
        </p:txBody>
      </p:sp>
      <p:sp>
        <p:nvSpPr>
          <p:cNvPr id="10" name="Oval 9"/>
          <p:cNvSpPr/>
          <p:nvPr/>
        </p:nvSpPr>
        <p:spPr>
          <a:xfrm>
            <a:off x="704088" y="3131820"/>
            <a:ext cx="118872" cy="11887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985515"/>
            <a:ext cx="10509504" cy="694944"/>
          </a:xfrm>
          <a:prstGeom prst="rect">
            <a:avLst/>
          </a:prstGeom>
          <a:noFill/>
        </p:spPr>
        <p:txBody>
          <a:bodyPr wrap="square" lIns="0" tIns="0" rIns="0" bIns="0" anchor="t">
            <a:spAutoFit/>
          </a:bodyPr>
          <a:lstStyle/>
          <a:p>
            <a:pPr algn="l">
              <a:lnSpc>
                <a:spcPct val="130000"/>
              </a:lnSpc>
              <a:spcAft>
                <a:spcPts val="0"/>
              </a:spcAft>
            </a:pPr>
            <a:r>
              <a:rPr sz="1500" b="0" i="0">
                <a:solidFill>
                  <a:srgbClr val="1B2733"/>
                </a:solidFill>
                <a:latin typeface="Calibri" panose="020F0502020204030204"/>
              </a:rPr>
              <a:t>Orang lupa langkah yang sudah jadi kebiasaan. Justru langkah yang paling otomatis itu yang paling sering tidak disebut.</a:t>
            </a:r>
            <a:endParaRPr sz="1500" b="0" i="0">
              <a:solidFill>
                <a:srgbClr val="1B2733"/>
              </a:solidFill>
              <a:latin typeface="Calibri" panose="020F0502020204030204"/>
            </a:endParaRPr>
          </a:p>
        </p:txBody>
      </p:sp>
      <p:sp>
        <p:nvSpPr>
          <p:cNvPr id="12" name="Oval 11"/>
          <p:cNvSpPr/>
          <p:nvPr/>
        </p:nvSpPr>
        <p:spPr>
          <a:xfrm>
            <a:off x="704088" y="4247388"/>
            <a:ext cx="118872" cy="11887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4101083"/>
            <a:ext cx="10509504" cy="420623"/>
          </a:xfrm>
          <a:prstGeom prst="rect">
            <a:avLst/>
          </a:prstGeom>
          <a:noFill/>
        </p:spPr>
        <p:txBody>
          <a:bodyPr wrap="square" lIns="0" tIns="0" rIns="0" bIns="0" anchor="t">
            <a:spAutoFit/>
          </a:bodyPr>
          <a:lstStyle/>
          <a:p>
            <a:pPr algn="l">
              <a:lnSpc>
                <a:spcPct val="130000"/>
              </a:lnSpc>
              <a:spcAft>
                <a:spcPts val="0"/>
              </a:spcAft>
            </a:pPr>
            <a:r>
              <a:rPr sz="1500" b="0" i="0">
                <a:solidFill>
                  <a:srgbClr val="1B2733"/>
                </a:solidFill>
                <a:latin typeface="Calibri" panose="020F0502020204030204"/>
              </a:rPr>
              <a:t>Orang menjawab pertanyaan yang kamu tanyakan, bukan yang seharusnya kamu tanyakan.</a:t>
            </a:r>
            <a:endParaRPr sz="1500" b="0" i="0">
              <a:solidFill>
                <a:srgbClr val="1B2733"/>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ALAT KERJA</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Pertanyaan yang bikin orang jujur</a:t>
            </a:r>
            <a:endParaRPr sz="3000" b="1" i="0">
              <a:solidFill>
                <a:srgbClr val="1B2733"/>
              </a:solidFill>
              <a:latin typeface="Calibri" panose="020F0502020204030204"/>
            </a:endParaRP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tIns="0" rIns="0" bIns="0" anchor="t">
            <a:spAutoFit/>
          </a:bodyPr>
          <a:lstStyle/>
          <a:p>
            <a:pPr algn="l">
              <a:lnSpc>
                <a:spcPct val="118000"/>
              </a:lnSpc>
              <a:spcAft>
                <a:spcPts val="0"/>
              </a:spcAft>
            </a:pPr>
            <a:r>
              <a:rPr sz="1350" b="1" i="0">
                <a:solidFill>
                  <a:srgbClr val="1B2733"/>
                </a:solidFill>
                <a:latin typeface="Calibri" panose="020F0502020204030204"/>
              </a:rPr>
              <a:t>Pertanyaan tentang kasus nyata mengalahkan pertanyaan tentang proses.</a:t>
            </a:r>
            <a:endParaRPr sz="1350" b="1" i="0">
              <a:solidFill>
                <a:srgbClr val="1B2733"/>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8</a:t>
            </a:r>
            <a:endParaRPr sz="850" b="0" i="0">
              <a:solidFill>
                <a:srgbClr val="8A96A3"/>
              </a:solidFill>
              <a:latin typeface="Calibri" panose="020F0502020204030204"/>
            </a:endParaRPr>
          </a:p>
        </p:txBody>
      </p:sp>
      <p:sp>
        <p:nvSpPr>
          <p:cNvPr id="8" name="Oval 7"/>
          <p:cNvSpPr/>
          <p:nvPr/>
        </p:nvSpPr>
        <p:spPr>
          <a:xfrm>
            <a:off x="658368" y="1597914"/>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652778"/>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1</a:t>
            </a:r>
            <a:endParaRPr sz="1200" b="1" i="0">
              <a:solidFill>
                <a:srgbClr val="FFFFFF"/>
              </a:solidFill>
              <a:latin typeface="Calibri" panose="020F0502020204030204"/>
            </a:endParaRPr>
          </a:p>
        </p:txBody>
      </p:sp>
      <p:sp>
        <p:nvSpPr>
          <p:cNvPr id="10" name="TextBox 9"/>
          <p:cNvSpPr txBox="1"/>
          <p:nvPr/>
        </p:nvSpPr>
        <p:spPr>
          <a:xfrm>
            <a:off x="1225295" y="1579626"/>
            <a:ext cx="10308336" cy="420623"/>
          </a:xfrm>
          <a:prstGeom prst="rect">
            <a:avLst/>
          </a:prstGeom>
          <a:noFill/>
        </p:spPr>
        <p:txBody>
          <a:bodyPr wrap="square" lIns="0" tIns="0" rIns="0" bIns="0" anchor="t">
            <a:spAutoFit/>
          </a:bodyPr>
          <a:lstStyle/>
          <a:p>
            <a:pPr algn="l">
              <a:lnSpc>
                <a:spcPct val="130000"/>
              </a:lnSpc>
              <a:spcAft>
                <a:spcPts val="0"/>
              </a:spcAft>
            </a:pPr>
            <a:r>
              <a:rPr sz="1350" b="0" i="0">
                <a:solidFill>
                  <a:srgbClr val="1B2733"/>
                </a:solidFill>
                <a:latin typeface="Calibri" panose="020F0502020204030204"/>
              </a:rPr>
              <a:t>Coba ceritakan kasus terakhir yang kamu tangani, dari awal sampai selesai.</a:t>
            </a:r>
            <a:endParaRPr sz="1350" b="0" i="0">
              <a:solidFill>
                <a:srgbClr val="1B2733"/>
              </a:solidFill>
              <a:latin typeface="Calibri" panose="020F0502020204030204"/>
            </a:endParaRPr>
          </a:p>
        </p:txBody>
      </p:sp>
      <p:sp>
        <p:nvSpPr>
          <p:cNvPr id="11" name="Oval 10"/>
          <p:cNvSpPr/>
          <p:nvPr/>
        </p:nvSpPr>
        <p:spPr>
          <a:xfrm>
            <a:off x="658368" y="2215134"/>
            <a:ext cx="365760" cy="36576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269998"/>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2</a:t>
            </a:r>
            <a:endParaRPr sz="1200" b="1" i="0">
              <a:solidFill>
                <a:srgbClr val="FFFFFF"/>
              </a:solidFill>
              <a:latin typeface="Calibri" panose="020F0502020204030204"/>
            </a:endParaRPr>
          </a:p>
        </p:txBody>
      </p:sp>
      <p:sp>
        <p:nvSpPr>
          <p:cNvPr id="13" name="TextBox 12"/>
          <p:cNvSpPr txBox="1"/>
          <p:nvPr/>
        </p:nvSpPr>
        <p:spPr>
          <a:xfrm>
            <a:off x="1225295" y="2196846"/>
            <a:ext cx="10308336" cy="420623"/>
          </a:xfrm>
          <a:prstGeom prst="rect">
            <a:avLst/>
          </a:prstGeom>
          <a:noFill/>
        </p:spPr>
        <p:txBody>
          <a:bodyPr wrap="square" lIns="0" tIns="0" rIns="0" bIns="0" anchor="t">
            <a:spAutoFit/>
          </a:bodyPr>
          <a:lstStyle/>
          <a:p>
            <a:pPr algn="l">
              <a:lnSpc>
                <a:spcPct val="130000"/>
              </a:lnSpc>
              <a:spcAft>
                <a:spcPts val="0"/>
              </a:spcAft>
            </a:pPr>
            <a:r>
              <a:rPr sz="1350" b="0" i="0">
                <a:solidFill>
                  <a:srgbClr val="1B2733"/>
                </a:solidFill>
                <a:latin typeface="Calibri" panose="020F0502020204030204"/>
              </a:rPr>
              <a:t>Kapan terakhir kali proses ini kacau? Apa yang terjadi?</a:t>
            </a:r>
            <a:endParaRPr sz="1350" b="0" i="0">
              <a:solidFill>
                <a:srgbClr val="1B2733"/>
              </a:solidFill>
              <a:latin typeface="Calibri" panose="020F0502020204030204"/>
            </a:endParaRPr>
          </a:p>
        </p:txBody>
      </p:sp>
      <p:sp>
        <p:nvSpPr>
          <p:cNvPr id="14" name="Oval 13"/>
          <p:cNvSpPr/>
          <p:nvPr/>
        </p:nvSpPr>
        <p:spPr>
          <a:xfrm>
            <a:off x="658368" y="2832353"/>
            <a:ext cx="365760" cy="365760"/>
          </a:xfrm>
          <a:prstGeom prst="ellipse">
            <a:avLst/>
          </a:prstGeom>
          <a:solidFill>
            <a:srgbClr val="5B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887218"/>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3</a:t>
            </a:r>
            <a:endParaRPr sz="1200" b="1" i="0">
              <a:solidFill>
                <a:srgbClr val="FFFFFF"/>
              </a:solidFill>
              <a:latin typeface="Calibri" panose="020F0502020204030204"/>
            </a:endParaRPr>
          </a:p>
        </p:txBody>
      </p:sp>
      <p:sp>
        <p:nvSpPr>
          <p:cNvPr id="16" name="TextBox 15"/>
          <p:cNvSpPr txBox="1"/>
          <p:nvPr/>
        </p:nvSpPr>
        <p:spPr>
          <a:xfrm>
            <a:off x="1225295" y="2814065"/>
            <a:ext cx="10308336" cy="420623"/>
          </a:xfrm>
          <a:prstGeom prst="rect">
            <a:avLst/>
          </a:prstGeom>
          <a:noFill/>
        </p:spPr>
        <p:txBody>
          <a:bodyPr wrap="square" lIns="0" tIns="0" rIns="0" bIns="0" anchor="t">
            <a:spAutoFit/>
          </a:bodyPr>
          <a:lstStyle/>
          <a:p>
            <a:pPr algn="l">
              <a:lnSpc>
                <a:spcPct val="130000"/>
              </a:lnSpc>
              <a:spcAft>
                <a:spcPts val="0"/>
              </a:spcAft>
            </a:pPr>
            <a:r>
              <a:rPr sz="1350" b="0" i="0">
                <a:solidFill>
                  <a:srgbClr val="1B2733"/>
                </a:solidFill>
                <a:latin typeface="Calibri" panose="020F0502020204030204"/>
              </a:rPr>
              <a:t>Ada tidak yang kamu kerjakan di luar sistem? Excel, email, WhatsApp, catatan sendiri?</a:t>
            </a:r>
            <a:endParaRPr sz="1350" b="0" i="0">
              <a:solidFill>
                <a:srgbClr val="1B2733"/>
              </a:solidFill>
              <a:latin typeface="Calibri" panose="020F0502020204030204"/>
            </a:endParaRPr>
          </a:p>
        </p:txBody>
      </p:sp>
      <p:sp>
        <p:nvSpPr>
          <p:cNvPr id="17" name="Oval 16"/>
          <p:cNvSpPr/>
          <p:nvPr/>
        </p:nvSpPr>
        <p:spPr>
          <a:xfrm>
            <a:off x="658368" y="3449573"/>
            <a:ext cx="365760" cy="365760"/>
          </a:xfrm>
          <a:prstGeom prst="ellipse">
            <a:avLst/>
          </a:prstGeom>
          <a:solidFill>
            <a:srgbClr val="C97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3504437"/>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4</a:t>
            </a:r>
            <a:endParaRPr sz="1200" b="1" i="0">
              <a:solidFill>
                <a:srgbClr val="FFFFFF"/>
              </a:solidFill>
              <a:latin typeface="Calibri" panose="020F0502020204030204"/>
            </a:endParaRPr>
          </a:p>
        </p:txBody>
      </p:sp>
      <p:sp>
        <p:nvSpPr>
          <p:cNvPr id="19" name="TextBox 18"/>
          <p:cNvSpPr txBox="1"/>
          <p:nvPr/>
        </p:nvSpPr>
        <p:spPr>
          <a:xfrm>
            <a:off x="1225295" y="3431285"/>
            <a:ext cx="10308336" cy="420623"/>
          </a:xfrm>
          <a:prstGeom prst="rect">
            <a:avLst/>
          </a:prstGeom>
          <a:noFill/>
        </p:spPr>
        <p:txBody>
          <a:bodyPr wrap="square" lIns="0" tIns="0" rIns="0" bIns="0" anchor="t">
            <a:spAutoFit/>
          </a:bodyPr>
          <a:lstStyle/>
          <a:p>
            <a:pPr algn="l">
              <a:lnSpc>
                <a:spcPct val="130000"/>
              </a:lnSpc>
              <a:spcAft>
                <a:spcPts val="0"/>
              </a:spcAft>
            </a:pPr>
            <a:r>
              <a:rPr sz="1350" b="0" i="0">
                <a:solidFill>
                  <a:srgbClr val="1B2733"/>
                </a:solidFill>
                <a:latin typeface="Calibri" panose="020F0502020204030204"/>
              </a:rPr>
              <a:t>Kalau kamu cuti, siapa yang menggantikan, dan apa yang biasanya berantakan?</a:t>
            </a:r>
            <a:endParaRPr sz="1350" b="0" i="0">
              <a:solidFill>
                <a:srgbClr val="1B2733"/>
              </a:solidFill>
              <a:latin typeface="Calibri" panose="020F0502020204030204"/>
            </a:endParaRPr>
          </a:p>
        </p:txBody>
      </p:sp>
      <p:sp>
        <p:nvSpPr>
          <p:cNvPr id="20" name="Oval 19"/>
          <p:cNvSpPr/>
          <p:nvPr/>
        </p:nvSpPr>
        <p:spPr>
          <a:xfrm>
            <a:off x="658368" y="4066793"/>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4121657"/>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5</a:t>
            </a:r>
            <a:endParaRPr sz="1200" b="1" i="0">
              <a:solidFill>
                <a:srgbClr val="FFFFFF"/>
              </a:solidFill>
              <a:latin typeface="Calibri" panose="020F0502020204030204"/>
            </a:endParaRPr>
          </a:p>
        </p:txBody>
      </p:sp>
      <p:sp>
        <p:nvSpPr>
          <p:cNvPr id="22" name="TextBox 21"/>
          <p:cNvSpPr txBox="1"/>
          <p:nvPr/>
        </p:nvSpPr>
        <p:spPr>
          <a:xfrm>
            <a:off x="1225295" y="4048505"/>
            <a:ext cx="10308336" cy="420623"/>
          </a:xfrm>
          <a:prstGeom prst="rect">
            <a:avLst/>
          </a:prstGeom>
          <a:noFill/>
        </p:spPr>
        <p:txBody>
          <a:bodyPr wrap="square" lIns="0" tIns="0" rIns="0" bIns="0" anchor="t">
            <a:spAutoFit/>
          </a:bodyPr>
          <a:lstStyle/>
          <a:p>
            <a:pPr algn="l">
              <a:lnSpc>
                <a:spcPct val="130000"/>
              </a:lnSpc>
              <a:spcAft>
                <a:spcPts val="0"/>
              </a:spcAft>
            </a:pPr>
            <a:r>
              <a:rPr sz="1350" b="0" i="0">
                <a:solidFill>
                  <a:srgbClr val="1B2733"/>
                </a:solidFill>
                <a:latin typeface="Calibri" panose="020F0502020204030204"/>
              </a:rPr>
              <a:t>Bagian mana yang paling sering bikin nasabah komplain?</a:t>
            </a:r>
            <a:endParaRPr sz="1350" b="0" i="0">
              <a:solidFill>
                <a:srgbClr val="1B2733"/>
              </a:solidFill>
              <a:latin typeface="Calibri" panose="020F0502020204030204"/>
            </a:endParaRPr>
          </a:p>
        </p:txBody>
      </p:sp>
      <p:sp>
        <p:nvSpPr>
          <p:cNvPr id="23" name="Oval 22"/>
          <p:cNvSpPr/>
          <p:nvPr/>
        </p:nvSpPr>
        <p:spPr>
          <a:xfrm>
            <a:off x="658368" y="4684013"/>
            <a:ext cx="365760" cy="36576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738877"/>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6</a:t>
            </a:r>
            <a:endParaRPr sz="1200" b="1" i="0">
              <a:solidFill>
                <a:srgbClr val="FFFFFF"/>
              </a:solidFill>
              <a:latin typeface="Calibri" panose="020F0502020204030204"/>
            </a:endParaRPr>
          </a:p>
        </p:txBody>
      </p:sp>
      <p:sp>
        <p:nvSpPr>
          <p:cNvPr id="25" name="TextBox 24"/>
          <p:cNvSpPr txBox="1"/>
          <p:nvPr/>
        </p:nvSpPr>
        <p:spPr>
          <a:xfrm>
            <a:off x="1225295" y="4665725"/>
            <a:ext cx="10308336" cy="420623"/>
          </a:xfrm>
          <a:prstGeom prst="rect">
            <a:avLst/>
          </a:prstGeom>
          <a:noFill/>
        </p:spPr>
        <p:txBody>
          <a:bodyPr wrap="square" lIns="0" tIns="0" rIns="0" bIns="0" anchor="t">
            <a:spAutoFit/>
          </a:bodyPr>
          <a:lstStyle/>
          <a:p>
            <a:pPr algn="l">
              <a:lnSpc>
                <a:spcPct val="130000"/>
              </a:lnSpc>
              <a:spcAft>
                <a:spcPts val="0"/>
              </a:spcAft>
            </a:pPr>
            <a:r>
              <a:rPr sz="1350" b="0" i="0">
                <a:solidFill>
                  <a:srgbClr val="1B2733"/>
                </a:solidFill>
                <a:latin typeface="Calibri" panose="020F0502020204030204"/>
              </a:rPr>
              <a:t>Kalau boleh mengubah satu hal, kamu ubah apa?</a:t>
            </a:r>
            <a:endParaRPr sz="1350" b="0" i="0">
              <a:solidFill>
                <a:srgbClr val="1B2733"/>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JEBAKAN KLASIK</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Happy path itu jebakan</a:t>
            </a:r>
            <a:endParaRPr sz="3000" b="1" i="0">
              <a:solidFill>
                <a:srgbClr val="1B2733"/>
              </a:solidFill>
              <a:latin typeface="Calibri" panose="020F0502020204030204"/>
            </a:endParaRP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tIns="0" rIns="0" bIns="0" anchor="t">
            <a:spAutoFit/>
          </a:bodyPr>
          <a:lstStyle/>
          <a:p>
            <a:pPr algn="l">
              <a:lnSpc>
                <a:spcPct val="118000"/>
              </a:lnSpc>
              <a:spcAft>
                <a:spcPts val="0"/>
              </a:spcAft>
            </a:pPr>
            <a:r>
              <a:rPr sz="1350" b="1" i="0">
                <a:solidFill>
                  <a:srgbClr val="1B2733"/>
                </a:solidFill>
                <a:latin typeface="Calibri" panose="020F0502020204030204"/>
              </a:rPr>
              <a:t>Nilai sebuah model proses ada di jalur yang tidak mulus.</a:t>
            </a:r>
            <a:endParaRPr sz="1350" b="1" i="0">
              <a:solidFill>
                <a:srgbClr val="1B2733"/>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9</a:t>
            </a:r>
            <a:endParaRPr sz="850" b="0" i="0">
              <a:solidFill>
                <a:srgbClr val="8A96A3"/>
              </a:solidFill>
              <a:latin typeface="Calibri" panose="020F0502020204030204"/>
            </a:endParaRPr>
          </a:p>
        </p:txBody>
      </p:sp>
      <p:sp>
        <p:nvSpPr>
          <p:cNvPr id="8" name="Rectangle 7"/>
          <p:cNvSpPr/>
          <p:nvPr/>
        </p:nvSpPr>
        <p:spPr>
          <a:xfrm>
            <a:off x="658368" y="2377440"/>
            <a:ext cx="10875264" cy="105156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2487168"/>
            <a:ext cx="9960864" cy="832103"/>
          </a:xfrm>
          <a:prstGeom prst="rect">
            <a:avLst/>
          </a:prstGeom>
          <a:noFill/>
        </p:spPr>
        <p:txBody>
          <a:bodyPr wrap="square" lIns="0" tIns="0" rIns="0" bIns="0" anchor="ctr">
            <a:spAutoFit/>
          </a:bodyPr>
          <a:lstStyle/>
          <a:p>
            <a:pPr algn="l">
              <a:lnSpc>
                <a:spcPct val="118000"/>
              </a:lnSpc>
              <a:spcAft>
                <a:spcPts val="0"/>
              </a:spcAft>
            </a:pPr>
            <a:r>
              <a:rPr sz="2000" b="1" i="0">
                <a:solidFill>
                  <a:srgbClr val="FFFFFF"/>
                </a:solidFill>
                <a:latin typeface="Calibri" panose="020F0502020204030204"/>
              </a:rPr>
              <a:t>Kalau kamu cuma menggambar jalur yang mulus, kamu sedang menggambar brosur, bukan proses.</a:t>
            </a:r>
            <a:endParaRPr sz="2000" b="1" i="0">
              <a:solidFill>
                <a:srgbClr val="FFFFFF"/>
              </a:solidFill>
              <a:latin typeface="Calibri" panose="020F0502020204030204"/>
            </a:endParaRPr>
          </a:p>
        </p:txBody>
      </p:sp>
      <p:sp>
        <p:nvSpPr>
          <p:cNvPr id="10" name="TextBox 9"/>
          <p:cNvSpPr txBox="1"/>
          <p:nvPr/>
        </p:nvSpPr>
        <p:spPr>
          <a:xfrm>
            <a:off x="658368" y="3739896"/>
            <a:ext cx="9352727" cy="859536"/>
          </a:xfrm>
          <a:prstGeom prst="rect">
            <a:avLst/>
          </a:prstGeom>
          <a:noFill/>
        </p:spPr>
        <p:txBody>
          <a:bodyPr wrap="square" lIns="0" tIns="0" rIns="0" bIns="0" anchor="t">
            <a:spAutoFit/>
          </a:bodyPr>
          <a:lstStyle/>
          <a:p>
            <a:pPr algn="l">
              <a:lnSpc>
                <a:spcPct val="135000"/>
              </a:lnSpc>
              <a:spcAft>
                <a:spcPts val="1200"/>
              </a:spcAft>
            </a:pPr>
            <a:r>
              <a:rPr sz="1500" b="0" i="0">
                <a:solidFill>
                  <a:srgbClr val="5A6672"/>
                </a:solidFill>
                <a:latin typeface="Calibri" panose="020F0502020204030204"/>
              </a:rPr>
              <a:t>Di proses klaim, jalur mulus biasanya cuma menutupi sebagian kasus. Sisanya yang bikin cycle time meledak.</a:t>
            </a:r>
            <a:endParaRPr sz="1500" b="0" i="0">
              <a:solidFill>
                <a:srgbClr val="5A6672"/>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YANG TIDAK TERTULIS</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Workaround yang jadi prosedur</a:t>
            </a:r>
            <a:endParaRPr sz="3000" b="1" i="0">
              <a:solidFill>
                <a:srgbClr val="1B2733"/>
              </a:solidFill>
              <a:latin typeface="Calibri" panose="020F0502020204030204"/>
            </a:endParaRP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tIns="0" rIns="0" bIns="0" anchor="t">
            <a:spAutoFit/>
          </a:bodyPr>
          <a:lstStyle/>
          <a:p>
            <a:pPr algn="l">
              <a:lnSpc>
                <a:spcPct val="118000"/>
              </a:lnSpc>
              <a:spcAft>
                <a:spcPts val="0"/>
              </a:spcAft>
            </a:pPr>
            <a:r>
              <a:rPr sz="1350" b="1" i="0">
                <a:solidFill>
                  <a:srgbClr val="1B2733"/>
                </a:solidFill>
                <a:latin typeface="Calibri" panose="020F0502020204030204"/>
              </a:rPr>
              <a:t>Cara menemukannya cuma satu: tanya apa yang kamu kerjakan kalau sistemnya tidak mau menerima.</a:t>
            </a:r>
            <a:endParaRPr sz="1350" b="1" i="0">
              <a:solidFill>
                <a:srgbClr val="1B2733"/>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10</a:t>
            </a:r>
            <a:endParaRPr sz="850" b="0" i="0">
              <a:solidFill>
                <a:srgbClr val="8A96A3"/>
              </a:solidFill>
              <a:latin typeface="Calibri" panose="020F0502020204030204"/>
            </a:endParaRPr>
          </a:p>
        </p:txBody>
      </p:sp>
      <p:sp>
        <p:nvSpPr>
          <p:cNvPr id="8" name="Rectangle 7"/>
          <p:cNvSpPr/>
          <p:nvPr/>
        </p:nvSpPr>
        <p:spPr>
          <a:xfrm>
            <a:off x="658368" y="2167128"/>
            <a:ext cx="10875264" cy="105156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2276856"/>
            <a:ext cx="9960864" cy="832103"/>
          </a:xfrm>
          <a:prstGeom prst="rect">
            <a:avLst/>
          </a:prstGeom>
          <a:noFill/>
        </p:spPr>
        <p:txBody>
          <a:bodyPr wrap="square" lIns="0" tIns="0" rIns="0" bIns="0" anchor="ctr">
            <a:spAutoFit/>
          </a:bodyPr>
          <a:lstStyle/>
          <a:p>
            <a:pPr algn="l">
              <a:lnSpc>
                <a:spcPct val="118000"/>
              </a:lnSpc>
              <a:spcAft>
                <a:spcPts val="0"/>
              </a:spcAft>
            </a:pPr>
            <a:r>
              <a:rPr sz="2000" b="1" i="0">
                <a:solidFill>
                  <a:srgbClr val="FFFFFF"/>
                </a:solidFill>
                <a:latin typeface="Calibri" panose="020F0502020204030204"/>
              </a:rPr>
              <a:t>Langkah yang tidak ada di SOP mana pun, tapi semua orang mengerjakannya.</a:t>
            </a:r>
            <a:endParaRPr sz="2000" b="1" i="0">
              <a:solidFill>
                <a:srgbClr val="FFFFFF"/>
              </a:solidFill>
              <a:latin typeface="Calibri" panose="020F0502020204030204"/>
            </a:endParaRPr>
          </a:p>
        </p:txBody>
      </p:sp>
      <p:sp>
        <p:nvSpPr>
          <p:cNvPr id="10" name="TextBox 9"/>
          <p:cNvSpPr txBox="1"/>
          <p:nvPr/>
        </p:nvSpPr>
        <p:spPr>
          <a:xfrm>
            <a:off x="658368" y="3529584"/>
            <a:ext cx="9352727" cy="1280160"/>
          </a:xfrm>
          <a:prstGeom prst="rect">
            <a:avLst/>
          </a:prstGeom>
          <a:noFill/>
        </p:spPr>
        <p:txBody>
          <a:bodyPr wrap="square" lIns="0" tIns="0" rIns="0" bIns="0" anchor="t">
            <a:spAutoFit/>
          </a:bodyPr>
          <a:lstStyle/>
          <a:p>
            <a:pPr algn="l">
              <a:lnSpc>
                <a:spcPct val="135000"/>
              </a:lnSpc>
              <a:spcAft>
                <a:spcPts val="1200"/>
              </a:spcAft>
            </a:pPr>
            <a:r>
              <a:rPr sz="1500" b="0" i="0">
                <a:solidFill>
                  <a:srgbClr val="5A6672"/>
                </a:solidFill>
                <a:latin typeface="Calibri" panose="020F0502020204030204"/>
              </a:rPr>
              <a:t>Biasanya lahir dari keterbatasan sistem. Sekali dipakai, jadi kebiasaan. Lama lama jadi bagian proses yang tidak tertulis.</a:t>
            </a:r>
            <a:endParaRPr sz="1500" b="0" i="0">
              <a:solidFill>
                <a:srgbClr val="5A6672"/>
              </a:solidFill>
              <a:latin typeface="Calibri" panose="020F0502020204030204"/>
            </a:endParaRPr>
          </a:p>
          <a:p>
            <a:pPr algn="l">
              <a:lnSpc>
                <a:spcPct val="135000"/>
              </a:lnSpc>
              <a:spcAft>
                <a:spcPts val="1200"/>
              </a:spcAft>
            </a:pPr>
            <a:r>
              <a:rPr sz="1500" b="0" i="0">
                <a:solidFill>
                  <a:srgbClr val="5A6672"/>
                </a:solidFill>
                <a:latin typeface="Calibri" panose="020F0502020204030204"/>
              </a:rPr>
              <a:t>Ini paling susah ditemukan, karena pelakunya sendiri sudah menganggapnya normal.</a:t>
            </a:r>
            <a:endParaRPr sz="1500" b="0" i="0">
              <a:solidFill>
                <a:srgbClr val="5A6672"/>
              </a:solidFill>
              <a:latin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ATURAN PRAKTIS</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Berapa banyak wawancara yang cukup</a:t>
            </a:r>
            <a:endParaRPr sz="3000" b="1" i="0">
              <a:solidFill>
                <a:srgbClr val="1B2733"/>
              </a:solidFill>
              <a:latin typeface="Calibri" panose="020F0502020204030204"/>
            </a:endParaRPr>
          </a:p>
        </p:txBody>
      </p:sp>
      <p:sp>
        <p:nvSpPr>
          <p:cNvPr id="4" name="Rounded Rectangle 3"/>
          <p:cNvSpPr/>
          <p:nvPr/>
        </p:nvSpPr>
        <p:spPr>
          <a:xfrm>
            <a:off x="9019032" y="438912"/>
            <a:ext cx="2514600" cy="274320"/>
          </a:xfrm>
          <a:prstGeom prst="roundRect">
            <a:avLst/>
          </a:prstGeom>
          <a:solidFill>
            <a:srgbClr val="FFF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19032" y="484632"/>
            <a:ext cx="2514600" cy="237744"/>
          </a:xfrm>
          <a:prstGeom prst="rect">
            <a:avLst/>
          </a:prstGeom>
          <a:noFill/>
        </p:spPr>
        <p:txBody>
          <a:bodyPr wrap="square" lIns="0" tIns="0" rIns="0" bIns="0" anchor="t">
            <a:spAutoFit/>
          </a:bodyPr>
          <a:lstStyle/>
          <a:p>
            <a:pPr algn="ctr">
              <a:lnSpc>
                <a:spcPct val="100000"/>
              </a:lnSpc>
              <a:spcAft>
                <a:spcPts val="0"/>
              </a:spcAft>
            </a:pPr>
            <a:r>
              <a:rPr sz="950" b="1" i="0">
                <a:solidFill>
                  <a:srgbClr val="C97A0A"/>
                </a:solidFill>
                <a:latin typeface="Calibri" panose="020F0502020204030204"/>
              </a:rPr>
              <a:t>Boleh dipangkas kalau waktu mepet</a:t>
            </a:r>
            <a:endParaRPr sz="950" b="1" i="0">
              <a:solidFill>
                <a:srgbClr val="C97A0A"/>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11</a:t>
            </a:r>
            <a:endParaRPr sz="850" b="0" i="0">
              <a:solidFill>
                <a:srgbClr val="8A96A3"/>
              </a:solidFill>
              <a:latin typeface="Calibri" panose="020F0502020204030204"/>
            </a:endParaRPr>
          </a:p>
        </p:txBody>
      </p:sp>
      <p:sp>
        <p:nvSpPr>
          <p:cNvPr id="8" name="Rectangle 7"/>
          <p:cNvSpPr/>
          <p:nvPr/>
        </p:nvSpPr>
        <p:spPr>
          <a:xfrm>
            <a:off x="658368" y="2788920"/>
            <a:ext cx="10875264" cy="105156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2898648"/>
            <a:ext cx="9960864" cy="832103"/>
          </a:xfrm>
          <a:prstGeom prst="rect">
            <a:avLst/>
          </a:prstGeom>
          <a:noFill/>
        </p:spPr>
        <p:txBody>
          <a:bodyPr wrap="square" lIns="0" tIns="0" rIns="0" bIns="0" anchor="ctr">
            <a:spAutoFit/>
          </a:bodyPr>
          <a:lstStyle/>
          <a:p>
            <a:pPr algn="l">
              <a:lnSpc>
                <a:spcPct val="118000"/>
              </a:lnSpc>
              <a:spcAft>
                <a:spcPts val="0"/>
              </a:spcAft>
            </a:pPr>
            <a:r>
              <a:rPr sz="2000" b="1" i="0">
                <a:solidFill>
                  <a:srgbClr val="FFFFFF"/>
                </a:solidFill>
                <a:latin typeface="Calibri" panose="020F0502020204030204"/>
              </a:rPr>
              <a:t>Berhenti kalau orang keempat tidak lagi memberi informasi baru.</a:t>
            </a:r>
            <a:endParaRPr sz="2000" b="1" i="0">
              <a:solidFill>
                <a:srgbClr val="FFFFFF"/>
              </a:solidFill>
              <a:latin typeface="Calibri" panose="020F0502020204030204"/>
            </a:endParaRPr>
          </a:p>
        </p:txBody>
      </p:sp>
      <p:sp>
        <p:nvSpPr>
          <p:cNvPr id="10" name="TextBox 9"/>
          <p:cNvSpPr txBox="1"/>
          <p:nvPr/>
        </p:nvSpPr>
        <p:spPr>
          <a:xfrm>
            <a:off x="658368" y="4151376"/>
            <a:ext cx="9352727" cy="859536"/>
          </a:xfrm>
          <a:prstGeom prst="rect">
            <a:avLst/>
          </a:prstGeom>
          <a:noFill/>
        </p:spPr>
        <p:txBody>
          <a:bodyPr wrap="square" lIns="0" tIns="0" rIns="0" bIns="0" anchor="t">
            <a:spAutoFit/>
          </a:bodyPr>
          <a:lstStyle/>
          <a:p>
            <a:pPr algn="l">
              <a:lnSpc>
                <a:spcPct val="135000"/>
              </a:lnSpc>
              <a:spcAft>
                <a:spcPts val="1200"/>
              </a:spcAft>
            </a:pPr>
            <a:r>
              <a:rPr sz="1500" b="0" i="0">
                <a:solidFill>
                  <a:srgbClr val="5A6672"/>
                </a:solidFill>
                <a:latin typeface="Calibri" panose="020F0502020204030204"/>
              </a:rPr>
              <a:t>Tapi pastikan kamu sudah bicara dengan minimal satu orang dari tiap lane, plus satu orang yang menangani kasus yang gagal.</a:t>
            </a:r>
            <a:endParaRPr sz="1500" b="0" i="0">
              <a:solidFill>
                <a:srgbClr val="5A6672"/>
              </a:solidFill>
              <a:latin typeface="Calibri" panose="020F050202020403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OUTPUT FASE</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Output fase discovery</a:t>
            </a:r>
            <a:endParaRPr sz="3000" b="1" i="0">
              <a:solidFill>
                <a:srgbClr val="1B2733"/>
              </a:solidFill>
              <a:latin typeface="Calibri" panose="020F0502020204030204"/>
            </a:endParaRP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tIns="0" rIns="0" bIns="0" anchor="t">
            <a:spAutoFit/>
          </a:bodyPr>
          <a:lstStyle/>
          <a:p>
            <a:pPr algn="l">
              <a:lnSpc>
                <a:spcPct val="118000"/>
              </a:lnSpc>
              <a:spcAft>
                <a:spcPts val="0"/>
              </a:spcAft>
            </a:pPr>
            <a:r>
              <a:rPr sz="1350" b="1" i="0">
                <a:solidFill>
                  <a:srgbClr val="1B2733"/>
                </a:solidFill>
                <a:latin typeface="Calibri" panose="020F0502020204030204"/>
              </a:rPr>
              <a:t>Kalau kamu langsung menggambar waktu wawancara, kamu berhenti mendengarkan.</a:t>
            </a:r>
            <a:endParaRPr sz="1350" b="1" i="0">
              <a:solidFill>
                <a:srgbClr val="1B2733"/>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12</a:t>
            </a:r>
            <a:endParaRPr sz="850" b="0" i="0">
              <a:solidFill>
                <a:srgbClr val="8A96A3"/>
              </a:solidFill>
              <a:latin typeface="Calibri" panose="020F0502020204030204"/>
            </a:endParaRPr>
          </a:p>
        </p:txBody>
      </p:sp>
      <p:sp>
        <p:nvSpPr>
          <p:cNvPr id="8" name="Rectangle 7"/>
          <p:cNvSpPr/>
          <p:nvPr/>
        </p:nvSpPr>
        <p:spPr>
          <a:xfrm>
            <a:off x="658368" y="2304288"/>
            <a:ext cx="10875264" cy="105156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2414016"/>
            <a:ext cx="9960864" cy="832103"/>
          </a:xfrm>
          <a:prstGeom prst="rect">
            <a:avLst/>
          </a:prstGeom>
          <a:noFill/>
        </p:spPr>
        <p:txBody>
          <a:bodyPr wrap="square" lIns="0" tIns="0" rIns="0" bIns="0" anchor="ctr">
            <a:spAutoFit/>
          </a:bodyPr>
          <a:lstStyle/>
          <a:p>
            <a:pPr algn="l">
              <a:lnSpc>
                <a:spcPct val="118000"/>
              </a:lnSpc>
              <a:spcAft>
                <a:spcPts val="0"/>
              </a:spcAft>
            </a:pPr>
            <a:r>
              <a:rPr sz="2000" b="1" i="0">
                <a:solidFill>
                  <a:srgbClr val="FFFFFF"/>
                </a:solidFill>
                <a:latin typeface="Calibri" panose="020F0502020204030204"/>
              </a:rPr>
              <a:t>Bukan diagram.</a:t>
            </a:r>
            <a:endParaRPr sz="2000" b="1" i="0">
              <a:solidFill>
                <a:srgbClr val="FFFFFF"/>
              </a:solidFill>
              <a:latin typeface="Calibri" panose="020F0502020204030204"/>
            </a:endParaRPr>
          </a:p>
        </p:txBody>
      </p:sp>
      <p:sp>
        <p:nvSpPr>
          <p:cNvPr id="10" name="TextBox 9"/>
          <p:cNvSpPr txBox="1"/>
          <p:nvPr/>
        </p:nvSpPr>
        <p:spPr>
          <a:xfrm>
            <a:off x="658368" y="3666744"/>
            <a:ext cx="9352727" cy="1005840"/>
          </a:xfrm>
          <a:prstGeom prst="rect">
            <a:avLst/>
          </a:prstGeom>
          <a:noFill/>
        </p:spPr>
        <p:txBody>
          <a:bodyPr wrap="square" lIns="0" tIns="0" rIns="0" bIns="0" anchor="t">
            <a:spAutoFit/>
          </a:bodyPr>
          <a:lstStyle/>
          <a:p>
            <a:pPr algn="l">
              <a:lnSpc>
                <a:spcPct val="135000"/>
              </a:lnSpc>
              <a:spcAft>
                <a:spcPts val="1200"/>
              </a:spcAft>
            </a:pPr>
            <a:r>
              <a:rPr sz="1500" b="0" i="0">
                <a:solidFill>
                  <a:srgbClr val="5A6672"/>
                </a:solidFill>
                <a:latin typeface="Calibri" panose="020F0502020204030204"/>
              </a:rPr>
              <a:t>Output discovery itu catatan mentah, daftar konflik, dan daftar pertanyaan yang belum terjawab.</a:t>
            </a:r>
            <a:endParaRPr sz="1500" b="0" i="0">
              <a:solidFill>
                <a:srgbClr val="5A6672"/>
              </a:solidFill>
              <a:latin typeface="Calibri" panose="020F0502020204030204"/>
            </a:endParaRPr>
          </a:p>
          <a:p>
            <a:pPr algn="l">
              <a:lnSpc>
                <a:spcPct val="135000"/>
              </a:lnSpc>
              <a:spcAft>
                <a:spcPts val="1200"/>
              </a:spcAft>
            </a:pPr>
            <a:r>
              <a:rPr sz="1500" b="0" i="0">
                <a:solidFill>
                  <a:srgbClr val="5A6672"/>
                </a:solidFill>
                <a:latin typeface="Calibri" panose="020F0502020204030204"/>
              </a:rPr>
              <a:t>Diagram itu hasil fase berikutnya.</a:t>
            </a:r>
            <a:endParaRPr sz="1500" b="0" i="0">
              <a:solidFill>
                <a:srgbClr val="5A6672"/>
              </a:solidFill>
              <a:latin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7C86"/>
        </a:solidFill>
        <a:effectLst/>
      </p:bgPr>
    </p:bg>
    <p:spTree>
      <p:nvGrpSpPr>
        <p:cNvPr id="1" name=""/>
        <p:cNvGrpSpPr/>
        <p:nvPr/>
      </p:nvGrpSpPr>
      <p:grpSpPr/>
      <p:sp>
        <p:nvSpPr>
          <p:cNvPr id="2" name="Oval 1"/>
          <p:cNvSpPr/>
          <p:nvPr/>
        </p:nvSpPr>
        <p:spPr>
          <a:xfrm>
            <a:off x="9601200" y="-1097280"/>
            <a:ext cx="4023360" cy="402336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41280" y="3840480"/>
            <a:ext cx="3291840" cy="3291840"/>
          </a:xfrm>
          <a:prstGeom prst="ellipse">
            <a:avLst/>
          </a:prstGeom>
          <a:solidFill>
            <a:srgbClr val="5B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0"/>
            <a:ext cx="5486400" cy="320040"/>
          </a:xfrm>
          <a:prstGeom prst="rect">
            <a:avLst/>
          </a:prstGeom>
          <a:noFill/>
        </p:spPr>
        <p:txBody>
          <a:bodyPr wrap="square" lIns="0" tIns="0" rIns="0" bIns="0" anchor="t">
            <a:spAutoFit/>
          </a:bodyPr>
          <a:lstStyle/>
          <a:p>
            <a:pPr algn="l">
              <a:lnSpc>
                <a:spcPct val="100000"/>
              </a:lnSpc>
              <a:spcAft>
                <a:spcPts val="0"/>
              </a:spcAft>
            </a:pPr>
            <a:r>
              <a:rPr sz="1300" b="1" i="0">
                <a:solidFill>
                  <a:srgbClr val="AFE4E9"/>
                </a:solidFill>
                <a:latin typeface="Calibri" panose="020F0502020204030204"/>
              </a:rPr>
              <a:t>MODUL 2</a:t>
            </a:r>
            <a:endParaRPr sz="1300" b="1" i="0">
              <a:solidFill>
                <a:srgbClr val="AFE4E9"/>
              </a:solidFill>
              <a:latin typeface="Calibri" panose="020F0502020204030204"/>
            </a:endParaRPr>
          </a:p>
        </p:txBody>
      </p:sp>
      <p:sp>
        <p:nvSpPr>
          <p:cNvPr id="5" name="TextBox 4"/>
          <p:cNvSpPr txBox="1"/>
          <p:nvPr/>
        </p:nvSpPr>
        <p:spPr>
          <a:xfrm>
            <a:off x="658368" y="2670048"/>
            <a:ext cx="9326880" cy="1371600"/>
          </a:xfrm>
          <a:prstGeom prst="rect">
            <a:avLst/>
          </a:prstGeom>
          <a:noFill/>
        </p:spPr>
        <p:txBody>
          <a:bodyPr wrap="square" lIns="0" tIns="0" rIns="0" bIns="0" anchor="t">
            <a:spAutoFit/>
          </a:bodyPr>
          <a:lstStyle/>
          <a:p>
            <a:pPr algn="l">
              <a:lnSpc>
                <a:spcPct val="105000"/>
              </a:lnSpc>
              <a:spcAft>
                <a:spcPts val="0"/>
              </a:spcAft>
            </a:pPr>
            <a:r>
              <a:rPr sz="3800" b="1" i="0">
                <a:solidFill>
                  <a:srgbClr val="FFFFFF"/>
                </a:solidFill>
                <a:latin typeface="Calibri" panose="020F0502020204030204"/>
              </a:rPr>
              <a:t>Menggambar Proses dengan BPMN 2.0</a:t>
            </a:r>
            <a:endParaRPr sz="3800" b="1" i="0">
              <a:solidFill>
                <a:srgbClr val="FFFFFF"/>
              </a:solidFill>
              <a:latin typeface="Calibri" panose="020F0502020204030204"/>
            </a:endParaRPr>
          </a:p>
        </p:txBody>
      </p:sp>
      <p:sp>
        <p:nvSpPr>
          <p:cNvPr id="6" name="TextBox 5"/>
          <p:cNvSpPr txBox="1"/>
          <p:nvPr/>
        </p:nvSpPr>
        <p:spPr>
          <a:xfrm>
            <a:off x="658368" y="4160520"/>
            <a:ext cx="8778240" cy="548640"/>
          </a:xfrm>
          <a:prstGeom prst="rect">
            <a:avLst/>
          </a:prstGeom>
          <a:noFill/>
        </p:spPr>
        <p:txBody>
          <a:bodyPr wrap="square" lIns="0" tIns="0" rIns="0" bIns="0" anchor="t">
            <a:spAutoFit/>
          </a:bodyPr>
          <a:lstStyle/>
          <a:p>
            <a:pPr algn="l">
              <a:lnSpc>
                <a:spcPct val="120000"/>
              </a:lnSpc>
              <a:spcAft>
                <a:spcPts val="0"/>
              </a:spcAft>
            </a:pPr>
            <a:r>
              <a:rPr sz="1600" b="0" i="0">
                <a:solidFill>
                  <a:srgbClr val="AFE4E9"/>
                </a:solidFill>
                <a:latin typeface="Calibri" panose="020F0502020204030204"/>
              </a:rPr>
              <a:t>Notasi standar, supaya gambarmu bisa dibaca orang lain.</a:t>
            </a:r>
            <a:endParaRPr sz="1600" b="0" i="0">
              <a:solidFill>
                <a:srgbClr val="AFE4E9"/>
              </a:solidFill>
              <a:latin typeface="Calibri" panose="020F0502020204030204"/>
            </a:endParaRPr>
          </a:p>
        </p:txBody>
      </p:sp>
      <p:sp>
        <p:nvSpPr>
          <p:cNvPr id="7" name="TextBox 6"/>
          <p:cNvSpPr txBox="1"/>
          <p:nvPr/>
        </p:nvSpPr>
        <p:spPr>
          <a:xfrm>
            <a:off x="658368" y="5852160"/>
            <a:ext cx="7315200" cy="320040"/>
          </a:xfrm>
          <a:prstGeom prst="rect">
            <a:avLst/>
          </a:prstGeom>
          <a:noFill/>
        </p:spPr>
        <p:txBody>
          <a:bodyPr wrap="square" lIns="0" tIns="0" rIns="0" bIns="0" anchor="t">
            <a:spAutoFit/>
          </a:bodyPr>
          <a:lstStyle/>
          <a:p>
            <a:pPr algn="l">
              <a:lnSpc>
                <a:spcPct val="100000"/>
              </a:lnSpc>
              <a:spcAft>
                <a:spcPts val="0"/>
              </a:spcAft>
            </a:pPr>
            <a:r>
              <a:rPr sz="1200" b="0" i="0">
                <a:solidFill>
                  <a:srgbClr val="AFE4E9"/>
                </a:solidFill>
                <a:latin typeface="Calibri" panose="020F0502020204030204"/>
              </a:rPr>
              <a:t>sekitar 25 menit</a:t>
            </a:r>
            <a:endParaRPr sz="1200" b="0" i="0">
              <a:solidFill>
                <a:srgbClr val="AFE4E9"/>
              </a:solidFill>
              <a:latin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KENAPA HARUS STANDAR</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Kenapa harus standar</a:t>
            </a:r>
            <a:endParaRPr sz="3000" b="1" i="0">
              <a:solidFill>
                <a:srgbClr val="1B2733"/>
              </a:solidFill>
              <a:latin typeface="Calibri" panose="020F0502020204030204"/>
            </a:endParaRP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tIns="0" rIns="0" bIns="0" anchor="t">
            <a:spAutoFit/>
          </a:bodyPr>
          <a:lstStyle/>
          <a:p>
            <a:pPr algn="l">
              <a:lnSpc>
                <a:spcPct val="118000"/>
              </a:lnSpc>
              <a:spcAft>
                <a:spcPts val="0"/>
              </a:spcAft>
            </a:pPr>
            <a:r>
              <a:rPr sz="1350" b="1" i="0">
                <a:solidFill>
                  <a:srgbClr val="1B2733"/>
                </a:solidFill>
                <a:latin typeface="Calibri" panose="020F0502020204030204"/>
              </a:rPr>
              <a:t>BPMN itu bukan buat pamer. BPMN itu supaya gambarmu tidak perlu kamu jelaskan.</a:t>
            </a:r>
            <a:endParaRPr sz="1350" b="1" i="0">
              <a:solidFill>
                <a:srgbClr val="1B2733"/>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14</a:t>
            </a:r>
            <a:endParaRPr sz="850" b="0" i="0">
              <a:solidFill>
                <a:srgbClr val="8A96A3"/>
              </a:solidFill>
              <a:latin typeface="Calibri" panose="020F0502020204030204"/>
            </a:endParaRPr>
          </a:p>
        </p:txBody>
      </p:sp>
      <p:sp>
        <p:nvSpPr>
          <p:cNvPr id="8" name="Rectangle 7"/>
          <p:cNvSpPr/>
          <p:nvPr/>
        </p:nvSpPr>
        <p:spPr>
          <a:xfrm>
            <a:off x="658368" y="2377440"/>
            <a:ext cx="10875264" cy="105156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2487168"/>
            <a:ext cx="9960864" cy="832103"/>
          </a:xfrm>
          <a:prstGeom prst="rect">
            <a:avLst/>
          </a:prstGeom>
          <a:noFill/>
        </p:spPr>
        <p:txBody>
          <a:bodyPr wrap="square" lIns="0" tIns="0" rIns="0" bIns="0" anchor="ctr">
            <a:spAutoFit/>
          </a:bodyPr>
          <a:lstStyle/>
          <a:p>
            <a:pPr algn="l">
              <a:lnSpc>
                <a:spcPct val="118000"/>
              </a:lnSpc>
              <a:spcAft>
                <a:spcPts val="0"/>
              </a:spcAft>
            </a:pPr>
            <a:r>
              <a:rPr sz="2000" b="1" i="0">
                <a:solidFill>
                  <a:srgbClr val="FFFFFF"/>
                </a:solidFill>
                <a:latin typeface="Calibri" panose="020F0502020204030204"/>
              </a:rPr>
              <a:t>Flowchart bebas bisa dibaca kamu sendiri. BPMN bisa dibaca analis lain, auditor, dan tim di kantor lain.</a:t>
            </a:r>
            <a:endParaRPr sz="2000" b="1" i="0">
              <a:solidFill>
                <a:srgbClr val="FFFFFF"/>
              </a:solidFill>
              <a:latin typeface="Calibri" panose="020F0502020204030204"/>
            </a:endParaRPr>
          </a:p>
        </p:txBody>
      </p:sp>
      <p:sp>
        <p:nvSpPr>
          <p:cNvPr id="10" name="TextBox 9"/>
          <p:cNvSpPr txBox="1"/>
          <p:nvPr/>
        </p:nvSpPr>
        <p:spPr>
          <a:xfrm>
            <a:off x="658368" y="3739896"/>
            <a:ext cx="9352727" cy="859536"/>
          </a:xfrm>
          <a:prstGeom prst="rect">
            <a:avLst/>
          </a:prstGeom>
          <a:noFill/>
        </p:spPr>
        <p:txBody>
          <a:bodyPr wrap="square" lIns="0" tIns="0" rIns="0" bIns="0" anchor="t">
            <a:spAutoFit/>
          </a:bodyPr>
          <a:lstStyle/>
          <a:p>
            <a:pPr algn="l">
              <a:lnSpc>
                <a:spcPct val="135000"/>
              </a:lnSpc>
              <a:spcAft>
                <a:spcPts val="1200"/>
              </a:spcAft>
            </a:pPr>
            <a:r>
              <a:rPr sz="1500" b="0" i="0">
                <a:solidFill>
                  <a:srgbClr val="5A6672"/>
                </a:solidFill>
                <a:latin typeface="Calibri" panose="020F0502020204030204"/>
              </a:rPr>
              <a:t>Di industri terregulasi, model proses itu dokumen yang dipakai berdebat. Debat butuh bahasa yang sama.</a:t>
            </a:r>
            <a:endParaRPr sz="1500" b="0" i="0">
              <a:solidFill>
                <a:srgbClr val="5A6672"/>
              </a:solidFill>
              <a:latin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NOTASI DASAR</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Empat kelompok elemen</a:t>
            </a:r>
            <a:endParaRPr sz="3000" b="1" i="0">
              <a:solidFill>
                <a:srgbClr val="1B2733"/>
              </a:solidFill>
              <a:latin typeface="Calibri" panose="020F0502020204030204"/>
            </a:endParaRP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tIns="0" rIns="0" bIns="0" anchor="t">
            <a:spAutoFit/>
          </a:bodyPr>
          <a:lstStyle/>
          <a:p>
            <a:pPr algn="l">
              <a:lnSpc>
                <a:spcPct val="118000"/>
              </a:lnSpc>
              <a:spcAft>
                <a:spcPts val="0"/>
              </a:spcAft>
            </a:pPr>
            <a:r>
              <a:rPr sz="1350" b="1" i="0">
                <a:solidFill>
                  <a:srgbClr val="1B2733"/>
                </a:solidFill>
                <a:latin typeface="Calibri" panose="020F0502020204030204"/>
              </a:rPr>
              <a:t>Event lingkaran, activity kotak, gateway belah ketupat, flow panah.</a:t>
            </a:r>
            <a:endParaRPr sz="1350" b="1" i="0">
              <a:solidFill>
                <a:srgbClr val="1B2733"/>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15</a:t>
            </a:r>
            <a:endParaRPr sz="850" b="0" i="0">
              <a:solidFill>
                <a:srgbClr val="8A96A3"/>
              </a:solidFill>
              <a:latin typeface="Calibri" panose="020F0502020204030204"/>
            </a:endParaRPr>
          </a:p>
        </p:txBody>
      </p:sp>
      <p:sp>
        <p:nvSpPr>
          <p:cNvPr id="8" name="TextBox 7"/>
          <p:cNvSpPr txBox="1"/>
          <p:nvPr/>
        </p:nvSpPr>
        <p:spPr>
          <a:xfrm>
            <a:off x="658368" y="1709928"/>
            <a:ext cx="2490216" cy="320040"/>
          </a:xfrm>
          <a:prstGeom prst="rect">
            <a:avLst/>
          </a:prstGeom>
          <a:noFill/>
        </p:spPr>
        <p:txBody>
          <a:bodyPr wrap="square" lIns="0" tIns="0" rIns="0" bIns="0" anchor="t">
            <a:spAutoFit/>
          </a:bodyPr>
          <a:lstStyle/>
          <a:p>
            <a:pPr algn="l">
              <a:lnSpc>
                <a:spcPct val="100000"/>
              </a:lnSpc>
              <a:spcAft>
                <a:spcPts val="0"/>
              </a:spcAft>
            </a:pPr>
            <a:r>
              <a:rPr sz="1600" b="1" i="0">
                <a:solidFill>
                  <a:srgbClr val="106F7A"/>
                </a:solidFill>
                <a:latin typeface="Calibri" panose="020F0502020204030204"/>
              </a:rPr>
              <a:t>Event</a:t>
            </a:r>
            <a:endParaRPr sz="1600" b="1" i="0">
              <a:solidFill>
                <a:srgbClr val="106F7A"/>
              </a:solidFill>
              <a:latin typeface="Calibri" panose="020F0502020204030204"/>
            </a:endParaRPr>
          </a:p>
        </p:txBody>
      </p:sp>
      <p:sp>
        <p:nvSpPr>
          <p:cNvPr id="9" name="TextBox 8"/>
          <p:cNvSpPr txBox="1"/>
          <p:nvPr/>
        </p:nvSpPr>
        <p:spPr>
          <a:xfrm>
            <a:off x="658368" y="2039112"/>
            <a:ext cx="2444496" cy="548640"/>
          </a:xfrm>
          <a:prstGeom prst="rect">
            <a:avLst/>
          </a:prstGeom>
          <a:noFill/>
        </p:spPr>
        <p:txBody>
          <a:bodyPr wrap="square" lIns="0" tIns="0" rIns="0" bIns="0" anchor="t">
            <a:spAutoFit/>
          </a:bodyPr>
          <a:lstStyle/>
          <a:p>
            <a:pPr algn="l">
              <a:lnSpc>
                <a:spcPct val="120000"/>
              </a:lnSpc>
              <a:spcAft>
                <a:spcPts val="0"/>
              </a:spcAft>
            </a:pPr>
            <a:r>
              <a:rPr sz="1100" b="0" i="0">
                <a:solidFill>
                  <a:srgbClr val="5A6672"/>
                </a:solidFill>
                <a:latin typeface="Calibri" panose="020F0502020204030204"/>
              </a:rPr>
              <a:t>Lingkaran. Sesuatu yang terjadi.</a:t>
            </a:r>
            <a:endParaRPr sz="1100" b="0" i="0">
              <a:solidFill>
                <a:srgbClr val="5A6672"/>
              </a:solidFill>
              <a:latin typeface="Calibri" panose="020F0502020204030204"/>
            </a:endParaRPr>
          </a:p>
        </p:txBody>
      </p:sp>
      <p:sp>
        <p:nvSpPr>
          <p:cNvPr id="10" name="Rectangle 9"/>
          <p:cNvSpPr/>
          <p:nvPr/>
        </p:nvSpPr>
        <p:spPr>
          <a:xfrm>
            <a:off x="3240024" y="1709928"/>
            <a:ext cx="10972" cy="2651760"/>
          </a:xfrm>
          <a:prstGeom prst="rect">
            <a:avLst/>
          </a:prstGeom>
          <a:solidFill>
            <a:srgbClr val="DC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77184" y="1709928"/>
            <a:ext cx="2490216" cy="320040"/>
          </a:xfrm>
          <a:prstGeom prst="rect">
            <a:avLst/>
          </a:prstGeom>
          <a:noFill/>
        </p:spPr>
        <p:txBody>
          <a:bodyPr wrap="square" lIns="0" tIns="0" rIns="0" bIns="0" anchor="t">
            <a:spAutoFit/>
          </a:bodyPr>
          <a:lstStyle/>
          <a:p>
            <a:pPr algn="l">
              <a:lnSpc>
                <a:spcPct val="100000"/>
              </a:lnSpc>
              <a:spcAft>
                <a:spcPts val="0"/>
              </a:spcAft>
            </a:pPr>
            <a:r>
              <a:rPr sz="1600" b="1" i="0">
                <a:solidFill>
                  <a:srgbClr val="106F7A"/>
                </a:solidFill>
                <a:latin typeface="Calibri" panose="020F0502020204030204"/>
              </a:rPr>
              <a:t>Activity</a:t>
            </a:r>
            <a:endParaRPr sz="1600" b="1" i="0">
              <a:solidFill>
                <a:srgbClr val="106F7A"/>
              </a:solidFill>
              <a:latin typeface="Calibri" panose="020F0502020204030204"/>
            </a:endParaRPr>
          </a:p>
        </p:txBody>
      </p:sp>
      <p:sp>
        <p:nvSpPr>
          <p:cNvPr id="12" name="TextBox 11"/>
          <p:cNvSpPr txBox="1"/>
          <p:nvPr/>
        </p:nvSpPr>
        <p:spPr>
          <a:xfrm>
            <a:off x="3377184" y="2039112"/>
            <a:ext cx="2444496" cy="548640"/>
          </a:xfrm>
          <a:prstGeom prst="rect">
            <a:avLst/>
          </a:prstGeom>
          <a:noFill/>
        </p:spPr>
        <p:txBody>
          <a:bodyPr wrap="square" lIns="0" tIns="0" rIns="0" bIns="0" anchor="t">
            <a:spAutoFit/>
          </a:bodyPr>
          <a:lstStyle/>
          <a:p>
            <a:pPr algn="l">
              <a:lnSpc>
                <a:spcPct val="120000"/>
              </a:lnSpc>
              <a:spcAft>
                <a:spcPts val="0"/>
              </a:spcAft>
            </a:pPr>
            <a:r>
              <a:rPr sz="1100" b="0" i="0">
                <a:solidFill>
                  <a:srgbClr val="5A6672"/>
                </a:solidFill>
                <a:latin typeface="Calibri" panose="020F0502020204030204"/>
              </a:rPr>
              <a:t>Kotak sudut bulat. Sesuatu yang dikerjakan.</a:t>
            </a:r>
            <a:endParaRPr sz="1100" b="0" i="0">
              <a:solidFill>
                <a:srgbClr val="5A6672"/>
              </a:solidFill>
              <a:latin typeface="Calibri" panose="020F0502020204030204"/>
            </a:endParaRPr>
          </a:p>
        </p:txBody>
      </p:sp>
      <p:sp>
        <p:nvSpPr>
          <p:cNvPr id="13" name="Rectangle 12"/>
          <p:cNvSpPr/>
          <p:nvPr/>
        </p:nvSpPr>
        <p:spPr>
          <a:xfrm>
            <a:off x="5958840" y="1709928"/>
            <a:ext cx="10972" cy="2651760"/>
          </a:xfrm>
          <a:prstGeom prst="rect">
            <a:avLst/>
          </a:prstGeom>
          <a:solidFill>
            <a:srgbClr val="DC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6000" y="1709928"/>
            <a:ext cx="2490216" cy="320040"/>
          </a:xfrm>
          <a:prstGeom prst="rect">
            <a:avLst/>
          </a:prstGeom>
          <a:noFill/>
        </p:spPr>
        <p:txBody>
          <a:bodyPr wrap="square" lIns="0" tIns="0" rIns="0" bIns="0" anchor="t">
            <a:spAutoFit/>
          </a:bodyPr>
          <a:lstStyle/>
          <a:p>
            <a:pPr algn="l">
              <a:lnSpc>
                <a:spcPct val="100000"/>
              </a:lnSpc>
              <a:spcAft>
                <a:spcPts val="0"/>
              </a:spcAft>
            </a:pPr>
            <a:r>
              <a:rPr sz="1600" b="1" i="0">
                <a:solidFill>
                  <a:srgbClr val="106F7A"/>
                </a:solidFill>
                <a:latin typeface="Calibri" panose="020F0502020204030204"/>
              </a:rPr>
              <a:t>Gateway</a:t>
            </a:r>
            <a:endParaRPr sz="1600" b="1" i="0">
              <a:solidFill>
                <a:srgbClr val="106F7A"/>
              </a:solidFill>
              <a:latin typeface="Calibri" panose="020F0502020204030204"/>
            </a:endParaRPr>
          </a:p>
        </p:txBody>
      </p:sp>
      <p:sp>
        <p:nvSpPr>
          <p:cNvPr id="15" name="TextBox 14"/>
          <p:cNvSpPr txBox="1"/>
          <p:nvPr/>
        </p:nvSpPr>
        <p:spPr>
          <a:xfrm>
            <a:off x="6096000" y="2039112"/>
            <a:ext cx="2444496" cy="548640"/>
          </a:xfrm>
          <a:prstGeom prst="rect">
            <a:avLst/>
          </a:prstGeom>
          <a:noFill/>
        </p:spPr>
        <p:txBody>
          <a:bodyPr wrap="square" lIns="0" tIns="0" rIns="0" bIns="0" anchor="t">
            <a:spAutoFit/>
          </a:bodyPr>
          <a:lstStyle/>
          <a:p>
            <a:pPr algn="l">
              <a:lnSpc>
                <a:spcPct val="120000"/>
              </a:lnSpc>
              <a:spcAft>
                <a:spcPts val="0"/>
              </a:spcAft>
            </a:pPr>
            <a:r>
              <a:rPr sz="1100" b="0" i="0">
                <a:solidFill>
                  <a:srgbClr val="5A6672"/>
                </a:solidFill>
                <a:latin typeface="Calibri" panose="020F0502020204030204"/>
              </a:rPr>
              <a:t>Belah ketupat. Percabangan atau penggabungan.</a:t>
            </a:r>
            <a:endParaRPr sz="1100" b="0" i="0">
              <a:solidFill>
                <a:srgbClr val="5A6672"/>
              </a:solidFill>
              <a:latin typeface="Calibri" panose="020F0502020204030204"/>
            </a:endParaRPr>
          </a:p>
        </p:txBody>
      </p:sp>
      <p:sp>
        <p:nvSpPr>
          <p:cNvPr id="16" name="Rectangle 15"/>
          <p:cNvSpPr/>
          <p:nvPr/>
        </p:nvSpPr>
        <p:spPr>
          <a:xfrm>
            <a:off x="8677656" y="1709928"/>
            <a:ext cx="10972" cy="2651760"/>
          </a:xfrm>
          <a:prstGeom prst="rect">
            <a:avLst/>
          </a:prstGeom>
          <a:solidFill>
            <a:srgbClr val="DCE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14816" y="1709928"/>
            <a:ext cx="2490216" cy="320040"/>
          </a:xfrm>
          <a:prstGeom prst="rect">
            <a:avLst/>
          </a:prstGeom>
          <a:noFill/>
        </p:spPr>
        <p:txBody>
          <a:bodyPr wrap="square" lIns="0" tIns="0" rIns="0" bIns="0" anchor="t">
            <a:spAutoFit/>
          </a:bodyPr>
          <a:lstStyle/>
          <a:p>
            <a:pPr algn="l">
              <a:lnSpc>
                <a:spcPct val="100000"/>
              </a:lnSpc>
              <a:spcAft>
                <a:spcPts val="0"/>
              </a:spcAft>
            </a:pPr>
            <a:r>
              <a:rPr sz="1600" b="1" i="0">
                <a:solidFill>
                  <a:srgbClr val="106F7A"/>
                </a:solidFill>
                <a:latin typeface="Calibri" panose="020F0502020204030204"/>
              </a:rPr>
              <a:t>Flow</a:t>
            </a:r>
            <a:endParaRPr sz="1600" b="1" i="0">
              <a:solidFill>
                <a:srgbClr val="106F7A"/>
              </a:solidFill>
              <a:latin typeface="Calibri" panose="020F0502020204030204"/>
            </a:endParaRPr>
          </a:p>
        </p:txBody>
      </p:sp>
      <p:sp>
        <p:nvSpPr>
          <p:cNvPr id="18" name="TextBox 17"/>
          <p:cNvSpPr txBox="1"/>
          <p:nvPr/>
        </p:nvSpPr>
        <p:spPr>
          <a:xfrm>
            <a:off x="8814816" y="2039112"/>
            <a:ext cx="2444496" cy="548640"/>
          </a:xfrm>
          <a:prstGeom prst="rect">
            <a:avLst/>
          </a:prstGeom>
          <a:noFill/>
        </p:spPr>
        <p:txBody>
          <a:bodyPr wrap="square" lIns="0" tIns="0" rIns="0" bIns="0" anchor="t">
            <a:spAutoFit/>
          </a:bodyPr>
          <a:lstStyle/>
          <a:p>
            <a:pPr algn="l">
              <a:lnSpc>
                <a:spcPct val="120000"/>
              </a:lnSpc>
              <a:spcAft>
                <a:spcPts val="0"/>
              </a:spcAft>
            </a:pPr>
            <a:r>
              <a:rPr sz="1100" b="0" i="0">
                <a:solidFill>
                  <a:srgbClr val="5A6672"/>
                </a:solidFill>
                <a:latin typeface="Calibri" panose="020F0502020204030204"/>
              </a:rPr>
              <a:t>Panah. Penghubung antar elemen.</a:t>
            </a:r>
            <a:endParaRPr sz="1100" b="0" i="0">
              <a:solidFill>
                <a:srgbClr val="5A6672"/>
              </a:solidFill>
              <a:latin typeface="Calibri" panose="020F0502020204030204"/>
            </a:endParaRPr>
          </a:p>
        </p:txBody>
      </p:sp>
      <p:sp>
        <p:nvSpPr>
          <p:cNvPr id="19" name="Oval 18"/>
          <p:cNvSpPr/>
          <p:nvPr/>
        </p:nvSpPr>
        <p:spPr>
          <a:xfrm>
            <a:off x="868680" y="3017520"/>
            <a:ext cx="402336" cy="402336"/>
          </a:xfrm>
          <a:prstGeom prst="ellipse">
            <a:avLst/>
          </a:prstGeom>
          <a:solidFill>
            <a:srgbClr val="FFFFFF"/>
          </a:solidFill>
          <a:ln w="15875">
            <a:solidFill>
              <a:srgbClr val="12A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 y="3493008"/>
            <a:ext cx="804672" cy="237744"/>
          </a:xfrm>
          <a:prstGeom prst="rect">
            <a:avLst/>
          </a:prstGeom>
          <a:noFill/>
        </p:spPr>
        <p:txBody>
          <a:bodyPr wrap="square" lIns="0" tIns="0" rIns="0" bIns="0" anchor="t">
            <a:spAutoFit/>
          </a:bodyPr>
          <a:lstStyle/>
          <a:p>
            <a:pPr algn="ctr">
              <a:lnSpc>
                <a:spcPct val="100000"/>
              </a:lnSpc>
              <a:spcAft>
                <a:spcPts val="0"/>
              </a:spcAft>
            </a:pPr>
            <a:r>
              <a:rPr sz="850" b="0" i="0">
                <a:solidFill>
                  <a:srgbClr val="5A6672"/>
                </a:solidFill>
                <a:latin typeface="Calibri" panose="020F0502020204030204"/>
              </a:rPr>
              <a:t>Start, tipis</a:t>
            </a:r>
            <a:endParaRPr sz="850" b="0" i="0">
              <a:solidFill>
                <a:srgbClr val="5A6672"/>
              </a:solidFill>
              <a:latin typeface="Calibri" panose="020F0502020204030204"/>
            </a:endParaRPr>
          </a:p>
        </p:txBody>
      </p:sp>
      <p:sp>
        <p:nvSpPr>
          <p:cNvPr id="21" name="Oval 20"/>
          <p:cNvSpPr/>
          <p:nvPr/>
        </p:nvSpPr>
        <p:spPr>
          <a:xfrm>
            <a:off x="1691639" y="3017520"/>
            <a:ext cx="402336" cy="402336"/>
          </a:xfrm>
          <a:prstGeom prst="ellipse">
            <a:avLst/>
          </a:prstGeom>
          <a:solidFill>
            <a:srgbClr val="FFFFFF"/>
          </a:solidFill>
          <a:ln w="15875">
            <a:solidFill>
              <a:srgbClr val="12A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732787" y="3058668"/>
            <a:ext cx="320040" cy="320040"/>
          </a:xfrm>
          <a:prstGeom prst="ellipse">
            <a:avLst/>
          </a:prstGeom>
          <a:noFill/>
          <a:ln w="15875">
            <a:solidFill>
              <a:srgbClr val="12A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490472" y="3493008"/>
            <a:ext cx="804672" cy="237744"/>
          </a:xfrm>
          <a:prstGeom prst="rect">
            <a:avLst/>
          </a:prstGeom>
          <a:noFill/>
        </p:spPr>
        <p:txBody>
          <a:bodyPr wrap="square" lIns="0" tIns="0" rIns="0" bIns="0" anchor="t">
            <a:spAutoFit/>
          </a:bodyPr>
          <a:lstStyle/>
          <a:p>
            <a:pPr algn="ctr">
              <a:lnSpc>
                <a:spcPct val="100000"/>
              </a:lnSpc>
              <a:spcAft>
                <a:spcPts val="0"/>
              </a:spcAft>
            </a:pPr>
            <a:r>
              <a:rPr sz="850" b="0" i="0">
                <a:solidFill>
                  <a:srgbClr val="5A6672"/>
                </a:solidFill>
                <a:latin typeface="Calibri" panose="020F0502020204030204"/>
              </a:rPr>
              <a:t>Intermediate, dobel</a:t>
            </a:r>
            <a:endParaRPr sz="850" b="0" i="0">
              <a:solidFill>
                <a:srgbClr val="5A6672"/>
              </a:solidFill>
              <a:latin typeface="Calibri" panose="020F0502020204030204"/>
            </a:endParaRPr>
          </a:p>
        </p:txBody>
      </p:sp>
      <p:sp>
        <p:nvSpPr>
          <p:cNvPr id="24" name="Oval 23"/>
          <p:cNvSpPr/>
          <p:nvPr/>
        </p:nvSpPr>
        <p:spPr>
          <a:xfrm>
            <a:off x="2514599" y="3017520"/>
            <a:ext cx="402336" cy="402336"/>
          </a:xfrm>
          <a:prstGeom prst="ellipse">
            <a:avLst/>
          </a:prstGeom>
          <a:solidFill>
            <a:srgbClr val="FFFFFF"/>
          </a:solidFill>
          <a:ln w="38100">
            <a:solidFill>
              <a:srgbClr val="1B27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13432" y="3493008"/>
            <a:ext cx="804672" cy="237744"/>
          </a:xfrm>
          <a:prstGeom prst="rect">
            <a:avLst/>
          </a:prstGeom>
          <a:noFill/>
        </p:spPr>
        <p:txBody>
          <a:bodyPr wrap="square" lIns="0" tIns="0" rIns="0" bIns="0" anchor="t">
            <a:spAutoFit/>
          </a:bodyPr>
          <a:lstStyle/>
          <a:p>
            <a:pPr algn="ctr">
              <a:lnSpc>
                <a:spcPct val="100000"/>
              </a:lnSpc>
              <a:spcAft>
                <a:spcPts val="0"/>
              </a:spcAft>
            </a:pPr>
            <a:r>
              <a:rPr sz="850" b="0" i="0">
                <a:solidFill>
                  <a:srgbClr val="5A6672"/>
                </a:solidFill>
                <a:latin typeface="Calibri" panose="020F0502020204030204"/>
              </a:rPr>
              <a:t>End, tebal</a:t>
            </a:r>
            <a:endParaRPr sz="850" b="0" i="0">
              <a:solidFill>
                <a:srgbClr val="5A6672"/>
              </a:solidFill>
              <a:latin typeface="Calibri" panose="020F0502020204030204"/>
            </a:endParaRPr>
          </a:p>
        </p:txBody>
      </p:sp>
      <p:sp>
        <p:nvSpPr>
          <p:cNvPr id="26" name="Rounded Rectangle 25"/>
          <p:cNvSpPr/>
          <p:nvPr/>
        </p:nvSpPr>
        <p:spPr>
          <a:xfrm>
            <a:off x="3486912" y="2990088"/>
            <a:ext cx="1691640" cy="566928"/>
          </a:xfrm>
          <a:prstGeom prst="roundRect">
            <a:avLst>
              <a:gd name="adj" fmla="val 13000"/>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12000"/>
              </a:lnSpc>
            </a:pPr>
            <a:r>
              <a:rPr sz="1100" b="0">
                <a:solidFill>
                  <a:srgbClr val="1B2733"/>
                </a:solidFill>
                <a:latin typeface="Calibri" panose="020F0502020204030204"/>
              </a:rPr>
              <a:t>Memeriksa dokumen</a:t>
            </a:r>
            <a:endParaRPr sz="1100" b="0">
              <a:solidFill>
                <a:srgbClr val="1B2733"/>
              </a:solidFill>
              <a:latin typeface="Calibri" panose="020F0502020204030204"/>
            </a:endParaRPr>
          </a:p>
        </p:txBody>
      </p:sp>
      <p:sp>
        <p:nvSpPr>
          <p:cNvPr id="27" name="TextBox 26"/>
          <p:cNvSpPr txBox="1"/>
          <p:nvPr/>
        </p:nvSpPr>
        <p:spPr>
          <a:xfrm>
            <a:off x="3486912" y="3621024"/>
            <a:ext cx="1691640" cy="237744"/>
          </a:xfrm>
          <a:prstGeom prst="rect">
            <a:avLst/>
          </a:prstGeom>
          <a:noFill/>
        </p:spPr>
        <p:txBody>
          <a:bodyPr wrap="square" lIns="0" tIns="0" rIns="0" bIns="0" anchor="t">
            <a:spAutoFit/>
          </a:bodyPr>
          <a:lstStyle/>
          <a:p>
            <a:pPr algn="ctr">
              <a:lnSpc>
                <a:spcPct val="100000"/>
              </a:lnSpc>
              <a:spcAft>
                <a:spcPts val="0"/>
              </a:spcAft>
            </a:pPr>
            <a:r>
              <a:rPr sz="850" b="0" i="1">
                <a:solidFill>
                  <a:srgbClr val="5A6672"/>
                </a:solidFill>
                <a:latin typeface="Calibri" panose="020F0502020204030204"/>
              </a:rPr>
              <a:t>kata kerja + objek</a:t>
            </a:r>
            <a:endParaRPr sz="850" b="0" i="1">
              <a:solidFill>
                <a:srgbClr val="5A6672"/>
              </a:solidFill>
              <a:latin typeface="Calibri" panose="020F0502020204030204"/>
            </a:endParaRPr>
          </a:p>
        </p:txBody>
      </p:sp>
      <p:sp>
        <p:nvSpPr>
          <p:cNvPr id="28" name="Diamond 27"/>
          <p:cNvSpPr/>
          <p:nvPr/>
        </p:nvSpPr>
        <p:spPr>
          <a:xfrm>
            <a:off x="6608064" y="2889504"/>
            <a:ext cx="658368" cy="658368"/>
          </a:xfrm>
          <a:prstGeom prst="diamond">
            <a:avLst/>
          </a:prstGeom>
          <a:solidFill>
            <a:srgbClr val="FFFFFF"/>
          </a:solidFill>
          <a:ln w="15875">
            <a:solidFill>
              <a:srgbClr val="C97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C97A0A"/>
                </a:solidFill>
                <a:latin typeface="Calibri" panose="020F0502020204030204"/>
              </a:rPr>
              <a:t>×</a:t>
            </a:r>
            <a:endParaRPr sz="1500" b="1">
              <a:solidFill>
                <a:srgbClr val="C97A0A"/>
              </a:solidFill>
              <a:latin typeface="Calibri" panose="020F0502020204030204"/>
            </a:endParaRPr>
          </a:p>
        </p:txBody>
      </p:sp>
      <p:sp>
        <p:nvSpPr>
          <p:cNvPr id="29" name="TextBox 28"/>
          <p:cNvSpPr txBox="1"/>
          <p:nvPr/>
        </p:nvSpPr>
        <p:spPr>
          <a:xfrm>
            <a:off x="6278880" y="3621024"/>
            <a:ext cx="1325880" cy="237744"/>
          </a:xfrm>
          <a:prstGeom prst="rect">
            <a:avLst/>
          </a:prstGeom>
          <a:noFill/>
        </p:spPr>
        <p:txBody>
          <a:bodyPr wrap="square" lIns="0" tIns="0" rIns="0" bIns="0" anchor="t">
            <a:spAutoFit/>
          </a:bodyPr>
          <a:lstStyle/>
          <a:p>
            <a:pPr algn="ctr">
              <a:lnSpc>
                <a:spcPct val="100000"/>
              </a:lnSpc>
              <a:spcAft>
                <a:spcPts val="0"/>
              </a:spcAft>
            </a:pPr>
            <a:r>
              <a:rPr sz="850" b="0" i="1">
                <a:solidFill>
                  <a:srgbClr val="5A6672"/>
                </a:solidFill>
                <a:latin typeface="Calibri" panose="020F0502020204030204"/>
              </a:rPr>
              <a:t>selalu berpasangan</a:t>
            </a:r>
            <a:endParaRPr sz="850" b="0" i="1">
              <a:solidFill>
                <a:srgbClr val="5A6672"/>
              </a:solidFill>
              <a:latin typeface="Calibri" panose="020F0502020204030204"/>
            </a:endParaRPr>
          </a:p>
        </p:txBody>
      </p:sp>
      <p:cxnSp>
        <p:nvCxnSpPr>
          <p:cNvPr id="30" name="Connector 29"/>
          <p:cNvCxnSpPr/>
          <p:nvPr/>
        </p:nvCxnSpPr>
        <p:spPr>
          <a:xfrm>
            <a:off x="8906256" y="3145536"/>
            <a:ext cx="1600200" cy="0"/>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906256" y="3200400"/>
            <a:ext cx="1600200" cy="237744"/>
          </a:xfrm>
          <a:prstGeom prst="rect">
            <a:avLst/>
          </a:prstGeom>
          <a:noFill/>
        </p:spPr>
        <p:txBody>
          <a:bodyPr wrap="square" lIns="0" tIns="0" rIns="0" bIns="0" anchor="t">
            <a:spAutoFit/>
          </a:bodyPr>
          <a:lstStyle/>
          <a:p>
            <a:pPr algn="l">
              <a:lnSpc>
                <a:spcPct val="100000"/>
              </a:lnSpc>
              <a:spcAft>
                <a:spcPts val="0"/>
              </a:spcAft>
            </a:pPr>
            <a:r>
              <a:rPr sz="850" b="0" i="0">
                <a:solidFill>
                  <a:srgbClr val="5A6672"/>
                </a:solidFill>
                <a:latin typeface="Calibri" panose="020F0502020204030204"/>
              </a:rPr>
              <a:t>Sequence flow — dalam satu pool</a:t>
            </a:r>
            <a:endParaRPr sz="850" b="0" i="0">
              <a:solidFill>
                <a:srgbClr val="5A6672"/>
              </a:solidFill>
              <a:latin typeface="Calibri" panose="020F0502020204030204"/>
            </a:endParaRPr>
          </a:p>
        </p:txBody>
      </p:sp>
      <p:cxnSp>
        <p:nvCxnSpPr>
          <p:cNvPr id="32" name="Connector 31"/>
          <p:cNvCxnSpPr/>
          <p:nvPr/>
        </p:nvCxnSpPr>
        <p:spPr>
          <a:xfrm>
            <a:off x="8906256" y="3657600"/>
            <a:ext cx="1600200" cy="0"/>
          </a:xfrm>
          <a:prstGeom prst="line">
            <a:avLst/>
          </a:prstGeom>
          <a:ln w="19050">
            <a:solidFill>
              <a:srgbClr val="1B273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906256" y="3712464"/>
            <a:ext cx="1600200" cy="237744"/>
          </a:xfrm>
          <a:prstGeom prst="rect">
            <a:avLst/>
          </a:prstGeom>
          <a:noFill/>
        </p:spPr>
        <p:txBody>
          <a:bodyPr wrap="square" lIns="0" tIns="0" rIns="0" bIns="0" anchor="t">
            <a:spAutoFit/>
          </a:bodyPr>
          <a:lstStyle/>
          <a:p>
            <a:pPr algn="l">
              <a:lnSpc>
                <a:spcPct val="100000"/>
              </a:lnSpc>
              <a:spcAft>
                <a:spcPts val="0"/>
              </a:spcAft>
            </a:pPr>
            <a:r>
              <a:rPr sz="850" b="0" i="0">
                <a:solidFill>
                  <a:srgbClr val="5A6672"/>
                </a:solidFill>
                <a:latin typeface="Calibri" panose="020F0502020204030204"/>
              </a:rPr>
              <a:t>Message flow — antar pool</a:t>
            </a:r>
            <a:endParaRPr sz="850" b="0" i="0">
              <a:solidFill>
                <a:srgbClr val="5A6672"/>
              </a:solidFill>
              <a:latin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NOTASI DASAR</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Empat jenis gateway</a:t>
            </a:r>
            <a:endParaRPr sz="3000" b="1" i="0">
              <a:solidFill>
                <a:srgbClr val="1B2733"/>
              </a:solidFill>
              <a:latin typeface="Calibri" panose="020F0502020204030204"/>
            </a:endParaRP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tIns="0" rIns="0" bIns="0" anchor="t">
            <a:spAutoFit/>
          </a:bodyPr>
          <a:lstStyle/>
          <a:p>
            <a:pPr algn="l">
              <a:lnSpc>
                <a:spcPct val="118000"/>
              </a:lnSpc>
              <a:spcAft>
                <a:spcPts val="0"/>
              </a:spcAft>
            </a:pPr>
            <a:r>
              <a:rPr sz="1350" b="1" i="0">
                <a:solidFill>
                  <a:srgbClr val="1B2733"/>
                </a:solidFill>
                <a:latin typeface="Calibri" panose="020F0502020204030204"/>
              </a:rPr>
              <a:t>Gateway yang dibuka wajib ditutup. Ini kesalahan nomor satu pemula.</a:t>
            </a:r>
            <a:endParaRPr sz="1350" b="1" i="0">
              <a:solidFill>
                <a:srgbClr val="1B2733"/>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16</a:t>
            </a:r>
            <a:endParaRPr sz="850" b="0" i="0">
              <a:solidFill>
                <a:srgbClr val="8A96A3"/>
              </a:solidFill>
              <a:latin typeface="Calibri" panose="020F0502020204030204"/>
            </a:endParaRPr>
          </a:p>
        </p:txBody>
      </p:sp>
      <p:sp>
        <p:nvSpPr>
          <p:cNvPr id="8" name="Rounded Rectangle 7"/>
          <p:cNvSpPr/>
          <p:nvPr/>
        </p:nvSpPr>
        <p:spPr>
          <a:xfrm>
            <a:off x="658368" y="1755648"/>
            <a:ext cx="2513076" cy="2926079"/>
          </a:xfrm>
          <a:prstGeom prst="roundRect">
            <a:avLst/>
          </a:prstGeom>
          <a:solidFill>
            <a:srgbClr val="FFFFFF"/>
          </a:solidFill>
          <a:ln w="9525">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iamond 8"/>
          <p:cNvSpPr/>
          <p:nvPr/>
        </p:nvSpPr>
        <p:spPr>
          <a:xfrm>
            <a:off x="1494282" y="2048256"/>
            <a:ext cx="841248" cy="841248"/>
          </a:xfrm>
          <a:prstGeom prst="diamond">
            <a:avLst/>
          </a:prstGeom>
          <a:solidFill>
            <a:srgbClr val="FFFFFF"/>
          </a:solidFill>
          <a:ln w="15875">
            <a:solidFill>
              <a:srgbClr val="C97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C97A0A"/>
                </a:solidFill>
                <a:latin typeface="Calibri" panose="020F0502020204030204"/>
              </a:rPr>
              <a:t>×</a:t>
            </a:r>
            <a:endParaRPr sz="1500" b="1">
              <a:solidFill>
                <a:srgbClr val="C97A0A"/>
              </a:solidFill>
              <a:latin typeface="Calibri" panose="020F0502020204030204"/>
            </a:endParaRPr>
          </a:p>
        </p:txBody>
      </p:sp>
      <p:sp>
        <p:nvSpPr>
          <p:cNvPr id="10" name="TextBox 9"/>
          <p:cNvSpPr txBox="1"/>
          <p:nvPr/>
        </p:nvSpPr>
        <p:spPr>
          <a:xfrm>
            <a:off x="804672" y="3054096"/>
            <a:ext cx="2220468" cy="365760"/>
          </a:xfrm>
          <a:prstGeom prst="rect">
            <a:avLst/>
          </a:prstGeom>
          <a:noFill/>
        </p:spPr>
        <p:txBody>
          <a:bodyPr wrap="square" lIns="0" tIns="0" rIns="0" bIns="0" anchor="t">
            <a:spAutoFit/>
          </a:bodyPr>
          <a:lstStyle/>
          <a:p>
            <a:pPr algn="ctr">
              <a:lnSpc>
                <a:spcPct val="100000"/>
              </a:lnSpc>
              <a:spcAft>
                <a:spcPts val="0"/>
              </a:spcAft>
            </a:pPr>
            <a:r>
              <a:rPr sz="1450" b="1" i="0">
                <a:solidFill>
                  <a:srgbClr val="106D77"/>
                </a:solidFill>
                <a:latin typeface="Calibri" panose="020F0502020204030204"/>
              </a:rPr>
              <a:t>Exclusive (XOR)</a:t>
            </a:r>
            <a:endParaRPr sz="1450" b="1" i="0">
              <a:solidFill>
                <a:srgbClr val="106D77"/>
              </a:solidFill>
              <a:latin typeface="Calibri" panose="020F0502020204030204"/>
            </a:endParaRPr>
          </a:p>
        </p:txBody>
      </p:sp>
      <p:sp>
        <p:nvSpPr>
          <p:cNvPr id="11" name="TextBox 10"/>
          <p:cNvSpPr txBox="1"/>
          <p:nvPr/>
        </p:nvSpPr>
        <p:spPr>
          <a:xfrm>
            <a:off x="841247" y="3474720"/>
            <a:ext cx="2147316" cy="914400"/>
          </a:xfrm>
          <a:prstGeom prst="rect">
            <a:avLst/>
          </a:prstGeom>
          <a:noFill/>
        </p:spPr>
        <p:txBody>
          <a:bodyPr wrap="square" lIns="0" tIns="0" rIns="0" bIns="0" anchor="t">
            <a:spAutoFit/>
          </a:bodyPr>
          <a:lstStyle/>
          <a:p>
            <a:pPr algn="ctr">
              <a:lnSpc>
                <a:spcPct val="125000"/>
              </a:lnSpc>
              <a:spcAft>
                <a:spcPts val="0"/>
              </a:spcAft>
            </a:pPr>
            <a:r>
              <a:rPr sz="1150" b="0" i="0">
                <a:solidFill>
                  <a:srgbClr val="1B2733"/>
                </a:solidFill>
                <a:latin typeface="Calibri" panose="020F0502020204030204"/>
              </a:rPr>
              <a:t>Pilih satu jalur saja.</a:t>
            </a:r>
            <a:endParaRPr sz="1150" b="0" i="0">
              <a:solidFill>
                <a:srgbClr val="1B2733"/>
              </a:solidFill>
              <a:latin typeface="Calibri" panose="020F0502020204030204"/>
            </a:endParaRPr>
          </a:p>
        </p:txBody>
      </p:sp>
      <p:sp>
        <p:nvSpPr>
          <p:cNvPr id="12" name="Rounded Rectangle 11"/>
          <p:cNvSpPr/>
          <p:nvPr/>
        </p:nvSpPr>
        <p:spPr>
          <a:xfrm>
            <a:off x="3445764" y="1755648"/>
            <a:ext cx="2513076" cy="2926079"/>
          </a:xfrm>
          <a:prstGeom prst="roundRect">
            <a:avLst/>
          </a:prstGeom>
          <a:solidFill>
            <a:srgbClr val="FFFFFF"/>
          </a:solidFill>
          <a:ln w="9525">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iamond 12"/>
          <p:cNvSpPr/>
          <p:nvPr/>
        </p:nvSpPr>
        <p:spPr>
          <a:xfrm>
            <a:off x="4281678" y="2048256"/>
            <a:ext cx="841248" cy="841248"/>
          </a:xfrm>
          <a:prstGeom prst="diamond">
            <a:avLst/>
          </a:prstGeom>
          <a:solidFill>
            <a:srgbClr val="FFFFFF"/>
          </a:solidFill>
          <a:ln w="15875">
            <a:solidFill>
              <a:srgbClr val="C97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C97A0A"/>
                </a:solidFill>
                <a:latin typeface="Calibri" panose="020F0502020204030204"/>
              </a:rPr>
              <a:t>+</a:t>
            </a:r>
            <a:endParaRPr sz="1500" b="1">
              <a:solidFill>
                <a:srgbClr val="C97A0A"/>
              </a:solidFill>
              <a:latin typeface="Calibri" panose="020F0502020204030204"/>
            </a:endParaRPr>
          </a:p>
        </p:txBody>
      </p:sp>
      <p:sp>
        <p:nvSpPr>
          <p:cNvPr id="14" name="TextBox 13"/>
          <p:cNvSpPr txBox="1"/>
          <p:nvPr/>
        </p:nvSpPr>
        <p:spPr>
          <a:xfrm>
            <a:off x="3592068" y="3054096"/>
            <a:ext cx="2220468" cy="365760"/>
          </a:xfrm>
          <a:prstGeom prst="rect">
            <a:avLst/>
          </a:prstGeom>
          <a:noFill/>
        </p:spPr>
        <p:txBody>
          <a:bodyPr wrap="square" lIns="0" tIns="0" rIns="0" bIns="0" anchor="t">
            <a:spAutoFit/>
          </a:bodyPr>
          <a:lstStyle/>
          <a:p>
            <a:pPr algn="ctr">
              <a:lnSpc>
                <a:spcPct val="100000"/>
              </a:lnSpc>
              <a:spcAft>
                <a:spcPts val="0"/>
              </a:spcAft>
            </a:pPr>
            <a:r>
              <a:rPr sz="1450" b="1" i="0">
                <a:solidFill>
                  <a:srgbClr val="106D77"/>
                </a:solidFill>
                <a:latin typeface="Calibri" panose="020F0502020204030204"/>
              </a:rPr>
              <a:t>Parallel (AND)</a:t>
            </a:r>
            <a:endParaRPr sz="1450" b="1" i="0">
              <a:solidFill>
                <a:srgbClr val="106D77"/>
              </a:solidFill>
              <a:latin typeface="Calibri" panose="020F0502020204030204"/>
            </a:endParaRPr>
          </a:p>
        </p:txBody>
      </p:sp>
      <p:sp>
        <p:nvSpPr>
          <p:cNvPr id="15" name="TextBox 14"/>
          <p:cNvSpPr txBox="1"/>
          <p:nvPr/>
        </p:nvSpPr>
        <p:spPr>
          <a:xfrm>
            <a:off x="3628644" y="3474720"/>
            <a:ext cx="2147316" cy="914400"/>
          </a:xfrm>
          <a:prstGeom prst="rect">
            <a:avLst/>
          </a:prstGeom>
          <a:noFill/>
        </p:spPr>
        <p:txBody>
          <a:bodyPr wrap="square" lIns="0" tIns="0" rIns="0" bIns="0" anchor="t">
            <a:spAutoFit/>
          </a:bodyPr>
          <a:lstStyle/>
          <a:p>
            <a:pPr algn="ctr">
              <a:lnSpc>
                <a:spcPct val="125000"/>
              </a:lnSpc>
              <a:spcAft>
                <a:spcPts val="0"/>
              </a:spcAft>
            </a:pPr>
            <a:r>
              <a:rPr sz="1150" b="0" i="0">
                <a:solidFill>
                  <a:srgbClr val="1B2733"/>
                </a:solidFill>
                <a:latin typeface="Calibri" panose="020F0502020204030204"/>
              </a:rPr>
              <a:t>Semua jalur jalan bareng.</a:t>
            </a:r>
            <a:endParaRPr sz="1150" b="0" i="0">
              <a:solidFill>
                <a:srgbClr val="1B2733"/>
              </a:solidFill>
              <a:latin typeface="Calibri" panose="020F0502020204030204"/>
            </a:endParaRPr>
          </a:p>
        </p:txBody>
      </p:sp>
      <p:sp>
        <p:nvSpPr>
          <p:cNvPr id="16" name="Rounded Rectangle 15"/>
          <p:cNvSpPr/>
          <p:nvPr/>
        </p:nvSpPr>
        <p:spPr>
          <a:xfrm>
            <a:off x="6233160" y="1755648"/>
            <a:ext cx="2513076" cy="2926079"/>
          </a:xfrm>
          <a:prstGeom prst="roundRect">
            <a:avLst/>
          </a:prstGeom>
          <a:solidFill>
            <a:srgbClr val="FFFFFF"/>
          </a:solidFill>
          <a:ln w="9525">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iamond 16"/>
          <p:cNvSpPr/>
          <p:nvPr/>
        </p:nvSpPr>
        <p:spPr>
          <a:xfrm>
            <a:off x="7069074" y="2048256"/>
            <a:ext cx="841248" cy="841248"/>
          </a:xfrm>
          <a:prstGeom prst="diamond">
            <a:avLst/>
          </a:prstGeom>
          <a:solidFill>
            <a:srgbClr val="FFFFFF"/>
          </a:solidFill>
          <a:ln w="15875">
            <a:solidFill>
              <a:srgbClr val="C97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296210" y="2275392"/>
            <a:ext cx="386974" cy="386974"/>
          </a:xfrm>
          <a:prstGeom prst="ellipse">
            <a:avLst/>
          </a:prstGeom>
          <a:noFill/>
          <a:ln w="19050">
            <a:solidFill>
              <a:srgbClr val="C97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79464" y="3054096"/>
            <a:ext cx="2220468" cy="365760"/>
          </a:xfrm>
          <a:prstGeom prst="rect">
            <a:avLst/>
          </a:prstGeom>
          <a:noFill/>
        </p:spPr>
        <p:txBody>
          <a:bodyPr wrap="square" lIns="0" tIns="0" rIns="0" bIns="0" anchor="t">
            <a:spAutoFit/>
          </a:bodyPr>
          <a:lstStyle/>
          <a:p>
            <a:pPr algn="ctr">
              <a:lnSpc>
                <a:spcPct val="100000"/>
              </a:lnSpc>
              <a:spcAft>
                <a:spcPts val="0"/>
              </a:spcAft>
            </a:pPr>
            <a:r>
              <a:rPr sz="1450" b="1" i="0">
                <a:solidFill>
                  <a:srgbClr val="106D77"/>
                </a:solidFill>
                <a:latin typeface="Calibri" panose="020F0502020204030204"/>
              </a:rPr>
              <a:t>Inclusive (OR)</a:t>
            </a:r>
            <a:endParaRPr sz="1450" b="1" i="0">
              <a:solidFill>
                <a:srgbClr val="106D77"/>
              </a:solidFill>
              <a:latin typeface="Calibri" panose="020F0502020204030204"/>
            </a:endParaRPr>
          </a:p>
        </p:txBody>
      </p:sp>
      <p:sp>
        <p:nvSpPr>
          <p:cNvPr id="20" name="TextBox 19"/>
          <p:cNvSpPr txBox="1"/>
          <p:nvPr/>
        </p:nvSpPr>
        <p:spPr>
          <a:xfrm>
            <a:off x="6416040" y="3474720"/>
            <a:ext cx="2147316" cy="914400"/>
          </a:xfrm>
          <a:prstGeom prst="rect">
            <a:avLst/>
          </a:prstGeom>
          <a:noFill/>
        </p:spPr>
        <p:txBody>
          <a:bodyPr wrap="square" lIns="0" tIns="0" rIns="0" bIns="0" anchor="t">
            <a:spAutoFit/>
          </a:bodyPr>
          <a:lstStyle/>
          <a:p>
            <a:pPr algn="ctr">
              <a:lnSpc>
                <a:spcPct val="125000"/>
              </a:lnSpc>
              <a:spcAft>
                <a:spcPts val="0"/>
              </a:spcAft>
            </a:pPr>
            <a:r>
              <a:rPr sz="1150" b="0" i="0">
                <a:solidFill>
                  <a:srgbClr val="1B2733"/>
                </a:solidFill>
                <a:latin typeface="Calibri" panose="020F0502020204030204"/>
              </a:rPr>
              <a:t>Satu atau lebih jalur, tergantung kondisi.</a:t>
            </a:r>
            <a:endParaRPr sz="1150" b="0" i="0">
              <a:solidFill>
                <a:srgbClr val="1B2733"/>
              </a:solidFill>
              <a:latin typeface="Calibri" panose="020F0502020204030204"/>
            </a:endParaRPr>
          </a:p>
        </p:txBody>
      </p:sp>
      <p:sp>
        <p:nvSpPr>
          <p:cNvPr id="21" name="Rounded Rectangle 20"/>
          <p:cNvSpPr/>
          <p:nvPr/>
        </p:nvSpPr>
        <p:spPr>
          <a:xfrm>
            <a:off x="9020556" y="1755648"/>
            <a:ext cx="2513076" cy="2926079"/>
          </a:xfrm>
          <a:prstGeom prst="roundRect">
            <a:avLst/>
          </a:prstGeom>
          <a:solidFill>
            <a:srgbClr val="FFFFFF"/>
          </a:solidFill>
          <a:ln w="9525">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iamond 21"/>
          <p:cNvSpPr/>
          <p:nvPr/>
        </p:nvSpPr>
        <p:spPr>
          <a:xfrm>
            <a:off x="9856470" y="2048256"/>
            <a:ext cx="841248" cy="841248"/>
          </a:xfrm>
          <a:prstGeom prst="diamond">
            <a:avLst/>
          </a:prstGeom>
          <a:solidFill>
            <a:srgbClr val="FFFFFF"/>
          </a:solidFill>
          <a:ln w="15875">
            <a:solidFill>
              <a:srgbClr val="C97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083606" y="2275392"/>
            <a:ext cx="386974" cy="386974"/>
          </a:xfrm>
          <a:prstGeom prst="ellipse">
            <a:avLst/>
          </a:prstGeom>
          <a:noFill/>
          <a:ln w="19050">
            <a:solidFill>
              <a:srgbClr val="C97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122468" y="2314254"/>
            <a:ext cx="309250" cy="309250"/>
          </a:xfrm>
          <a:prstGeom prst="ellipse">
            <a:avLst/>
          </a:prstGeom>
          <a:noFill/>
          <a:ln w="15875">
            <a:solidFill>
              <a:srgbClr val="C97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66860" y="3054096"/>
            <a:ext cx="2220468" cy="365760"/>
          </a:xfrm>
          <a:prstGeom prst="rect">
            <a:avLst/>
          </a:prstGeom>
          <a:noFill/>
        </p:spPr>
        <p:txBody>
          <a:bodyPr wrap="square" lIns="0" tIns="0" rIns="0" bIns="0" anchor="t">
            <a:spAutoFit/>
          </a:bodyPr>
          <a:lstStyle/>
          <a:p>
            <a:pPr algn="ctr">
              <a:lnSpc>
                <a:spcPct val="100000"/>
              </a:lnSpc>
              <a:spcAft>
                <a:spcPts val="0"/>
              </a:spcAft>
            </a:pPr>
            <a:r>
              <a:rPr sz="1450" b="1" i="0">
                <a:solidFill>
                  <a:srgbClr val="106D77"/>
                </a:solidFill>
                <a:latin typeface="Calibri" panose="020F0502020204030204"/>
              </a:rPr>
              <a:t>Event-based</a:t>
            </a:r>
            <a:endParaRPr sz="1450" b="1" i="0">
              <a:solidFill>
                <a:srgbClr val="106D77"/>
              </a:solidFill>
              <a:latin typeface="Calibri" panose="020F0502020204030204"/>
            </a:endParaRPr>
          </a:p>
        </p:txBody>
      </p:sp>
      <p:sp>
        <p:nvSpPr>
          <p:cNvPr id="26" name="TextBox 25"/>
          <p:cNvSpPr txBox="1"/>
          <p:nvPr/>
        </p:nvSpPr>
        <p:spPr>
          <a:xfrm>
            <a:off x="9203436" y="3474720"/>
            <a:ext cx="2147316" cy="914400"/>
          </a:xfrm>
          <a:prstGeom prst="rect">
            <a:avLst/>
          </a:prstGeom>
          <a:noFill/>
        </p:spPr>
        <p:txBody>
          <a:bodyPr wrap="square" lIns="0" tIns="0" rIns="0" bIns="0" anchor="t">
            <a:spAutoFit/>
          </a:bodyPr>
          <a:lstStyle/>
          <a:p>
            <a:pPr algn="ctr">
              <a:lnSpc>
                <a:spcPct val="125000"/>
              </a:lnSpc>
              <a:spcAft>
                <a:spcPts val="0"/>
              </a:spcAft>
            </a:pPr>
            <a:r>
              <a:rPr sz="1150" b="0" i="0">
                <a:solidFill>
                  <a:srgbClr val="1B2733"/>
                </a:solidFill>
                <a:latin typeface="Calibri" panose="020F0502020204030204"/>
              </a:rPr>
              <a:t>Jalur ditentukan oleh kejadian mana yang datang duluan.</a:t>
            </a:r>
            <a:endParaRPr sz="1150" b="0" i="0">
              <a:solidFill>
                <a:srgbClr val="1B2733"/>
              </a:solidFill>
              <a:latin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STRUKTUR TANGGUNG JAWAB</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Pool dan lane</a:t>
            </a:r>
            <a:endParaRPr sz="3000" b="1" i="0">
              <a:solidFill>
                <a:srgbClr val="1B2733"/>
              </a:solidFill>
              <a:latin typeface="Calibri" panose="020F0502020204030204"/>
            </a:endParaRP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tIns="0" rIns="0" bIns="0" anchor="t">
            <a:spAutoFit/>
          </a:bodyPr>
          <a:lstStyle/>
          <a:p>
            <a:pPr algn="l">
              <a:lnSpc>
                <a:spcPct val="118000"/>
              </a:lnSpc>
              <a:spcAft>
                <a:spcPts val="0"/>
              </a:spcAft>
            </a:pPr>
            <a:r>
              <a:rPr sz="1350" b="1" i="0">
                <a:solidFill>
                  <a:srgbClr val="1B2733"/>
                </a:solidFill>
                <a:latin typeface="Calibri" panose="020F0502020204030204"/>
              </a:rPr>
              <a:t>Kalau kamu bingung menaruh sebuah aktivitas di lane mana, biasanya artinya tanggung jawabnya memang belum jelas di dunia nyata.</a:t>
            </a:r>
            <a:endParaRPr sz="1350" b="1" i="0">
              <a:solidFill>
                <a:srgbClr val="1B2733"/>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17</a:t>
            </a:r>
            <a:endParaRPr sz="850" b="0" i="0">
              <a:solidFill>
                <a:srgbClr val="8A96A3"/>
              </a:solidFill>
              <a:latin typeface="Calibri" panose="020F0502020204030204"/>
            </a:endParaRPr>
          </a:p>
        </p:txBody>
      </p:sp>
      <p:sp>
        <p:nvSpPr>
          <p:cNvPr id="8" name="Rectangle 7"/>
          <p:cNvSpPr/>
          <p:nvPr/>
        </p:nvSpPr>
        <p:spPr>
          <a:xfrm>
            <a:off x="1042415" y="1527048"/>
            <a:ext cx="868680" cy="566928"/>
          </a:xfrm>
          <a:prstGeom prst="rect">
            <a:avLst/>
          </a:prstGeom>
          <a:solidFill>
            <a:srgbClr val="12A5C4"/>
          </a:solidFill>
          <a:ln w="9525">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5" y="1682496"/>
            <a:ext cx="868680" cy="274320"/>
          </a:xfrm>
          <a:prstGeom prst="rect">
            <a:avLst/>
          </a:prstGeom>
          <a:noFill/>
        </p:spPr>
        <p:txBody>
          <a:bodyPr wrap="square" lIns="0" tIns="0" rIns="0" bIns="0" anchor="t">
            <a:spAutoFit/>
          </a:bodyPr>
          <a:lstStyle/>
          <a:p>
            <a:pPr algn="ctr">
              <a:lnSpc>
                <a:spcPct val="100000"/>
              </a:lnSpc>
              <a:spcAft>
                <a:spcPts val="0"/>
              </a:spcAft>
            </a:pPr>
            <a:r>
              <a:rPr sz="1000" b="1" i="0">
                <a:solidFill>
                  <a:srgbClr val="FFFFFF"/>
                </a:solidFill>
                <a:latin typeface="Calibri" panose="020F0502020204030204"/>
              </a:rPr>
              <a:t>Nasabah</a:t>
            </a:r>
            <a:endParaRPr sz="1000" b="1" i="0">
              <a:solidFill>
                <a:srgbClr val="FFFFFF"/>
              </a:solidFill>
              <a:latin typeface="Calibri" panose="020F0502020204030204"/>
            </a:endParaRPr>
          </a:p>
        </p:txBody>
      </p:sp>
      <p:sp>
        <p:nvSpPr>
          <p:cNvPr id="10" name="Rectangle 9"/>
          <p:cNvSpPr/>
          <p:nvPr/>
        </p:nvSpPr>
        <p:spPr>
          <a:xfrm>
            <a:off x="1911095" y="1527048"/>
            <a:ext cx="9622536" cy="566928"/>
          </a:xfrm>
          <a:prstGeom prst="rect">
            <a:avLst/>
          </a:prstGeom>
          <a:solidFill>
            <a:srgbClr val="F1FAFB"/>
          </a:solidFill>
          <a:ln w="9525">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42415" y="2295144"/>
            <a:ext cx="868680" cy="621792"/>
          </a:xfrm>
          <a:prstGeom prst="rect">
            <a:avLst/>
          </a:prstGeom>
          <a:solidFill>
            <a:srgbClr val="CFE5E7"/>
          </a:solidFill>
          <a:ln w="9525">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468880"/>
            <a:ext cx="795528" cy="292608"/>
          </a:xfrm>
          <a:prstGeom prst="rect">
            <a:avLst/>
          </a:prstGeom>
          <a:noFill/>
        </p:spPr>
        <p:txBody>
          <a:bodyPr wrap="square" lIns="0" tIns="0" rIns="0" bIns="0" anchor="t">
            <a:spAutoFit/>
          </a:bodyPr>
          <a:lstStyle/>
          <a:p>
            <a:pPr algn="ctr">
              <a:lnSpc>
                <a:spcPct val="100000"/>
              </a:lnSpc>
              <a:spcAft>
                <a:spcPts val="0"/>
              </a:spcAft>
            </a:pPr>
            <a:r>
              <a:rPr sz="950" b="1" i="0">
                <a:solidFill>
                  <a:srgbClr val="116B75"/>
                </a:solidFill>
                <a:latin typeface="Calibri" panose="020F0502020204030204"/>
              </a:rPr>
              <a:t>Cabang</a:t>
            </a:r>
            <a:endParaRPr sz="950" b="1" i="0">
              <a:solidFill>
                <a:srgbClr val="116B75"/>
              </a:solidFill>
              <a:latin typeface="Calibri" panose="020F0502020204030204"/>
            </a:endParaRPr>
          </a:p>
        </p:txBody>
      </p:sp>
      <p:sp>
        <p:nvSpPr>
          <p:cNvPr id="13" name="Rectangle 12"/>
          <p:cNvSpPr/>
          <p:nvPr/>
        </p:nvSpPr>
        <p:spPr>
          <a:xfrm>
            <a:off x="1911095" y="2295144"/>
            <a:ext cx="9622536" cy="621792"/>
          </a:xfrm>
          <a:prstGeom prst="rect">
            <a:avLst/>
          </a:prstGeom>
          <a:solidFill>
            <a:srgbClr val="FFFFFF"/>
          </a:solidFill>
          <a:ln w="9525">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42415" y="2916936"/>
            <a:ext cx="868680" cy="621792"/>
          </a:xfrm>
          <a:prstGeom prst="rect">
            <a:avLst/>
          </a:prstGeom>
          <a:solidFill>
            <a:srgbClr val="CFE5E7"/>
          </a:solidFill>
          <a:ln w="9525">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78992" y="3090672"/>
            <a:ext cx="795528" cy="292608"/>
          </a:xfrm>
          <a:prstGeom prst="rect">
            <a:avLst/>
          </a:prstGeom>
          <a:noFill/>
        </p:spPr>
        <p:txBody>
          <a:bodyPr wrap="square" lIns="0" tIns="0" rIns="0" bIns="0" anchor="t">
            <a:spAutoFit/>
          </a:bodyPr>
          <a:lstStyle/>
          <a:p>
            <a:pPr algn="ctr">
              <a:lnSpc>
                <a:spcPct val="100000"/>
              </a:lnSpc>
              <a:spcAft>
                <a:spcPts val="0"/>
              </a:spcAft>
            </a:pPr>
            <a:r>
              <a:rPr sz="950" b="1" i="0">
                <a:solidFill>
                  <a:srgbClr val="116B75"/>
                </a:solidFill>
                <a:latin typeface="Calibri" panose="020F0502020204030204"/>
              </a:rPr>
              <a:t>Surveyor</a:t>
            </a:r>
            <a:endParaRPr sz="950" b="1" i="0">
              <a:solidFill>
                <a:srgbClr val="116B75"/>
              </a:solidFill>
              <a:latin typeface="Calibri" panose="020F0502020204030204"/>
            </a:endParaRPr>
          </a:p>
        </p:txBody>
      </p:sp>
      <p:sp>
        <p:nvSpPr>
          <p:cNvPr id="16" name="Rectangle 15"/>
          <p:cNvSpPr/>
          <p:nvPr/>
        </p:nvSpPr>
        <p:spPr>
          <a:xfrm>
            <a:off x="1911095" y="2916936"/>
            <a:ext cx="9622536" cy="621792"/>
          </a:xfrm>
          <a:prstGeom prst="rect">
            <a:avLst/>
          </a:prstGeom>
          <a:solidFill>
            <a:srgbClr val="FFFFFF"/>
          </a:solidFill>
          <a:ln w="9525">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42415" y="3538728"/>
            <a:ext cx="868680" cy="621792"/>
          </a:xfrm>
          <a:prstGeom prst="rect">
            <a:avLst/>
          </a:prstGeom>
          <a:solidFill>
            <a:srgbClr val="CFE5E7"/>
          </a:solidFill>
          <a:ln w="9525">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8992" y="3712463"/>
            <a:ext cx="795528" cy="292608"/>
          </a:xfrm>
          <a:prstGeom prst="rect">
            <a:avLst/>
          </a:prstGeom>
          <a:noFill/>
        </p:spPr>
        <p:txBody>
          <a:bodyPr wrap="square" lIns="0" tIns="0" rIns="0" bIns="0" anchor="t">
            <a:spAutoFit/>
          </a:bodyPr>
          <a:lstStyle/>
          <a:p>
            <a:pPr algn="ctr">
              <a:lnSpc>
                <a:spcPct val="100000"/>
              </a:lnSpc>
              <a:spcAft>
                <a:spcPts val="0"/>
              </a:spcAft>
            </a:pPr>
            <a:r>
              <a:rPr sz="950" b="1" i="0">
                <a:solidFill>
                  <a:srgbClr val="116B75"/>
                </a:solidFill>
                <a:latin typeface="Calibri" panose="020F0502020204030204"/>
              </a:rPr>
              <a:t>Team Akseptasi</a:t>
            </a:r>
            <a:endParaRPr sz="950" b="1" i="0">
              <a:solidFill>
                <a:srgbClr val="116B75"/>
              </a:solidFill>
              <a:latin typeface="Calibri" panose="020F0502020204030204"/>
            </a:endParaRPr>
          </a:p>
        </p:txBody>
      </p:sp>
      <p:sp>
        <p:nvSpPr>
          <p:cNvPr id="19" name="Rectangle 18"/>
          <p:cNvSpPr/>
          <p:nvPr/>
        </p:nvSpPr>
        <p:spPr>
          <a:xfrm>
            <a:off x="1911095" y="3538728"/>
            <a:ext cx="9622536" cy="621792"/>
          </a:xfrm>
          <a:prstGeom prst="rect">
            <a:avLst/>
          </a:prstGeom>
          <a:solidFill>
            <a:srgbClr val="FFFFFF"/>
          </a:solidFill>
          <a:ln w="9525">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2295144"/>
            <a:ext cx="384048" cy="186537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rot="16200000">
            <a:off x="-82296" y="3072384"/>
            <a:ext cx="1865376" cy="310896"/>
          </a:xfrm>
          <a:prstGeom prst="rect">
            <a:avLst/>
          </a:prstGeom>
          <a:noFill/>
        </p:spPr>
        <p:txBody>
          <a:bodyPr wrap="square" lIns="0" tIns="0" rIns="0" bIns="0" anchor="ctr">
            <a:spAutoFit/>
          </a:bodyPr>
          <a:lstStyle/>
          <a:p>
            <a:pPr algn="ctr">
              <a:lnSpc>
                <a:spcPct val="100000"/>
              </a:lnSpc>
              <a:spcAft>
                <a:spcPts val="0"/>
              </a:spcAft>
            </a:pPr>
            <a:r>
              <a:rPr sz="1050" b="1" i="0">
                <a:solidFill>
                  <a:srgbClr val="FFFFFF"/>
                </a:solidFill>
                <a:latin typeface="Calibri" panose="020F0502020204030204"/>
              </a:rPr>
              <a:t>Asuransi</a:t>
            </a:r>
            <a:endParaRPr sz="1050" b="1" i="0">
              <a:solidFill>
                <a:srgbClr val="FFFFFF"/>
              </a:solidFill>
              <a:latin typeface="Calibri" panose="020F0502020204030204"/>
            </a:endParaRPr>
          </a:p>
        </p:txBody>
      </p:sp>
      <p:sp>
        <p:nvSpPr>
          <p:cNvPr id="22" name="Rectangle 21"/>
          <p:cNvSpPr/>
          <p:nvPr/>
        </p:nvSpPr>
        <p:spPr>
          <a:xfrm>
            <a:off x="1042415" y="4361688"/>
            <a:ext cx="868680" cy="566928"/>
          </a:xfrm>
          <a:prstGeom prst="rect">
            <a:avLst/>
          </a:prstGeom>
          <a:solidFill>
            <a:srgbClr val="12A5C4"/>
          </a:solidFill>
          <a:ln w="9525">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2415" y="4517136"/>
            <a:ext cx="868680" cy="274320"/>
          </a:xfrm>
          <a:prstGeom prst="rect">
            <a:avLst/>
          </a:prstGeom>
          <a:noFill/>
        </p:spPr>
        <p:txBody>
          <a:bodyPr wrap="square" lIns="0" tIns="0" rIns="0" bIns="0" anchor="t">
            <a:spAutoFit/>
          </a:bodyPr>
          <a:lstStyle/>
          <a:p>
            <a:pPr algn="ctr">
              <a:lnSpc>
                <a:spcPct val="100000"/>
              </a:lnSpc>
              <a:spcAft>
                <a:spcPts val="0"/>
              </a:spcAft>
            </a:pPr>
            <a:r>
              <a:rPr sz="1000" b="1" i="0">
                <a:solidFill>
                  <a:srgbClr val="FFFFFF"/>
                </a:solidFill>
                <a:latin typeface="Calibri" panose="020F0502020204030204"/>
              </a:rPr>
              <a:t>Bengkel Rekanan</a:t>
            </a:r>
            <a:endParaRPr sz="1000" b="1" i="0">
              <a:solidFill>
                <a:srgbClr val="FFFFFF"/>
              </a:solidFill>
              <a:latin typeface="Calibri" panose="020F0502020204030204"/>
            </a:endParaRPr>
          </a:p>
        </p:txBody>
      </p:sp>
      <p:sp>
        <p:nvSpPr>
          <p:cNvPr id="24" name="Rectangle 23"/>
          <p:cNvSpPr/>
          <p:nvPr/>
        </p:nvSpPr>
        <p:spPr>
          <a:xfrm>
            <a:off x="1911095" y="4361688"/>
            <a:ext cx="9622536" cy="566928"/>
          </a:xfrm>
          <a:prstGeom prst="rect">
            <a:avLst/>
          </a:prstGeom>
          <a:solidFill>
            <a:srgbClr val="F1FAFB"/>
          </a:solidFill>
          <a:ln w="9525">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231136" y="2395728"/>
            <a:ext cx="1691640" cy="420624"/>
          </a:xfrm>
          <a:prstGeom prst="roundRect">
            <a:avLst>
              <a:gd name="adj" fmla="val 13000"/>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12000"/>
              </a:lnSpc>
            </a:pPr>
            <a:r>
              <a:rPr sz="950" b="0">
                <a:solidFill>
                  <a:srgbClr val="1B2733"/>
                </a:solidFill>
                <a:latin typeface="Calibri" panose="020F0502020204030204"/>
              </a:rPr>
              <a:t>Menerbitkan nomor klaim</a:t>
            </a:r>
            <a:endParaRPr sz="950" b="0">
              <a:solidFill>
                <a:srgbClr val="1B2733"/>
              </a:solidFill>
              <a:latin typeface="Calibri" panose="020F0502020204030204"/>
            </a:endParaRPr>
          </a:p>
        </p:txBody>
      </p:sp>
      <p:sp>
        <p:nvSpPr>
          <p:cNvPr id="26" name="Rounded Rectangle 25"/>
          <p:cNvSpPr/>
          <p:nvPr/>
        </p:nvSpPr>
        <p:spPr>
          <a:xfrm>
            <a:off x="4242816" y="3017520"/>
            <a:ext cx="1691640" cy="420624"/>
          </a:xfrm>
          <a:prstGeom prst="roundRect">
            <a:avLst>
              <a:gd name="adj" fmla="val 13000"/>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12000"/>
              </a:lnSpc>
            </a:pPr>
            <a:r>
              <a:rPr sz="950" b="0">
                <a:solidFill>
                  <a:srgbClr val="1B2733"/>
                </a:solidFill>
                <a:latin typeface="Calibri" panose="020F0502020204030204"/>
              </a:rPr>
              <a:t>Melaksanakan survei</a:t>
            </a:r>
            <a:endParaRPr sz="950" b="0">
              <a:solidFill>
                <a:srgbClr val="1B2733"/>
              </a:solidFill>
              <a:latin typeface="Calibri" panose="020F0502020204030204"/>
            </a:endParaRPr>
          </a:p>
        </p:txBody>
      </p:sp>
      <p:sp>
        <p:nvSpPr>
          <p:cNvPr id="27" name="Rounded Rectangle 26"/>
          <p:cNvSpPr/>
          <p:nvPr/>
        </p:nvSpPr>
        <p:spPr>
          <a:xfrm>
            <a:off x="6254496" y="3639312"/>
            <a:ext cx="1783080" cy="420624"/>
          </a:xfrm>
          <a:prstGeom prst="roundRect">
            <a:avLst>
              <a:gd name="adj" fmla="val 13000"/>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12000"/>
              </a:lnSpc>
            </a:pPr>
            <a:r>
              <a:rPr sz="950" b="0">
                <a:solidFill>
                  <a:srgbClr val="1B2733"/>
                </a:solidFill>
                <a:latin typeface="Calibri" panose="020F0502020204030204"/>
              </a:rPr>
              <a:t>Menerbitkan SPK</a:t>
            </a:r>
            <a:endParaRPr sz="950" b="0">
              <a:solidFill>
                <a:srgbClr val="1B2733"/>
              </a:solidFill>
              <a:latin typeface="Calibri" panose="020F0502020204030204"/>
            </a:endParaRPr>
          </a:p>
        </p:txBody>
      </p:sp>
      <p:cxnSp>
        <p:nvCxnSpPr>
          <p:cNvPr id="28" name="Connector 27"/>
          <p:cNvCxnSpPr/>
          <p:nvPr/>
        </p:nvCxnSpPr>
        <p:spPr>
          <a:xfrm>
            <a:off x="3922776" y="2606040"/>
            <a:ext cx="320040" cy="621792"/>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934456" y="3227832"/>
            <a:ext cx="320040" cy="621792"/>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054096" y="2057400"/>
            <a:ext cx="0" cy="338328"/>
          </a:xfrm>
          <a:prstGeom prst="line">
            <a:avLst/>
          </a:prstGeom>
          <a:ln w="19050">
            <a:solidFill>
              <a:srgbClr val="C97A0A"/>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123176" y="4059936"/>
            <a:ext cx="0" cy="301752"/>
          </a:xfrm>
          <a:prstGeom prst="line">
            <a:avLst/>
          </a:prstGeom>
          <a:ln w="19050">
            <a:solidFill>
              <a:srgbClr val="C97A0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58368" y="4983480"/>
            <a:ext cx="10875264" cy="237744"/>
          </a:xfrm>
          <a:prstGeom prst="rect">
            <a:avLst/>
          </a:prstGeom>
          <a:noFill/>
        </p:spPr>
        <p:txBody>
          <a:bodyPr wrap="square" lIns="0" tIns="0" rIns="0" bIns="0" anchor="t">
            <a:spAutoFit/>
          </a:bodyPr>
          <a:lstStyle/>
          <a:p>
            <a:pPr algn="l">
              <a:lnSpc>
                <a:spcPct val="100000"/>
              </a:lnSpc>
              <a:spcAft>
                <a:spcPts val="0"/>
              </a:spcAft>
            </a:pPr>
            <a:r>
              <a:rPr sz="1000" b="0" i="1">
                <a:solidFill>
                  <a:srgbClr val="5A6672"/>
                </a:solidFill>
                <a:latin typeface="Calibri" panose="020F0502020204030204"/>
              </a:rPr>
              <a:t>Garis penuh = sequence flow, di dalam satu pool.   Garis putus putus = message flow, wajib antar pool.</a:t>
            </a:r>
            <a:endParaRPr sz="1000" b="0" i="1">
              <a:solidFill>
                <a:srgbClr val="5A6672"/>
              </a:solidFill>
              <a:latin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CONTOH</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Satu contoh alur pendek</a:t>
            </a:r>
            <a:endParaRPr sz="3000" b="1" i="0">
              <a:solidFill>
                <a:srgbClr val="1B2733"/>
              </a:solidFill>
              <a:latin typeface="Calibri" panose="020F0502020204030204"/>
            </a:endParaRP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tIns="0" rIns="0" bIns="0" anchor="t">
            <a:spAutoFit/>
          </a:bodyPr>
          <a:lstStyle/>
          <a:p>
            <a:pPr algn="l">
              <a:lnSpc>
                <a:spcPct val="118000"/>
              </a:lnSpc>
              <a:spcAft>
                <a:spcPts val="0"/>
              </a:spcAft>
            </a:pPr>
            <a:r>
              <a:rPr sz="1350" b="1" i="0">
                <a:solidFill>
                  <a:srgbClr val="1B2733"/>
                </a:solidFill>
                <a:latin typeface="Calibri" panose="020F0502020204030204"/>
              </a:rPr>
              <a:t>Sekitar enam elemen, satu gateway exclusive, satu jalur eksepsi. Sekecil ini pun modelnya sudah jujur.</a:t>
            </a:r>
            <a:endParaRPr sz="1350" b="1" i="0">
              <a:solidFill>
                <a:srgbClr val="1B2733"/>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18</a:t>
            </a:r>
            <a:endParaRPr sz="850" b="0" i="0">
              <a:solidFill>
                <a:srgbClr val="8A96A3"/>
              </a:solidFill>
              <a:latin typeface="Calibri" panose="020F0502020204030204"/>
            </a:endParaRPr>
          </a:p>
        </p:txBody>
      </p:sp>
      <p:sp>
        <p:nvSpPr>
          <p:cNvPr id="8" name="Oval 7"/>
          <p:cNvSpPr/>
          <p:nvPr/>
        </p:nvSpPr>
        <p:spPr>
          <a:xfrm>
            <a:off x="749808" y="2322576"/>
            <a:ext cx="420624" cy="420624"/>
          </a:xfrm>
          <a:prstGeom prst="ellipse">
            <a:avLst/>
          </a:prstGeom>
          <a:solidFill>
            <a:srgbClr val="FFFFFF"/>
          </a:solidFill>
          <a:ln w="15875">
            <a:solidFill>
              <a:srgbClr val="12A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2807208"/>
            <a:ext cx="1371600" cy="237744"/>
          </a:xfrm>
          <a:prstGeom prst="rect">
            <a:avLst/>
          </a:prstGeom>
          <a:noFill/>
        </p:spPr>
        <p:txBody>
          <a:bodyPr wrap="square" lIns="0" tIns="0" rIns="0" bIns="0" anchor="t">
            <a:spAutoFit/>
          </a:bodyPr>
          <a:lstStyle/>
          <a:p>
            <a:pPr algn="ctr">
              <a:lnSpc>
                <a:spcPct val="100000"/>
              </a:lnSpc>
              <a:spcAft>
                <a:spcPts val="0"/>
              </a:spcAft>
            </a:pPr>
            <a:r>
              <a:rPr sz="950" b="0" i="0">
                <a:solidFill>
                  <a:srgbClr val="5A6672"/>
                </a:solidFill>
                <a:latin typeface="Calibri" panose="020F0502020204030204"/>
              </a:rPr>
              <a:t>Laporan klaim diterima</a:t>
            </a:r>
            <a:endParaRPr sz="950" b="0" i="0">
              <a:solidFill>
                <a:srgbClr val="5A6672"/>
              </a:solidFill>
              <a:latin typeface="Calibri" panose="020F0502020204030204"/>
            </a:endParaRPr>
          </a:p>
        </p:txBody>
      </p:sp>
      <p:sp>
        <p:nvSpPr>
          <p:cNvPr id="10" name="Rounded Rectangle 9"/>
          <p:cNvSpPr/>
          <p:nvPr/>
        </p:nvSpPr>
        <p:spPr>
          <a:xfrm>
            <a:off x="1481328" y="2240280"/>
            <a:ext cx="1554480" cy="585216"/>
          </a:xfrm>
          <a:prstGeom prst="roundRect">
            <a:avLst>
              <a:gd name="adj" fmla="val 13000"/>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12000"/>
              </a:lnSpc>
            </a:pPr>
            <a:r>
              <a:rPr sz="1050" b="0">
                <a:solidFill>
                  <a:srgbClr val="1B2733"/>
                </a:solidFill>
                <a:latin typeface="Calibri" panose="020F0502020204030204"/>
              </a:rPr>
              <a:t>Menerima laporan klaim</a:t>
            </a:r>
            <a:endParaRPr sz="1050" b="0">
              <a:solidFill>
                <a:srgbClr val="1B2733"/>
              </a:solidFill>
              <a:latin typeface="Calibri" panose="020F0502020204030204"/>
            </a:endParaRPr>
          </a:p>
        </p:txBody>
      </p:sp>
      <p:cxnSp>
        <p:nvCxnSpPr>
          <p:cNvPr id="11" name="Connector 10"/>
          <p:cNvCxnSpPr/>
          <p:nvPr/>
        </p:nvCxnSpPr>
        <p:spPr>
          <a:xfrm>
            <a:off x="1170432" y="2532888"/>
            <a:ext cx="310896" cy="0"/>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035808" y="2532888"/>
            <a:ext cx="310896" cy="0"/>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46704" y="2240280"/>
            <a:ext cx="1554480" cy="585216"/>
          </a:xfrm>
          <a:prstGeom prst="roundRect">
            <a:avLst>
              <a:gd name="adj" fmla="val 13000"/>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12000"/>
              </a:lnSpc>
            </a:pPr>
            <a:r>
              <a:rPr sz="1050" b="0">
                <a:solidFill>
                  <a:srgbClr val="1B2733"/>
                </a:solidFill>
                <a:latin typeface="Calibri" panose="020F0502020204030204"/>
              </a:rPr>
              <a:t>Memverifikasi keaktifan polis</a:t>
            </a:r>
            <a:endParaRPr sz="1050" b="0">
              <a:solidFill>
                <a:srgbClr val="1B2733"/>
              </a:solidFill>
              <a:latin typeface="Calibri" panose="020F0502020204030204"/>
            </a:endParaRPr>
          </a:p>
        </p:txBody>
      </p:sp>
      <p:cxnSp>
        <p:nvCxnSpPr>
          <p:cNvPr id="14" name="Connector 13"/>
          <p:cNvCxnSpPr/>
          <p:nvPr/>
        </p:nvCxnSpPr>
        <p:spPr>
          <a:xfrm>
            <a:off x="4901184" y="2532888"/>
            <a:ext cx="274320" cy="0"/>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Diamond 14"/>
          <p:cNvSpPr/>
          <p:nvPr/>
        </p:nvSpPr>
        <p:spPr>
          <a:xfrm>
            <a:off x="5175504" y="2185416"/>
            <a:ext cx="694944" cy="694944"/>
          </a:xfrm>
          <a:prstGeom prst="diamond">
            <a:avLst/>
          </a:prstGeom>
          <a:solidFill>
            <a:srgbClr val="FFFFFF"/>
          </a:solidFill>
          <a:ln w="15875">
            <a:solidFill>
              <a:srgbClr val="C97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C97A0A"/>
                </a:solidFill>
                <a:latin typeface="Calibri" panose="020F0502020204030204"/>
              </a:rPr>
              <a:t>×</a:t>
            </a:r>
            <a:endParaRPr sz="1500" b="1">
              <a:solidFill>
                <a:srgbClr val="C97A0A"/>
              </a:solidFill>
              <a:latin typeface="Calibri" panose="020F0502020204030204"/>
            </a:endParaRPr>
          </a:p>
        </p:txBody>
      </p:sp>
      <p:sp>
        <p:nvSpPr>
          <p:cNvPr id="16" name="TextBox 15"/>
          <p:cNvSpPr txBox="1"/>
          <p:nvPr/>
        </p:nvSpPr>
        <p:spPr>
          <a:xfrm>
            <a:off x="4745736" y="1892808"/>
            <a:ext cx="1554480" cy="237744"/>
          </a:xfrm>
          <a:prstGeom prst="rect">
            <a:avLst/>
          </a:prstGeom>
          <a:noFill/>
        </p:spPr>
        <p:txBody>
          <a:bodyPr wrap="square" lIns="0" tIns="0" rIns="0" bIns="0" anchor="t">
            <a:spAutoFit/>
          </a:bodyPr>
          <a:lstStyle/>
          <a:p>
            <a:pPr algn="ctr">
              <a:lnSpc>
                <a:spcPct val="100000"/>
              </a:lnSpc>
              <a:spcAft>
                <a:spcPts val="0"/>
              </a:spcAft>
            </a:pPr>
            <a:r>
              <a:rPr sz="950" b="0" i="0">
                <a:solidFill>
                  <a:srgbClr val="1B2733"/>
                </a:solidFill>
                <a:latin typeface="Calibri" panose="020F0502020204030204"/>
              </a:rPr>
              <a:t>Polis aktif?</a:t>
            </a:r>
            <a:endParaRPr sz="950" b="0" i="0">
              <a:solidFill>
                <a:srgbClr val="1B2733"/>
              </a:solidFill>
              <a:latin typeface="Calibri" panose="020F0502020204030204"/>
            </a:endParaRPr>
          </a:p>
        </p:txBody>
      </p:sp>
      <p:cxnSp>
        <p:nvCxnSpPr>
          <p:cNvPr id="17" name="Connector 16"/>
          <p:cNvCxnSpPr/>
          <p:nvPr/>
        </p:nvCxnSpPr>
        <p:spPr>
          <a:xfrm>
            <a:off x="5870448" y="2532888"/>
            <a:ext cx="384048" cy="0"/>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870448" y="2276856"/>
            <a:ext cx="411480" cy="237744"/>
          </a:xfrm>
          <a:prstGeom prst="rect">
            <a:avLst/>
          </a:prstGeom>
          <a:noFill/>
        </p:spPr>
        <p:txBody>
          <a:bodyPr wrap="square" lIns="0" tIns="0" rIns="0" bIns="0" anchor="t">
            <a:spAutoFit/>
          </a:bodyPr>
          <a:lstStyle/>
          <a:p>
            <a:pPr algn="ctr">
              <a:lnSpc>
                <a:spcPct val="100000"/>
              </a:lnSpc>
              <a:spcAft>
                <a:spcPts val="0"/>
              </a:spcAft>
            </a:pPr>
            <a:r>
              <a:rPr sz="900" b="0" i="0">
                <a:solidFill>
                  <a:srgbClr val="1B2733"/>
                </a:solidFill>
                <a:latin typeface="Calibri" panose="020F0502020204030204"/>
              </a:rPr>
              <a:t>ya</a:t>
            </a:r>
            <a:endParaRPr sz="900" b="0" i="0">
              <a:solidFill>
                <a:srgbClr val="1B2733"/>
              </a:solidFill>
              <a:latin typeface="Calibri" panose="020F0502020204030204"/>
            </a:endParaRPr>
          </a:p>
        </p:txBody>
      </p:sp>
      <p:sp>
        <p:nvSpPr>
          <p:cNvPr id="19" name="Rounded Rectangle 18"/>
          <p:cNvSpPr/>
          <p:nvPr/>
        </p:nvSpPr>
        <p:spPr>
          <a:xfrm>
            <a:off x="6254496" y="2240280"/>
            <a:ext cx="1554480" cy="585216"/>
          </a:xfrm>
          <a:prstGeom prst="roundRect">
            <a:avLst>
              <a:gd name="adj" fmla="val 13000"/>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12000"/>
              </a:lnSpc>
            </a:pPr>
            <a:r>
              <a:rPr sz="1050" b="0">
                <a:solidFill>
                  <a:srgbClr val="1B2733"/>
                </a:solidFill>
                <a:latin typeface="Calibri" panose="020F0502020204030204"/>
              </a:rPr>
              <a:t>Menjadwalkan survei</a:t>
            </a:r>
            <a:endParaRPr sz="1050" b="0">
              <a:solidFill>
                <a:srgbClr val="1B2733"/>
              </a:solidFill>
              <a:latin typeface="Calibri" panose="020F0502020204030204"/>
            </a:endParaRPr>
          </a:p>
        </p:txBody>
      </p:sp>
      <p:cxnSp>
        <p:nvCxnSpPr>
          <p:cNvPr id="20" name="Connector 19"/>
          <p:cNvCxnSpPr/>
          <p:nvPr/>
        </p:nvCxnSpPr>
        <p:spPr>
          <a:xfrm>
            <a:off x="7808975" y="2532888"/>
            <a:ext cx="292608" cy="0"/>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8101583" y="2322576"/>
            <a:ext cx="420624" cy="420624"/>
          </a:xfrm>
          <a:prstGeom prst="ellipse">
            <a:avLst/>
          </a:prstGeom>
          <a:solidFill>
            <a:srgbClr val="FFFFFF"/>
          </a:solidFill>
          <a:ln w="38100">
            <a:solidFill>
              <a:srgbClr val="1B27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26096" y="2807208"/>
            <a:ext cx="1371600" cy="237744"/>
          </a:xfrm>
          <a:prstGeom prst="rect">
            <a:avLst/>
          </a:prstGeom>
          <a:noFill/>
        </p:spPr>
        <p:txBody>
          <a:bodyPr wrap="square" lIns="0" tIns="0" rIns="0" bIns="0" anchor="t">
            <a:spAutoFit/>
          </a:bodyPr>
          <a:lstStyle/>
          <a:p>
            <a:pPr algn="ctr">
              <a:lnSpc>
                <a:spcPct val="100000"/>
              </a:lnSpc>
              <a:spcAft>
                <a:spcPts val="0"/>
              </a:spcAft>
            </a:pPr>
            <a:r>
              <a:rPr sz="950" b="0" i="0">
                <a:solidFill>
                  <a:srgbClr val="5A6672"/>
                </a:solidFill>
                <a:latin typeface="Calibri" panose="020F0502020204030204"/>
              </a:rPr>
              <a:t>Survei terjadwal</a:t>
            </a:r>
            <a:endParaRPr sz="950" b="0" i="0">
              <a:solidFill>
                <a:srgbClr val="5A6672"/>
              </a:solidFill>
              <a:latin typeface="Calibri" panose="020F0502020204030204"/>
            </a:endParaRPr>
          </a:p>
        </p:txBody>
      </p:sp>
      <p:cxnSp>
        <p:nvCxnSpPr>
          <p:cNvPr id="23" name="Connector 22"/>
          <p:cNvCxnSpPr/>
          <p:nvPr/>
        </p:nvCxnSpPr>
        <p:spPr>
          <a:xfrm>
            <a:off x="5522976" y="2880360"/>
            <a:ext cx="0" cy="886968"/>
          </a:xfrm>
          <a:prstGeom prst="line">
            <a:avLst/>
          </a:prstGeom>
          <a:ln w="19050">
            <a:solidFill>
              <a:srgbClr val="C97A0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522976" y="3767328"/>
            <a:ext cx="384048" cy="0"/>
          </a:xfrm>
          <a:prstGeom prst="line">
            <a:avLst/>
          </a:prstGeom>
          <a:ln w="19050">
            <a:solidFill>
              <a:srgbClr val="C97A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577840" y="2990088"/>
            <a:ext cx="640080" cy="237744"/>
          </a:xfrm>
          <a:prstGeom prst="rect">
            <a:avLst/>
          </a:prstGeom>
          <a:noFill/>
        </p:spPr>
        <p:txBody>
          <a:bodyPr wrap="square" lIns="0" tIns="0" rIns="0" bIns="0" anchor="t">
            <a:spAutoFit/>
          </a:bodyPr>
          <a:lstStyle/>
          <a:p>
            <a:pPr algn="l">
              <a:lnSpc>
                <a:spcPct val="100000"/>
              </a:lnSpc>
              <a:spcAft>
                <a:spcPts val="0"/>
              </a:spcAft>
            </a:pPr>
            <a:r>
              <a:rPr sz="900" b="0" i="0">
                <a:solidFill>
                  <a:srgbClr val="C97A0A"/>
                </a:solidFill>
                <a:latin typeface="Calibri" panose="020F0502020204030204"/>
              </a:rPr>
              <a:t>tidak</a:t>
            </a:r>
            <a:endParaRPr sz="900" b="0" i="0">
              <a:solidFill>
                <a:srgbClr val="C97A0A"/>
              </a:solidFill>
              <a:latin typeface="Calibri" panose="020F0502020204030204"/>
            </a:endParaRPr>
          </a:p>
        </p:txBody>
      </p:sp>
      <p:sp>
        <p:nvSpPr>
          <p:cNvPr id="26" name="Rounded Rectangle 25"/>
          <p:cNvSpPr/>
          <p:nvPr/>
        </p:nvSpPr>
        <p:spPr>
          <a:xfrm>
            <a:off x="5907024" y="3474720"/>
            <a:ext cx="1737360" cy="585216"/>
          </a:xfrm>
          <a:prstGeom prst="roundRect">
            <a:avLst>
              <a:gd name="adj" fmla="val 13000"/>
            </a:avLst>
          </a:prstGeom>
          <a:solidFill>
            <a:srgbClr val="FFFFFF"/>
          </a:solidFill>
          <a:ln w="15875">
            <a:solidFill>
              <a:srgbClr val="C97A0A"/>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12000"/>
              </a:lnSpc>
            </a:pPr>
            <a:r>
              <a:rPr sz="1050" b="0">
                <a:solidFill>
                  <a:srgbClr val="1B2733"/>
                </a:solidFill>
                <a:latin typeface="Calibri" panose="020F0502020204030204"/>
              </a:rPr>
              <a:t>Menerbitkan surat penolakan</a:t>
            </a:r>
            <a:endParaRPr sz="1050" b="0">
              <a:solidFill>
                <a:srgbClr val="1B2733"/>
              </a:solidFill>
              <a:latin typeface="Calibri" panose="020F0502020204030204"/>
            </a:endParaRPr>
          </a:p>
        </p:txBody>
      </p:sp>
      <p:cxnSp>
        <p:nvCxnSpPr>
          <p:cNvPr id="27" name="Connector 26"/>
          <p:cNvCxnSpPr/>
          <p:nvPr/>
        </p:nvCxnSpPr>
        <p:spPr>
          <a:xfrm>
            <a:off x="7644383" y="3767328"/>
            <a:ext cx="292609" cy="0"/>
          </a:xfrm>
          <a:prstGeom prst="line">
            <a:avLst/>
          </a:prstGeom>
          <a:ln w="19050">
            <a:solidFill>
              <a:srgbClr val="C97A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7936992" y="3557016"/>
            <a:ext cx="420624" cy="420624"/>
          </a:xfrm>
          <a:prstGeom prst="ellipse">
            <a:avLst/>
          </a:prstGeom>
          <a:solidFill>
            <a:srgbClr val="FFFFFF"/>
          </a:solidFill>
          <a:ln w="38100">
            <a:solidFill>
              <a:srgbClr val="1B27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61504" y="4041648"/>
            <a:ext cx="1371600" cy="237744"/>
          </a:xfrm>
          <a:prstGeom prst="rect">
            <a:avLst/>
          </a:prstGeom>
          <a:noFill/>
        </p:spPr>
        <p:txBody>
          <a:bodyPr wrap="square" lIns="0" tIns="0" rIns="0" bIns="0" anchor="t">
            <a:spAutoFit/>
          </a:bodyPr>
          <a:lstStyle/>
          <a:p>
            <a:pPr algn="ctr">
              <a:lnSpc>
                <a:spcPct val="100000"/>
              </a:lnSpc>
              <a:spcAft>
                <a:spcPts val="0"/>
              </a:spcAft>
            </a:pPr>
            <a:r>
              <a:rPr sz="950" b="0" i="0">
                <a:solidFill>
                  <a:srgbClr val="5A6672"/>
                </a:solidFill>
                <a:latin typeface="Calibri" panose="020F0502020204030204"/>
              </a:rPr>
              <a:t>Klaim ditolak</a:t>
            </a:r>
            <a:endParaRPr sz="950" b="0" i="0">
              <a:solidFill>
                <a:srgbClr val="5A6672"/>
              </a:solidFill>
              <a:latin typeface="Calibri" panose="020F0502020204030204"/>
            </a:endParaRPr>
          </a:p>
        </p:txBody>
      </p:sp>
      <p:sp>
        <p:nvSpPr>
          <p:cNvPr id="30" name="TextBox 29"/>
          <p:cNvSpPr txBox="1"/>
          <p:nvPr/>
        </p:nvSpPr>
        <p:spPr>
          <a:xfrm>
            <a:off x="658368" y="4983480"/>
            <a:ext cx="10875264" cy="237744"/>
          </a:xfrm>
          <a:prstGeom prst="rect">
            <a:avLst/>
          </a:prstGeom>
          <a:noFill/>
        </p:spPr>
        <p:txBody>
          <a:bodyPr wrap="square" lIns="0" tIns="0" rIns="0" bIns="0" anchor="t">
            <a:spAutoFit/>
          </a:bodyPr>
          <a:lstStyle/>
          <a:p>
            <a:pPr algn="l">
              <a:lnSpc>
                <a:spcPct val="100000"/>
              </a:lnSpc>
              <a:spcAft>
                <a:spcPts val="0"/>
              </a:spcAft>
            </a:pPr>
            <a:r>
              <a:rPr sz="1050" b="0" i="1">
                <a:solidFill>
                  <a:srgbClr val="5A6672"/>
                </a:solidFill>
                <a:latin typeface="Calibri" panose="020F0502020204030204"/>
              </a:rPr>
              <a:t>Jalur eksepsi cuma menambah dua elemen, tapi menaikkan kejujuran model jauh lebih banyak.</a:t>
            </a:r>
            <a:endParaRPr sz="1050" b="0" i="1">
              <a:solidFill>
                <a:srgbClr val="5A6672"/>
              </a:solidFill>
              <a:latin typeface="Calibri" panose="020F0502020204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LATIHAN 3 MENIT</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Contoh yang salah, cari lima kesalahannya</a:t>
            </a:r>
            <a:endParaRPr sz="3000" b="1" i="0">
              <a:solidFill>
                <a:srgbClr val="1B2733"/>
              </a:solidFill>
              <a:latin typeface="Calibri" panose="020F0502020204030204"/>
            </a:endParaRP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tIns="0" rIns="0" bIns="0" anchor="t">
            <a:spAutoFit/>
          </a:bodyPr>
          <a:lstStyle/>
          <a:p>
            <a:pPr algn="l">
              <a:lnSpc>
                <a:spcPct val="118000"/>
              </a:lnSpc>
              <a:spcAft>
                <a:spcPts val="0"/>
              </a:spcAft>
            </a:pPr>
            <a:r>
              <a:rPr sz="1350" b="1" i="0">
                <a:solidFill>
                  <a:srgbClr val="1B2733"/>
                </a:solidFill>
                <a:latin typeface="Calibri" panose="020F0502020204030204"/>
              </a:rPr>
              <a:t>Latihan mencari kesalahan lebih cepat melatih mata daripada menggambar dari nol.</a:t>
            </a:r>
            <a:endParaRPr sz="1350" b="1" i="0">
              <a:solidFill>
                <a:srgbClr val="1B2733"/>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19</a:t>
            </a:r>
            <a:endParaRPr sz="850" b="0" i="0">
              <a:solidFill>
                <a:srgbClr val="8A96A3"/>
              </a:solidFill>
              <a:latin typeface="Calibri" panose="020F0502020204030204"/>
            </a:endParaRPr>
          </a:p>
        </p:txBody>
      </p:sp>
      <p:sp>
        <p:nvSpPr>
          <p:cNvPr id="8" name="Rectangle 7"/>
          <p:cNvSpPr/>
          <p:nvPr/>
        </p:nvSpPr>
        <p:spPr>
          <a:xfrm>
            <a:off x="1042415" y="1920240"/>
            <a:ext cx="10491216" cy="2578608"/>
          </a:xfrm>
          <a:prstGeom prst="rect">
            <a:avLst/>
          </a:prstGeom>
          <a:solidFill>
            <a:srgbClr val="FFFFFF"/>
          </a:solidFill>
          <a:ln w="9525">
            <a:solidFill>
              <a:srgbClr val="DCE2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1920240"/>
            <a:ext cx="384048" cy="2578608"/>
          </a:xfrm>
          <a:prstGeom prst="rect">
            <a:avLst/>
          </a:prstGeom>
          <a:solidFill>
            <a:srgbClr val="CFE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rot="16200000">
            <a:off x="-438912" y="3054096"/>
            <a:ext cx="2578608" cy="310896"/>
          </a:xfrm>
          <a:prstGeom prst="rect">
            <a:avLst/>
          </a:prstGeom>
          <a:noFill/>
        </p:spPr>
        <p:txBody>
          <a:bodyPr wrap="square" lIns="0" tIns="0" rIns="0" bIns="0" anchor="ctr">
            <a:spAutoFit/>
          </a:bodyPr>
          <a:lstStyle/>
          <a:p>
            <a:pPr algn="ctr">
              <a:lnSpc>
                <a:spcPct val="100000"/>
              </a:lnSpc>
              <a:spcAft>
                <a:spcPts val="0"/>
              </a:spcAft>
            </a:pPr>
            <a:r>
              <a:rPr sz="1050" b="1" i="0">
                <a:solidFill>
                  <a:srgbClr val="116B75"/>
                </a:solidFill>
                <a:latin typeface="Calibri" panose="020F0502020204030204"/>
              </a:rPr>
              <a:t>Asuransi</a:t>
            </a:r>
            <a:endParaRPr sz="1050" b="1" i="0">
              <a:solidFill>
                <a:srgbClr val="116B75"/>
              </a:solidFill>
              <a:latin typeface="Calibri" panose="020F0502020204030204"/>
            </a:endParaRPr>
          </a:p>
        </p:txBody>
      </p:sp>
      <p:sp>
        <p:nvSpPr>
          <p:cNvPr id="11" name="Oval 10"/>
          <p:cNvSpPr/>
          <p:nvPr/>
        </p:nvSpPr>
        <p:spPr>
          <a:xfrm>
            <a:off x="1280160" y="2404872"/>
            <a:ext cx="402336" cy="402336"/>
          </a:xfrm>
          <a:prstGeom prst="ellipse">
            <a:avLst/>
          </a:prstGeom>
          <a:solidFill>
            <a:srgbClr val="FFFFFF"/>
          </a:solidFill>
          <a:ln w="15875">
            <a:solidFill>
              <a:srgbClr val="12A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1682496" y="2606040"/>
            <a:ext cx="237744" cy="0"/>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920240" y="2331720"/>
            <a:ext cx="1280160" cy="548640"/>
          </a:xfrm>
          <a:prstGeom prst="roundRect">
            <a:avLst>
              <a:gd name="adj" fmla="val 13000"/>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12000"/>
              </a:lnSpc>
            </a:pPr>
            <a:r>
              <a:rPr sz="1000" b="0">
                <a:solidFill>
                  <a:srgbClr val="1B2733"/>
                </a:solidFill>
                <a:latin typeface="Calibri" panose="020F0502020204030204"/>
              </a:rPr>
              <a:t>Dokumen tagihan</a:t>
            </a:r>
            <a:endParaRPr sz="1000" b="0">
              <a:solidFill>
                <a:srgbClr val="1B2733"/>
              </a:solidFill>
              <a:latin typeface="Calibri" panose="020F0502020204030204"/>
            </a:endParaRPr>
          </a:p>
        </p:txBody>
      </p:sp>
      <p:cxnSp>
        <p:nvCxnSpPr>
          <p:cNvPr id="14" name="Connector 13"/>
          <p:cNvCxnSpPr/>
          <p:nvPr/>
        </p:nvCxnSpPr>
        <p:spPr>
          <a:xfrm>
            <a:off x="3200400" y="2606040"/>
            <a:ext cx="210312" cy="0"/>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Diamond 14"/>
          <p:cNvSpPr/>
          <p:nvPr/>
        </p:nvSpPr>
        <p:spPr>
          <a:xfrm>
            <a:off x="3410711" y="2304288"/>
            <a:ext cx="603504" cy="603504"/>
          </a:xfrm>
          <a:prstGeom prst="diamond">
            <a:avLst/>
          </a:prstGeom>
          <a:solidFill>
            <a:srgbClr val="FFFFFF"/>
          </a:solidFill>
          <a:ln w="15875">
            <a:solidFill>
              <a:srgbClr val="C97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C97A0A"/>
                </a:solidFill>
                <a:latin typeface="Calibri" panose="020F0502020204030204"/>
              </a:rPr>
              <a:t>×</a:t>
            </a:r>
            <a:endParaRPr sz="1500" b="1">
              <a:solidFill>
                <a:srgbClr val="C97A0A"/>
              </a:solidFill>
              <a:latin typeface="Calibri" panose="020F0502020204030204"/>
            </a:endParaRPr>
          </a:p>
        </p:txBody>
      </p:sp>
      <p:sp>
        <p:nvSpPr>
          <p:cNvPr id="16" name="TextBox 15"/>
          <p:cNvSpPr txBox="1"/>
          <p:nvPr/>
        </p:nvSpPr>
        <p:spPr>
          <a:xfrm>
            <a:off x="3026663" y="2011680"/>
            <a:ext cx="1371600" cy="237744"/>
          </a:xfrm>
          <a:prstGeom prst="rect">
            <a:avLst/>
          </a:prstGeom>
          <a:noFill/>
        </p:spPr>
        <p:txBody>
          <a:bodyPr wrap="square" lIns="0" tIns="0" rIns="0" bIns="0" anchor="t">
            <a:spAutoFit/>
          </a:bodyPr>
          <a:lstStyle/>
          <a:p>
            <a:pPr algn="ctr">
              <a:lnSpc>
                <a:spcPct val="100000"/>
              </a:lnSpc>
              <a:spcAft>
                <a:spcPts val="0"/>
              </a:spcAft>
            </a:pPr>
            <a:r>
              <a:rPr sz="950" b="0" i="0">
                <a:solidFill>
                  <a:srgbClr val="1B2733"/>
                </a:solidFill>
                <a:latin typeface="Calibri" panose="020F0502020204030204"/>
              </a:rPr>
              <a:t>Tagihan diterima?</a:t>
            </a:r>
            <a:endParaRPr sz="950" b="0" i="0">
              <a:solidFill>
                <a:srgbClr val="1B2733"/>
              </a:solidFill>
              <a:latin typeface="Calibri" panose="020F0502020204030204"/>
            </a:endParaRPr>
          </a:p>
        </p:txBody>
      </p:sp>
      <p:cxnSp>
        <p:nvCxnSpPr>
          <p:cNvPr id="17" name="Connector 16"/>
          <p:cNvCxnSpPr/>
          <p:nvPr/>
        </p:nvCxnSpPr>
        <p:spPr>
          <a:xfrm>
            <a:off x="4014215" y="2606040"/>
            <a:ext cx="365761" cy="0"/>
          </a:xfrm>
          <a:prstGeom prst="line">
            <a:avLst/>
          </a:prstGeom>
          <a:ln w="19050">
            <a:solidFill>
              <a:srgbClr val="1B273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959352" y="2331720"/>
            <a:ext cx="475488" cy="237744"/>
          </a:xfrm>
          <a:prstGeom prst="rect">
            <a:avLst/>
          </a:prstGeom>
          <a:noFill/>
        </p:spPr>
        <p:txBody>
          <a:bodyPr wrap="square" lIns="0" tIns="0" rIns="0" bIns="0" anchor="t">
            <a:spAutoFit/>
          </a:bodyPr>
          <a:lstStyle/>
          <a:p>
            <a:pPr algn="ctr">
              <a:lnSpc>
                <a:spcPct val="100000"/>
              </a:lnSpc>
              <a:spcAft>
                <a:spcPts val="0"/>
              </a:spcAft>
            </a:pPr>
            <a:r>
              <a:rPr sz="900" b="0" i="0">
                <a:solidFill>
                  <a:srgbClr val="1B2733"/>
                </a:solidFill>
                <a:latin typeface="Calibri" panose="020F0502020204030204"/>
              </a:rPr>
              <a:t>ya</a:t>
            </a:r>
            <a:endParaRPr sz="900" b="0" i="0">
              <a:solidFill>
                <a:srgbClr val="1B2733"/>
              </a:solidFill>
              <a:latin typeface="Calibri" panose="020F0502020204030204"/>
            </a:endParaRPr>
          </a:p>
        </p:txBody>
      </p:sp>
      <p:sp>
        <p:nvSpPr>
          <p:cNvPr id="19" name="Rounded Rectangle 18"/>
          <p:cNvSpPr/>
          <p:nvPr/>
        </p:nvSpPr>
        <p:spPr>
          <a:xfrm>
            <a:off x="4379976" y="2331720"/>
            <a:ext cx="1280160" cy="548640"/>
          </a:xfrm>
          <a:prstGeom prst="roundRect">
            <a:avLst>
              <a:gd name="adj" fmla="val 13000"/>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12000"/>
              </a:lnSpc>
            </a:pPr>
            <a:r>
              <a:rPr sz="1000" b="0">
                <a:solidFill>
                  <a:srgbClr val="1B2733"/>
                </a:solidFill>
                <a:latin typeface="Calibri" panose="020F0502020204030204"/>
              </a:rPr>
              <a:t>Memeriksa berkas</a:t>
            </a:r>
            <a:endParaRPr sz="1000" b="0">
              <a:solidFill>
                <a:srgbClr val="1B2733"/>
              </a:solidFill>
              <a:latin typeface="Calibri" panose="020F0502020204030204"/>
            </a:endParaRPr>
          </a:p>
        </p:txBody>
      </p:sp>
      <p:cxnSp>
        <p:nvCxnSpPr>
          <p:cNvPr id="20" name="Connector 19"/>
          <p:cNvCxnSpPr/>
          <p:nvPr/>
        </p:nvCxnSpPr>
        <p:spPr>
          <a:xfrm>
            <a:off x="5660136" y="2606040"/>
            <a:ext cx="210312" cy="0"/>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Diamond 20"/>
          <p:cNvSpPr/>
          <p:nvPr/>
        </p:nvSpPr>
        <p:spPr>
          <a:xfrm>
            <a:off x="5870448" y="2276856"/>
            <a:ext cx="658368" cy="658368"/>
          </a:xfrm>
          <a:prstGeom prst="diamond">
            <a:avLst/>
          </a:prstGeom>
          <a:solidFill>
            <a:srgbClr val="FFFFFF"/>
          </a:solidFill>
          <a:ln w="15875">
            <a:solidFill>
              <a:srgbClr val="C97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C97A0A"/>
                </a:solidFill>
                <a:latin typeface="Calibri" panose="020F0502020204030204"/>
              </a:rPr>
              <a:t>×</a:t>
            </a:r>
            <a:endParaRPr sz="1500" b="1">
              <a:solidFill>
                <a:srgbClr val="C97A0A"/>
              </a:solidFill>
              <a:latin typeface="Calibri" panose="020F0502020204030204"/>
            </a:endParaRPr>
          </a:p>
        </p:txBody>
      </p:sp>
      <p:sp>
        <p:nvSpPr>
          <p:cNvPr id="22" name="TextBox 21"/>
          <p:cNvSpPr txBox="1"/>
          <p:nvPr/>
        </p:nvSpPr>
        <p:spPr>
          <a:xfrm>
            <a:off x="5513832" y="1984248"/>
            <a:ext cx="1371600" cy="237744"/>
          </a:xfrm>
          <a:prstGeom prst="rect">
            <a:avLst/>
          </a:prstGeom>
          <a:noFill/>
        </p:spPr>
        <p:txBody>
          <a:bodyPr wrap="square" lIns="0" tIns="0" rIns="0" bIns="0" anchor="t">
            <a:spAutoFit/>
          </a:bodyPr>
          <a:lstStyle/>
          <a:p>
            <a:pPr algn="ctr">
              <a:lnSpc>
                <a:spcPct val="100000"/>
              </a:lnSpc>
              <a:spcAft>
                <a:spcPts val="0"/>
              </a:spcAft>
            </a:pPr>
            <a:r>
              <a:rPr sz="950" b="0" i="0">
                <a:solidFill>
                  <a:srgbClr val="1B2733"/>
                </a:solidFill>
                <a:latin typeface="Calibri" panose="020F0502020204030204"/>
              </a:rPr>
              <a:t>Lengkap?</a:t>
            </a:r>
            <a:endParaRPr sz="950" b="0" i="0">
              <a:solidFill>
                <a:srgbClr val="1B2733"/>
              </a:solidFill>
              <a:latin typeface="Calibri" panose="020F0502020204030204"/>
            </a:endParaRPr>
          </a:p>
        </p:txBody>
      </p:sp>
      <p:cxnSp>
        <p:nvCxnSpPr>
          <p:cNvPr id="23" name="Connector 22"/>
          <p:cNvCxnSpPr/>
          <p:nvPr/>
        </p:nvCxnSpPr>
        <p:spPr>
          <a:xfrm>
            <a:off x="6528816" y="2606040"/>
            <a:ext cx="329184" cy="0"/>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492240" y="2331720"/>
            <a:ext cx="402336" cy="237744"/>
          </a:xfrm>
          <a:prstGeom prst="rect">
            <a:avLst/>
          </a:prstGeom>
          <a:noFill/>
        </p:spPr>
        <p:txBody>
          <a:bodyPr wrap="square" lIns="0" tIns="0" rIns="0" bIns="0" anchor="t">
            <a:spAutoFit/>
          </a:bodyPr>
          <a:lstStyle/>
          <a:p>
            <a:pPr algn="ctr">
              <a:lnSpc>
                <a:spcPct val="100000"/>
              </a:lnSpc>
              <a:spcAft>
                <a:spcPts val="0"/>
              </a:spcAft>
            </a:pPr>
            <a:r>
              <a:rPr sz="900" b="0" i="0">
                <a:solidFill>
                  <a:srgbClr val="1B2733"/>
                </a:solidFill>
                <a:latin typeface="Calibri" panose="020F0502020204030204"/>
              </a:rPr>
              <a:t>ya</a:t>
            </a:r>
            <a:endParaRPr sz="900" b="0" i="0">
              <a:solidFill>
                <a:srgbClr val="1B2733"/>
              </a:solidFill>
              <a:latin typeface="Calibri" panose="020F0502020204030204"/>
            </a:endParaRPr>
          </a:p>
        </p:txBody>
      </p:sp>
      <p:sp>
        <p:nvSpPr>
          <p:cNvPr id="25" name="Rounded Rectangle 24"/>
          <p:cNvSpPr/>
          <p:nvPr/>
        </p:nvSpPr>
        <p:spPr>
          <a:xfrm>
            <a:off x="6858000" y="2331720"/>
            <a:ext cx="1325880" cy="548640"/>
          </a:xfrm>
          <a:prstGeom prst="roundRect">
            <a:avLst>
              <a:gd name="adj" fmla="val 13000"/>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12000"/>
              </a:lnSpc>
            </a:pPr>
            <a:r>
              <a:rPr sz="1000" b="0">
                <a:solidFill>
                  <a:srgbClr val="1B2733"/>
                </a:solidFill>
                <a:latin typeface="Calibri" panose="020F0502020204030204"/>
              </a:rPr>
              <a:t>Memverifikasi tagihan</a:t>
            </a:r>
            <a:endParaRPr sz="1000" b="0">
              <a:solidFill>
                <a:srgbClr val="1B2733"/>
              </a:solidFill>
              <a:latin typeface="Calibri" panose="020F0502020204030204"/>
            </a:endParaRPr>
          </a:p>
        </p:txBody>
      </p:sp>
      <p:cxnSp>
        <p:nvCxnSpPr>
          <p:cNvPr id="26" name="Connector 25"/>
          <p:cNvCxnSpPr/>
          <p:nvPr/>
        </p:nvCxnSpPr>
        <p:spPr>
          <a:xfrm>
            <a:off x="8183879" y="2606040"/>
            <a:ext cx="310897" cy="0"/>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Diamond 26"/>
          <p:cNvSpPr/>
          <p:nvPr/>
        </p:nvSpPr>
        <p:spPr>
          <a:xfrm>
            <a:off x="8494776" y="2276856"/>
            <a:ext cx="658368" cy="658368"/>
          </a:xfrm>
          <a:prstGeom prst="diamond">
            <a:avLst/>
          </a:prstGeom>
          <a:solidFill>
            <a:srgbClr val="FFFFFF"/>
          </a:solidFill>
          <a:ln w="15875">
            <a:solidFill>
              <a:srgbClr val="C97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C97A0A"/>
                </a:solidFill>
                <a:latin typeface="Calibri" panose="020F0502020204030204"/>
              </a:rPr>
              <a:t>+</a:t>
            </a:r>
            <a:endParaRPr sz="1500" b="1">
              <a:solidFill>
                <a:srgbClr val="C97A0A"/>
              </a:solidFill>
              <a:latin typeface="Calibri" panose="020F0502020204030204"/>
            </a:endParaRPr>
          </a:p>
        </p:txBody>
      </p:sp>
      <p:cxnSp>
        <p:nvCxnSpPr>
          <p:cNvPr id="28" name="Connector 27"/>
          <p:cNvCxnSpPr/>
          <p:nvPr/>
        </p:nvCxnSpPr>
        <p:spPr>
          <a:xfrm>
            <a:off x="9153144" y="2606040"/>
            <a:ext cx="201168" cy="0"/>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9354312" y="2331720"/>
            <a:ext cx="1280160" cy="548640"/>
          </a:xfrm>
          <a:prstGeom prst="roundRect">
            <a:avLst>
              <a:gd name="adj" fmla="val 13000"/>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12000"/>
              </a:lnSpc>
            </a:pPr>
            <a:r>
              <a:rPr sz="1000" b="0">
                <a:solidFill>
                  <a:srgbClr val="1B2733"/>
                </a:solidFill>
                <a:latin typeface="Calibri" panose="020F0502020204030204"/>
              </a:rPr>
              <a:t>Memproses pembayaran</a:t>
            </a:r>
            <a:endParaRPr sz="1000" b="0">
              <a:solidFill>
                <a:srgbClr val="1B2733"/>
              </a:solidFill>
              <a:latin typeface="Calibri" panose="020F0502020204030204"/>
            </a:endParaRPr>
          </a:p>
        </p:txBody>
      </p:sp>
      <p:cxnSp>
        <p:nvCxnSpPr>
          <p:cNvPr id="30" name="Connector 29"/>
          <p:cNvCxnSpPr/>
          <p:nvPr/>
        </p:nvCxnSpPr>
        <p:spPr>
          <a:xfrm>
            <a:off x="10634472" y="2606040"/>
            <a:ext cx="201168" cy="0"/>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0835640" y="2404872"/>
            <a:ext cx="402336" cy="402336"/>
          </a:xfrm>
          <a:prstGeom prst="ellipse">
            <a:avLst/>
          </a:prstGeom>
          <a:solidFill>
            <a:srgbClr val="FFFFFF"/>
          </a:solidFill>
          <a:ln w="38100">
            <a:solidFill>
              <a:srgbClr val="1B27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a:off x="6199632" y="2935224"/>
            <a:ext cx="0" cy="996696"/>
          </a:xfrm>
          <a:prstGeom prst="line">
            <a:avLst/>
          </a:prstGeom>
          <a:ln w="19050">
            <a:solidFill>
              <a:srgbClr val="1B273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199632" y="3931920"/>
            <a:ext cx="384048" cy="0"/>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245352" y="3008376"/>
            <a:ext cx="640080" cy="237744"/>
          </a:xfrm>
          <a:prstGeom prst="rect">
            <a:avLst/>
          </a:prstGeom>
          <a:noFill/>
        </p:spPr>
        <p:txBody>
          <a:bodyPr wrap="square" lIns="0" tIns="0" rIns="0" bIns="0" anchor="t">
            <a:spAutoFit/>
          </a:bodyPr>
          <a:lstStyle/>
          <a:p>
            <a:pPr algn="l">
              <a:lnSpc>
                <a:spcPct val="100000"/>
              </a:lnSpc>
              <a:spcAft>
                <a:spcPts val="0"/>
              </a:spcAft>
            </a:pPr>
            <a:r>
              <a:rPr sz="900" b="0" i="0">
                <a:solidFill>
                  <a:srgbClr val="1B2733"/>
                </a:solidFill>
                <a:latin typeface="Calibri" panose="020F0502020204030204"/>
              </a:rPr>
              <a:t>tidak</a:t>
            </a:r>
            <a:endParaRPr sz="900" b="0" i="0">
              <a:solidFill>
                <a:srgbClr val="1B2733"/>
              </a:solidFill>
              <a:latin typeface="Calibri" panose="020F0502020204030204"/>
            </a:endParaRPr>
          </a:p>
        </p:txBody>
      </p:sp>
      <p:sp>
        <p:nvSpPr>
          <p:cNvPr id="35" name="Rounded Rectangle 34"/>
          <p:cNvSpPr/>
          <p:nvPr/>
        </p:nvSpPr>
        <p:spPr>
          <a:xfrm>
            <a:off x="6583680" y="3657600"/>
            <a:ext cx="1600200" cy="548640"/>
          </a:xfrm>
          <a:prstGeom prst="roundRect">
            <a:avLst>
              <a:gd name="adj" fmla="val 13000"/>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12000"/>
              </a:lnSpc>
            </a:pPr>
            <a:r>
              <a:rPr sz="1000" b="0">
                <a:solidFill>
                  <a:srgbClr val="1B2733"/>
                </a:solidFill>
                <a:latin typeface="Calibri" panose="020F0502020204030204"/>
              </a:rPr>
              <a:t>Mengembalikan ke bengkel</a:t>
            </a:r>
            <a:endParaRPr sz="1000" b="0">
              <a:solidFill>
                <a:srgbClr val="1B2733"/>
              </a:solidFill>
              <a:latin typeface="Calibri" panose="020F0502020204030204"/>
            </a:endParaRPr>
          </a:p>
        </p:txBody>
      </p:sp>
      <p:cxnSp>
        <p:nvCxnSpPr>
          <p:cNvPr id="36" name="Connector 35"/>
          <p:cNvCxnSpPr/>
          <p:nvPr/>
        </p:nvCxnSpPr>
        <p:spPr>
          <a:xfrm>
            <a:off x="8183879" y="3931920"/>
            <a:ext cx="640081" cy="0"/>
          </a:xfrm>
          <a:prstGeom prst="line">
            <a:avLst/>
          </a:prstGeom>
          <a:ln w="19050">
            <a:solidFill>
              <a:srgbClr val="1B2733"/>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8823960" y="2935224"/>
            <a:ext cx="0" cy="996696"/>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712463" y="2907792"/>
            <a:ext cx="0" cy="1024128"/>
          </a:xfrm>
          <a:prstGeom prst="line">
            <a:avLst/>
          </a:prstGeom>
          <a:ln w="19050">
            <a:solidFill>
              <a:srgbClr val="1B273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712463" y="3931920"/>
            <a:ext cx="402337" cy="0"/>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3758183" y="2990088"/>
            <a:ext cx="640080" cy="237744"/>
          </a:xfrm>
          <a:prstGeom prst="rect">
            <a:avLst/>
          </a:prstGeom>
          <a:noFill/>
        </p:spPr>
        <p:txBody>
          <a:bodyPr wrap="square" lIns="0" tIns="0" rIns="0" bIns="0" anchor="t">
            <a:spAutoFit/>
          </a:bodyPr>
          <a:lstStyle/>
          <a:p>
            <a:pPr algn="l">
              <a:lnSpc>
                <a:spcPct val="100000"/>
              </a:lnSpc>
              <a:spcAft>
                <a:spcPts val="0"/>
              </a:spcAft>
            </a:pPr>
            <a:r>
              <a:rPr sz="900" b="0" i="0">
                <a:solidFill>
                  <a:srgbClr val="1B2733"/>
                </a:solidFill>
                <a:latin typeface="Calibri" panose="020F0502020204030204"/>
              </a:rPr>
              <a:t>tidak</a:t>
            </a:r>
            <a:endParaRPr sz="900" b="0" i="0">
              <a:solidFill>
                <a:srgbClr val="1B2733"/>
              </a:solidFill>
              <a:latin typeface="Calibri" panose="020F0502020204030204"/>
            </a:endParaRPr>
          </a:p>
        </p:txBody>
      </p:sp>
      <p:sp>
        <p:nvSpPr>
          <p:cNvPr id="41" name="Rounded Rectangle 40"/>
          <p:cNvSpPr/>
          <p:nvPr/>
        </p:nvSpPr>
        <p:spPr>
          <a:xfrm>
            <a:off x="4114800" y="3657600"/>
            <a:ext cx="1600200" cy="548640"/>
          </a:xfrm>
          <a:prstGeom prst="roundRect">
            <a:avLst>
              <a:gd name="adj" fmla="val 13000"/>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12000"/>
              </a:lnSpc>
            </a:pPr>
            <a:r>
              <a:rPr sz="1000" b="0">
                <a:solidFill>
                  <a:srgbClr val="1B2733"/>
                </a:solidFill>
                <a:latin typeface="Calibri" panose="020F0502020204030204"/>
              </a:rPr>
              <a:t>Menghubungi bengkel</a:t>
            </a:r>
            <a:endParaRPr sz="1000" b="0">
              <a:solidFill>
                <a:srgbClr val="1B2733"/>
              </a:solidFill>
              <a:latin typeface="Calibri" panose="020F0502020204030204"/>
            </a:endParaRPr>
          </a:p>
        </p:txBody>
      </p:sp>
      <p:sp>
        <p:nvSpPr>
          <p:cNvPr id="42" name="Rounded Rectangle 41"/>
          <p:cNvSpPr/>
          <p:nvPr/>
        </p:nvSpPr>
        <p:spPr>
          <a:xfrm>
            <a:off x="658368" y="4873752"/>
            <a:ext cx="10875264" cy="420624"/>
          </a:xfrm>
          <a:prstGeom prst="roundRect">
            <a:avLst/>
          </a:prstGeom>
          <a:solidFill>
            <a:srgbClr val="FAF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7824" y="4965192"/>
            <a:ext cx="10418064" cy="274320"/>
          </a:xfrm>
          <a:prstGeom prst="rect">
            <a:avLst/>
          </a:prstGeom>
          <a:noFill/>
        </p:spPr>
        <p:txBody>
          <a:bodyPr wrap="square" lIns="0" tIns="0" rIns="0" bIns="0" anchor="t">
            <a:spAutoFit/>
          </a:bodyPr>
          <a:lstStyle/>
          <a:p>
            <a:pPr algn="l">
              <a:lnSpc>
                <a:spcPct val="100000"/>
              </a:lnSpc>
              <a:spcAft>
                <a:spcPts val="0"/>
              </a:spcAft>
            </a:pPr>
            <a:r>
              <a:rPr sz="1250" b="1" i="0">
                <a:solidFill>
                  <a:srgbClr val="9E6514"/>
                </a:solidFill>
                <a:latin typeface="Calibri" panose="020F0502020204030204"/>
              </a:rPr>
              <a:t>Ada lima kesalahan notasi di diagram ini. Tiga menit, cari sendiri dulu.</a:t>
            </a:r>
            <a:endParaRPr sz="1250" b="1" i="0">
              <a:solidFill>
                <a:srgbClr val="9E6514"/>
              </a:solidFill>
              <a:latin typeface="Calibri" panose="020F050202020403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POLA WAJIB</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Rework loop</a:t>
            </a:r>
            <a:endParaRPr sz="3000" b="1" i="0">
              <a:solidFill>
                <a:srgbClr val="1B2733"/>
              </a:solidFill>
              <a:latin typeface="Calibri" panose="020F0502020204030204"/>
            </a:endParaRP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tIns="0" rIns="0" bIns="0" anchor="t">
            <a:spAutoFit/>
          </a:bodyPr>
          <a:lstStyle/>
          <a:p>
            <a:pPr algn="l">
              <a:lnSpc>
                <a:spcPct val="118000"/>
              </a:lnSpc>
              <a:spcAft>
                <a:spcPts val="0"/>
              </a:spcAft>
            </a:pPr>
            <a:r>
              <a:rPr sz="1350" b="1" i="0">
                <a:solidFill>
                  <a:srgbClr val="1B2733"/>
                </a:solidFill>
                <a:latin typeface="Calibri" panose="020F0502020204030204"/>
              </a:rPr>
              <a:t>Kalau modelmu tidak punya satu pun panah yang balik ke belakang, kemungkinan besar kamu melewatkan sesuatu.</a:t>
            </a:r>
            <a:endParaRPr sz="1350" b="1" i="0">
              <a:solidFill>
                <a:srgbClr val="1B2733"/>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20</a:t>
            </a:r>
            <a:endParaRPr sz="850" b="0" i="0">
              <a:solidFill>
                <a:srgbClr val="8A96A3"/>
              </a:solidFill>
              <a:latin typeface="Calibri" panose="020F0502020204030204"/>
            </a:endParaRPr>
          </a:p>
        </p:txBody>
      </p:sp>
      <p:sp>
        <p:nvSpPr>
          <p:cNvPr id="8" name="Oval 7"/>
          <p:cNvSpPr/>
          <p:nvPr/>
        </p:nvSpPr>
        <p:spPr>
          <a:xfrm>
            <a:off x="749808" y="2148840"/>
            <a:ext cx="402336" cy="402336"/>
          </a:xfrm>
          <a:prstGeom prst="ellipse">
            <a:avLst/>
          </a:prstGeom>
          <a:solidFill>
            <a:srgbClr val="FFFFFF"/>
          </a:solidFill>
          <a:ln w="15875">
            <a:solidFill>
              <a:srgbClr val="12A5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5176" y="2615184"/>
            <a:ext cx="1371600" cy="237744"/>
          </a:xfrm>
          <a:prstGeom prst="rect">
            <a:avLst/>
          </a:prstGeom>
          <a:noFill/>
        </p:spPr>
        <p:txBody>
          <a:bodyPr wrap="square" lIns="0" tIns="0" rIns="0" bIns="0" anchor="t">
            <a:spAutoFit/>
          </a:bodyPr>
          <a:lstStyle/>
          <a:p>
            <a:pPr algn="ctr">
              <a:lnSpc>
                <a:spcPct val="100000"/>
              </a:lnSpc>
              <a:spcAft>
                <a:spcPts val="0"/>
              </a:spcAft>
            </a:pPr>
            <a:r>
              <a:rPr sz="950" b="0" i="0">
                <a:solidFill>
                  <a:srgbClr val="5A6672"/>
                </a:solidFill>
                <a:latin typeface="Calibri" panose="020F0502020204030204"/>
              </a:rPr>
              <a:t>Tagihan dikirim</a:t>
            </a:r>
            <a:endParaRPr sz="950" b="0" i="0">
              <a:solidFill>
                <a:srgbClr val="5A6672"/>
              </a:solidFill>
              <a:latin typeface="Calibri" panose="020F0502020204030204"/>
            </a:endParaRPr>
          </a:p>
        </p:txBody>
      </p:sp>
      <p:cxnSp>
        <p:nvCxnSpPr>
          <p:cNvPr id="10" name="Connector 9"/>
          <p:cNvCxnSpPr/>
          <p:nvPr/>
        </p:nvCxnSpPr>
        <p:spPr>
          <a:xfrm>
            <a:off x="1152144" y="2350008"/>
            <a:ext cx="292608" cy="0"/>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444752" y="2057400"/>
            <a:ext cx="1783080" cy="585216"/>
          </a:xfrm>
          <a:prstGeom prst="roundRect">
            <a:avLst>
              <a:gd name="adj" fmla="val 13000"/>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12000"/>
              </a:lnSpc>
            </a:pPr>
            <a:r>
              <a:rPr sz="1050" b="0">
                <a:solidFill>
                  <a:srgbClr val="1B2733"/>
                </a:solidFill>
                <a:latin typeface="Calibri" panose="020F0502020204030204"/>
              </a:rPr>
              <a:t>Mengirim dokumen tagihan</a:t>
            </a:r>
            <a:endParaRPr sz="1050" b="0">
              <a:solidFill>
                <a:srgbClr val="1B2733"/>
              </a:solidFill>
              <a:latin typeface="Calibri" panose="020F0502020204030204"/>
            </a:endParaRPr>
          </a:p>
        </p:txBody>
      </p:sp>
      <p:cxnSp>
        <p:nvCxnSpPr>
          <p:cNvPr id="12" name="Connector 11"/>
          <p:cNvCxnSpPr/>
          <p:nvPr/>
        </p:nvCxnSpPr>
        <p:spPr>
          <a:xfrm>
            <a:off x="3227832" y="2350008"/>
            <a:ext cx="292608" cy="0"/>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20440" y="2057400"/>
            <a:ext cx="1783080" cy="585216"/>
          </a:xfrm>
          <a:prstGeom prst="roundRect">
            <a:avLst>
              <a:gd name="adj" fmla="val 13000"/>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12000"/>
              </a:lnSpc>
            </a:pPr>
            <a:r>
              <a:rPr sz="1050" b="0">
                <a:solidFill>
                  <a:srgbClr val="1B2733"/>
                </a:solidFill>
                <a:latin typeface="Calibri" panose="020F0502020204030204"/>
              </a:rPr>
              <a:t>Memverifikasi dokumen tagihan</a:t>
            </a:r>
            <a:endParaRPr sz="1050" b="0">
              <a:solidFill>
                <a:srgbClr val="1B2733"/>
              </a:solidFill>
              <a:latin typeface="Calibri" panose="020F0502020204030204"/>
            </a:endParaRPr>
          </a:p>
        </p:txBody>
      </p:sp>
      <p:cxnSp>
        <p:nvCxnSpPr>
          <p:cNvPr id="14" name="Connector 13"/>
          <p:cNvCxnSpPr/>
          <p:nvPr/>
        </p:nvCxnSpPr>
        <p:spPr>
          <a:xfrm>
            <a:off x="5303520" y="2350008"/>
            <a:ext cx="256032" cy="0"/>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Diamond 14"/>
          <p:cNvSpPr/>
          <p:nvPr/>
        </p:nvSpPr>
        <p:spPr>
          <a:xfrm>
            <a:off x="5559552" y="2002536"/>
            <a:ext cx="694944" cy="694944"/>
          </a:xfrm>
          <a:prstGeom prst="diamond">
            <a:avLst/>
          </a:prstGeom>
          <a:solidFill>
            <a:srgbClr val="FFFFFF"/>
          </a:solidFill>
          <a:ln w="15875">
            <a:solidFill>
              <a:srgbClr val="C97A0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C97A0A"/>
                </a:solidFill>
                <a:latin typeface="Calibri" panose="020F0502020204030204"/>
              </a:rPr>
              <a:t>×</a:t>
            </a:r>
            <a:endParaRPr sz="1500" b="1">
              <a:solidFill>
                <a:srgbClr val="C97A0A"/>
              </a:solidFill>
              <a:latin typeface="Calibri" panose="020F0502020204030204"/>
            </a:endParaRPr>
          </a:p>
        </p:txBody>
      </p:sp>
      <p:sp>
        <p:nvSpPr>
          <p:cNvPr id="16" name="TextBox 15"/>
          <p:cNvSpPr txBox="1"/>
          <p:nvPr/>
        </p:nvSpPr>
        <p:spPr>
          <a:xfrm>
            <a:off x="4946904" y="1709928"/>
            <a:ext cx="1920240" cy="237744"/>
          </a:xfrm>
          <a:prstGeom prst="rect">
            <a:avLst/>
          </a:prstGeom>
          <a:noFill/>
        </p:spPr>
        <p:txBody>
          <a:bodyPr wrap="square" lIns="0" tIns="0" rIns="0" bIns="0" anchor="t">
            <a:spAutoFit/>
          </a:bodyPr>
          <a:lstStyle/>
          <a:p>
            <a:pPr algn="ctr">
              <a:lnSpc>
                <a:spcPct val="100000"/>
              </a:lnSpc>
              <a:spcAft>
                <a:spcPts val="0"/>
              </a:spcAft>
            </a:pPr>
            <a:r>
              <a:rPr sz="950" b="0" i="0">
                <a:solidFill>
                  <a:srgbClr val="1B2733"/>
                </a:solidFill>
                <a:latin typeface="Calibri" panose="020F0502020204030204"/>
              </a:rPr>
              <a:t>Lengkap dan sesuai?</a:t>
            </a:r>
            <a:endParaRPr sz="950" b="0" i="0">
              <a:solidFill>
                <a:srgbClr val="1B2733"/>
              </a:solidFill>
              <a:latin typeface="Calibri" panose="020F0502020204030204"/>
            </a:endParaRPr>
          </a:p>
        </p:txBody>
      </p:sp>
      <p:cxnSp>
        <p:nvCxnSpPr>
          <p:cNvPr id="17" name="Connector 16"/>
          <p:cNvCxnSpPr/>
          <p:nvPr/>
        </p:nvCxnSpPr>
        <p:spPr>
          <a:xfrm>
            <a:off x="6254496" y="2350008"/>
            <a:ext cx="329184" cy="0"/>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54496" y="2093976"/>
            <a:ext cx="365760" cy="237744"/>
          </a:xfrm>
          <a:prstGeom prst="rect">
            <a:avLst/>
          </a:prstGeom>
          <a:noFill/>
        </p:spPr>
        <p:txBody>
          <a:bodyPr wrap="square" lIns="0" tIns="0" rIns="0" bIns="0" anchor="t">
            <a:spAutoFit/>
          </a:bodyPr>
          <a:lstStyle/>
          <a:p>
            <a:pPr algn="ctr">
              <a:lnSpc>
                <a:spcPct val="100000"/>
              </a:lnSpc>
              <a:spcAft>
                <a:spcPts val="0"/>
              </a:spcAft>
            </a:pPr>
            <a:r>
              <a:rPr sz="900" b="0" i="0">
                <a:solidFill>
                  <a:srgbClr val="1B2733"/>
                </a:solidFill>
                <a:latin typeface="Calibri" panose="020F0502020204030204"/>
              </a:rPr>
              <a:t>ya</a:t>
            </a:r>
            <a:endParaRPr sz="900" b="0" i="0">
              <a:solidFill>
                <a:srgbClr val="1B2733"/>
              </a:solidFill>
              <a:latin typeface="Calibri" panose="020F0502020204030204"/>
            </a:endParaRPr>
          </a:p>
        </p:txBody>
      </p:sp>
      <p:sp>
        <p:nvSpPr>
          <p:cNvPr id="19" name="Rounded Rectangle 18"/>
          <p:cNvSpPr/>
          <p:nvPr/>
        </p:nvSpPr>
        <p:spPr>
          <a:xfrm>
            <a:off x="6583680" y="2057400"/>
            <a:ext cx="1691640" cy="585216"/>
          </a:xfrm>
          <a:prstGeom prst="roundRect">
            <a:avLst>
              <a:gd name="adj" fmla="val 13000"/>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lnSpc>
                <a:spcPct val="112000"/>
              </a:lnSpc>
            </a:pPr>
            <a:r>
              <a:rPr sz="1050" b="0">
                <a:solidFill>
                  <a:srgbClr val="1B2733"/>
                </a:solidFill>
                <a:latin typeface="Calibri" panose="020F0502020204030204"/>
              </a:rPr>
              <a:t>Meneruskan untuk pembayaran</a:t>
            </a:r>
            <a:endParaRPr sz="1050" b="0">
              <a:solidFill>
                <a:srgbClr val="1B2733"/>
              </a:solidFill>
              <a:latin typeface="Calibri" panose="020F0502020204030204"/>
            </a:endParaRPr>
          </a:p>
        </p:txBody>
      </p:sp>
      <p:cxnSp>
        <p:nvCxnSpPr>
          <p:cNvPr id="20" name="Connector 19"/>
          <p:cNvCxnSpPr/>
          <p:nvPr/>
        </p:nvCxnSpPr>
        <p:spPr>
          <a:xfrm>
            <a:off x="8275320" y="2350008"/>
            <a:ext cx="256032" cy="0"/>
          </a:xfrm>
          <a:prstGeom prst="line">
            <a:avLst/>
          </a:prstGeom>
          <a:ln w="19050">
            <a:solidFill>
              <a:srgbClr val="1B27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8531352" y="2148840"/>
            <a:ext cx="402336" cy="402336"/>
          </a:xfrm>
          <a:prstGeom prst="ellipse">
            <a:avLst/>
          </a:prstGeom>
          <a:solidFill>
            <a:srgbClr val="FFFFFF"/>
          </a:solidFill>
          <a:ln w="38100">
            <a:solidFill>
              <a:srgbClr val="1B27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0" y="2615184"/>
            <a:ext cx="1371600" cy="237744"/>
          </a:xfrm>
          <a:prstGeom prst="rect">
            <a:avLst/>
          </a:prstGeom>
          <a:noFill/>
        </p:spPr>
        <p:txBody>
          <a:bodyPr wrap="square" lIns="0" tIns="0" rIns="0" bIns="0" anchor="t">
            <a:spAutoFit/>
          </a:bodyPr>
          <a:lstStyle/>
          <a:p>
            <a:pPr algn="ctr">
              <a:lnSpc>
                <a:spcPct val="100000"/>
              </a:lnSpc>
              <a:spcAft>
                <a:spcPts val="0"/>
              </a:spcAft>
            </a:pPr>
            <a:r>
              <a:rPr sz="950" b="0" i="0">
                <a:solidFill>
                  <a:srgbClr val="5A6672"/>
                </a:solidFill>
                <a:latin typeface="Calibri" panose="020F0502020204030204"/>
              </a:rPr>
              <a:t>Klaim selesai</a:t>
            </a:r>
            <a:endParaRPr sz="950" b="0" i="0">
              <a:solidFill>
                <a:srgbClr val="5A6672"/>
              </a:solidFill>
              <a:latin typeface="Calibri" panose="020F0502020204030204"/>
            </a:endParaRPr>
          </a:p>
        </p:txBody>
      </p:sp>
      <p:cxnSp>
        <p:nvCxnSpPr>
          <p:cNvPr id="23" name="Connector 22"/>
          <p:cNvCxnSpPr/>
          <p:nvPr/>
        </p:nvCxnSpPr>
        <p:spPr>
          <a:xfrm>
            <a:off x="5907024" y="2697480"/>
            <a:ext cx="0" cy="704088"/>
          </a:xfrm>
          <a:prstGeom prst="line">
            <a:avLst/>
          </a:prstGeom>
          <a:ln w="22225">
            <a:solidFill>
              <a:srgbClr val="C97A0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340864" y="3401568"/>
            <a:ext cx="3566160" cy="0"/>
          </a:xfrm>
          <a:prstGeom prst="line">
            <a:avLst/>
          </a:prstGeom>
          <a:ln w="22225">
            <a:solidFill>
              <a:srgbClr val="C97A0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340864" y="2642616"/>
            <a:ext cx="0" cy="758952"/>
          </a:xfrm>
          <a:prstGeom prst="line">
            <a:avLst/>
          </a:prstGeom>
          <a:ln w="22225">
            <a:solidFill>
              <a:srgbClr val="C97A0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61888" y="2807208"/>
            <a:ext cx="685800" cy="237744"/>
          </a:xfrm>
          <a:prstGeom prst="rect">
            <a:avLst/>
          </a:prstGeom>
          <a:noFill/>
        </p:spPr>
        <p:txBody>
          <a:bodyPr wrap="square" lIns="0" tIns="0" rIns="0" bIns="0" anchor="t">
            <a:spAutoFit/>
          </a:bodyPr>
          <a:lstStyle/>
          <a:p>
            <a:pPr algn="l">
              <a:lnSpc>
                <a:spcPct val="100000"/>
              </a:lnSpc>
              <a:spcAft>
                <a:spcPts val="0"/>
              </a:spcAft>
            </a:pPr>
            <a:r>
              <a:rPr sz="900" b="0" i="0">
                <a:solidFill>
                  <a:srgbClr val="C97A0A"/>
                </a:solidFill>
                <a:latin typeface="Calibri" panose="020F0502020204030204"/>
              </a:rPr>
              <a:t>tidak</a:t>
            </a:r>
            <a:endParaRPr sz="900" b="0" i="0">
              <a:solidFill>
                <a:srgbClr val="C97A0A"/>
              </a:solidFill>
              <a:latin typeface="Calibri" panose="020F0502020204030204"/>
            </a:endParaRPr>
          </a:p>
        </p:txBody>
      </p:sp>
      <p:sp>
        <p:nvSpPr>
          <p:cNvPr id="27" name="Rounded Rectangle 26"/>
          <p:cNvSpPr/>
          <p:nvPr/>
        </p:nvSpPr>
        <p:spPr>
          <a:xfrm>
            <a:off x="2679192" y="3182112"/>
            <a:ext cx="2651760" cy="402336"/>
          </a:xfrm>
          <a:prstGeom prst="roundRect">
            <a:avLst/>
          </a:prstGeom>
          <a:solidFill>
            <a:srgbClr val="FAF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70632" y="3273552"/>
            <a:ext cx="2468880" cy="274320"/>
          </a:xfrm>
          <a:prstGeom prst="rect">
            <a:avLst/>
          </a:prstGeom>
          <a:noFill/>
        </p:spPr>
        <p:txBody>
          <a:bodyPr wrap="square" lIns="0" tIns="0" rIns="0" bIns="0" anchor="t">
            <a:spAutoFit/>
          </a:bodyPr>
          <a:lstStyle/>
          <a:p>
            <a:pPr algn="ctr">
              <a:lnSpc>
                <a:spcPct val="100000"/>
              </a:lnSpc>
              <a:spcAft>
                <a:spcPts val="0"/>
              </a:spcAft>
            </a:pPr>
            <a:r>
              <a:rPr sz="1050" b="1" i="0">
                <a:solidFill>
                  <a:srgbClr val="9E6514"/>
                </a:solidFill>
                <a:latin typeface="Calibri" panose="020F0502020204030204"/>
              </a:rPr>
              <a:t>Dikembalikan untuk dilengkapi</a:t>
            </a:r>
            <a:endParaRPr sz="1050" b="1" i="0">
              <a:solidFill>
                <a:srgbClr val="9E6514"/>
              </a:solidFill>
              <a:latin typeface="Calibri" panose="020F0502020204030204"/>
            </a:endParaRPr>
          </a:p>
        </p:txBody>
      </p:sp>
      <p:sp>
        <p:nvSpPr>
          <p:cNvPr id="29" name="TextBox 28"/>
          <p:cNvSpPr txBox="1"/>
          <p:nvPr/>
        </p:nvSpPr>
        <p:spPr>
          <a:xfrm>
            <a:off x="658368" y="4983480"/>
            <a:ext cx="10875264" cy="237744"/>
          </a:xfrm>
          <a:prstGeom prst="rect">
            <a:avLst/>
          </a:prstGeom>
          <a:noFill/>
        </p:spPr>
        <p:txBody>
          <a:bodyPr wrap="square" lIns="0" tIns="0" rIns="0" bIns="0" anchor="t">
            <a:spAutoFit/>
          </a:bodyPr>
          <a:lstStyle/>
          <a:p>
            <a:pPr algn="l">
              <a:lnSpc>
                <a:spcPct val="100000"/>
              </a:lnSpc>
              <a:spcAft>
                <a:spcPts val="0"/>
              </a:spcAft>
            </a:pPr>
            <a:r>
              <a:rPr sz="1050" b="0" i="1">
                <a:solidFill>
                  <a:srgbClr val="5A6672"/>
                </a:solidFill>
                <a:latin typeface="Calibri" panose="020F0502020204030204"/>
              </a:rPr>
              <a:t>Di kasus nanti: bolak balik dua sampai tiga kali. Paling sering Foto Epoxy kurang, atau estimasi tidak cocok dengan yang dikerjakan.</a:t>
            </a:r>
            <a:endParaRPr sz="1050" b="0" i="1">
              <a:solidFill>
                <a:srgbClr val="5A6672"/>
              </a:solidFill>
              <a:latin typeface="Calibri" panose="020F050202020403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TINGKAT KERINCIAN</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Tiga tingkat kerincian</a:t>
            </a:r>
            <a:endParaRPr sz="3000" b="1" i="0">
              <a:solidFill>
                <a:srgbClr val="1B2733"/>
              </a:solidFill>
              <a:latin typeface="Calibri" panose="020F0502020204030204"/>
            </a:endParaRPr>
          </a:p>
        </p:txBody>
      </p:sp>
      <p:sp>
        <p:nvSpPr>
          <p:cNvPr id="4" name="Rounded Rectangle 3"/>
          <p:cNvSpPr/>
          <p:nvPr/>
        </p:nvSpPr>
        <p:spPr>
          <a:xfrm>
            <a:off x="9019032" y="438912"/>
            <a:ext cx="2514600" cy="274320"/>
          </a:xfrm>
          <a:prstGeom prst="roundRect">
            <a:avLst/>
          </a:prstGeom>
          <a:solidFill>
            <a:srgbClr val="FFF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19032" y="484632"/>
            <a:ext cx="2514600" cy="237744"/>
          </a:xfrm>
          <a:prstGeom prst="rect">
            <a:avLst/>
          </a:prstGeom>
          <a:noFill/>
        </p:spPr>
        <p:txBody>
          <a:bodyPr wrap="square" lIns="0" tIns="0" rIns="0" bIns="0" anchor="t">
            <a:spAutoFit/>
          </a:bodyPr>
          <a:lstStyle/>
          <a:p>
            <a:pPr algn="ctr">
              <a:lnSpc>
                <a:spcPct val="100000"/>
              </a:lnSpc>
              <a:spcAft>
                <a:spcPts val="0"/>
              </a:spcAft>
            </a:pPr>
            <a:r>
              <a:rPr sz="950" b="1" i="0">
                <a:solidFill>
                  <a:srgbClr val="C97A0A"/>
                </a:solidFill>
                <a:latin typeface="Calibri" panose="020F0502020204030204"/>
              </a:rPr>
              <a:t>Boleh dipangkas kalau waktu mepet</a:t>
            </a:r>
            <a:endParaRPr sz="950" b="1" i="0">
              <a:solidFill>
                <a:srgbClr val="C97A0A"/>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21</a:t>
            </a:r>
            <a:endParaRPr sz="850" b="0" i="0">
              <a:solidFill>
                <a:srgbClr val="8A96A3"/>
              </a:solidFill>
              <a:latin typeface="Calibri" panose="020F0502020204030204"/>
            </a:endParaRPr>
          </a:p>
        </p:txBody>
      </p:sp>
      <p:graphicFrame>
        <p:nvGraphicFramePr>
          <p:cNvPr id="8" name="Table 7"/>
          <p:cNvGraphicFramePr>
            <a:graphicFrameLocks noGrp="1"/>
          </p:cNvGraphicFramePr>
          <p:nvPr/>
        </p:nvGraphicFramePr>
        <p:xfrm>
          <a:off x="658368" y="2519172"/>
          <a:ext cx="10875262" cy="2450592"/>
        </p:xfrm>
        <a:graphic>
          <a:graphicData uri="http://schemas.openxmlformats.org/drawingml/2006/table">
            <a:tbl>
              <a:tblPr>
                <a:tableStyleId>{5C22544A-7EE6-4342-B048-85BDC9FD1C3A}</a:tableStyleId>
              </a:tblPr>
              <a:tblGrid>
                <a:gridCol w="2524614"/>
                <a:gridCol w="3884022"/>
                <a:gridCol w="4466626"/>
              </a:tblGrid>
              <a:tr h="475488">
                <a:tc>
                  <a:txBody>
                    <a:bodyPr wrap="square"/>
                    <a:lstStyle/>
                    <a:p>
                      <a:pPr algn="l">
                        <a:lnSpc>
                          <a:spcPct val="118000"/>
                        </a:lnSpc>
                      </a:pPr>
                      <a:r>
                        <a:rPr sz="1350" b="1">
                          <a:solidFill>
                            <a:srgbClr val="FFFFFF"/>
                          </a:solidFill>
                          <a:latin typeface="Calibri" panose="020F0502020204030204"/>
                        </a:rPr>
                        <a:t>Tingkat</a:t>
                      </a:r>
                      <a:endParaRPr sz="1350" b="1">
                        <a:solidFill>
                          <a:srgbClr val="FFFFFF"/>
                        </a:solidFill>
                        <a:latin typeface="Calibri" panose="020F0502020204030204"/>
                      </a:endParaRPr>
                    </a:p>
                  </a:txBody>
                  <a:tcPr marL="128016" marR="128016" marT="64008" marB="64008" anchor="ctr">
                    <a:solidFill>
                      <a:srgbClr val="0E7C86"/>
                    </a:solidFill>
                  </a:tcPr>
                </a:tc>
                <a:tc>
                  <a:txBody>
                    <a:bodyPr wrap="square"/>
                    <a:lstStyle/>
                    <a:p>
                      <a:pPr algn="l">
                        <a:lnSpc>
                          <a:spcPct val="118000"/>
                        </a:lnSpc>
                      </a:pPr>
                      <a:r>
                        <a:rPr sz="1350" b="1">
                          <a:solidFill>
                            <a:srgbClr val="FFFFFF"/>
                          </a:solidFill>
                          <a:latin typeface="Calibri" panose="020F0502020204030204"/>
                        </a:rPr>
                        <a:t>Buat siapa</a:t>
                      </a:r>
                      <a:endParaRPr sz="1350" b="1">
                        <a:solidFill>
                          <a:srgbClr val="FFFFFF"/>
                        </a:solidFill>
                        <a:latin typeface="Calibri" panose="020F0502020204030204"/>
                      </a:endParaRPr>
                    </a:p>
                  </a:txBody>
                  <a:tcPr marL="128016" marR="128016" marT="64008" marB="64008" anchor="ctr">
                    <a:solidFill>
                      <a:srgbClr val="0E7C86"/>
                    </a:solidFill>
                  </a:tcPr>
                </a:tc>
                <a:tc>
                  <a:txBody>
                    <a:bodyPr wrap="square"/>
                    <a:lstStyle/>
                    <a:p>
                      <a:pPr algn="l">
                        <a:lnSpc>
                          <a:spcPct val="118000"/>
                        </a:lnSpc>
                      </a:pPr>
                      <a:r>
                        <a:rPr sz="1350" b="1">
                          <a:solidFill>
                            <a:srgbClr val="FFFFFF"/>
                          </a:solidFill>
                          <a:latin typeface="Calibri" panose="020F0502020204030204"/>
                        </a:rPr>
                        <a:t>Isinya</a:t>
                      </a:r>
                      <a:endParaRPr sz="1350" b="1">
                        <a:solidFill>
                          <a:srgbClr val="FFFFFF"/>
                        </a:solidFill>
                        <a:latin typeface="Calibri" panose="020F0502020204030204"/>
                      </a:endParaRPr>
                    </a:p>
                  </a:txBody>
                  <a:tcPr marL="128016" marR="128016" marT="64008" marB="64008" anchor="ctr">
                    <a:solidFill>
                      <a:srgbClr val="0E7C86"/>
                    </a:solidFill>
                  </a:tcPr>
                </a:tc>
              </a:tr>
              <a:tr h="658368">
                <a:tc>
                  <a:txBody>
                    <a:bodyPr wrap="square"/>
                    <a:lstStyle/>
                    <a:p>
                      <a:pPr algn="l">
                        <a:lnSpc>
                          <a:spcPct val="118000"/>
                        </a:lnSpc>
                      </a:pPr>
                      <a:r>
                        <a:rPr sz="1300" b="1">
                          <a:solidFill>
                            <a:srgbClr val="1B2733"/>
                          </a:solidFill>
                          <a:latin typeface="Calibri" panose="020F0502020204030204"/>
                        </a:rPr>
                        <a:t>Descriptive</a:t>
                      </a:r>
                      <a:endParaRPr sz="1300" b="1">
                        <a:solidFill>
                          <a:srgbClr val="1B2733"/>
                        </a:solidFill>
                        <a:latin typeface="Calibri" panose="020F0502020204030204"/>
                      </a:endParaRPr>
                    </a:p>
                  </a:txBody>
                  <a:tcPr marL="128016" marR="128016" marT="64008" marB="64008" anchor="ctr">
                    <a:solidFill>
                      <a:srgbClr val="FFFFFF"/>
                    </a:solidFill>
                  </a:tcPr>
                </a:tc>
                <a:tc>
                  <a:txBody>
                    <a:bodyPr wrap="square"/>
                    <a:lstStyle/>
                    <a:p>
                      <a:pPr algn="l">
                        <a:lnSpc>
                          <a:spcPct val="118000"/>
                        </a:lnSpc>
                      </a:pPr>
                      <a:r>
                        <a:rPr sz="1300" b="0">
                          <a:solidFill>
                            <a:srgbClr val="1B2733"/>
                          </a:solidFill>
                          <a:latin typeface="Calibri" panose="020F0502020204030204"/>
                        </a:rPr>
                        <a:t>Manajemen dan pemilik proses</a:t>
                      </a:r>
                      <a:endParaRPr sz="1300" b="0">
                        <a:solidFill>
                          <a:srgbClr val="1B2733"/>
                        </a:solidFill>
                        <a:latin typeface="Calibri" panose="020F0502020204030204"/>
                      </a:endParaRPr>
                    </a:p>
                  </a:txBody>
                  <a:tcPr marL="128016" marR="128016" marT="64008" marB="64008" anchor="ctr">
                    <a:solidFill>
                      <a:srgbClr val="FFFFFF"/>
                    </a:solidFill>
                  </a:tcPr>
                </a:tc>
                <a:tc>
                  <a:txBody>
                    <a:bodyPr wrap="square"/>
                    <a:lstStyle/>
                    <a:p>
                      <a:pPr algn="l">
                        <a:lnSpc>
                          <a:spcPct val="118000"/>
                        </a:lnSpc>
                      </a:pPr>
                      <a:r>
                        <a:rPr sz="1300" b="0">
                          <a:solidFill>
                            <a:srgbClr val="1B2733"/>
                          </a:solidFill>
                          <a:latin typeface="Calibri" panose="020F0502020204030204"/>
                        </a:rPr>
                        <a:t>Alur besar, 10 sampai 15 aktivitas</a:t>
                      </a:r>
                      <a:endParaRPr sz="1300" b="0">
                        <a:solidFill>
                          <a:srgbClr val="1B2733"/>
                        </a:solidFill>
                        <a:latin typeface="Calibri" panose="020F0502020204030204"/>
                      </a:endParaRPr>
                    </a:p>
                  </a:txBody>
                  <a:tcPr marL="128016" marR="128016" marT="64008" marB="64008" anchor="ctr">
                    <a:solidFill>
                      <a:srgbClr val="FFFFFF"/>
                    </a:solidFill>
                  </a:tcPr>
                </a:tc>
              </a:tr>
              <a:tr h="658368">
                <a:tc>
                  <a:txBody>
                    <a:bodyPr wrap="square"/>
                    <a:lstStyle/>
                    <a:p>
                      <a:pPr algn="l">
                        <a:lnSpc>
                          <a:spcPct val="118000"/>
                        </a:lnSpc>
                      </a:pPr>
                      <a:r>
                        <a:rPr sz="1300" b="1">
                          <a:solidFill>
                            <a:srgbClr val="1B2733"/>
                          </a:solidFill>
                          <a:latin typeface="Calibri" panose="020F0502020204030204"/>
                        </a:rPr>
                        <a:t>Analytical</a:t>
                      </a:r>
                      <a:endParaRPr sz="1300" b="1">
                        <a:solidFill>
                          <a:srgbClr val="1B2733"/>
                        </a:solidFill>
                        <a:latin typeface="Calibri" panose="020F0502020204030204"/>
                      </a:endParaRPr>
                    </a:p>
                  </a:txBody>
                  <a:tcPr marL="128016" marR="128016" marT="64008" marB="64008" anchor="ctr">
                    <a:solidFill>
                      <a:srgbClr val="F4F9FA"/>
                    </a:solidFill>
                  </a:tcPr>
                </a:tc>
                <a:tc>
                  <a:txBody>
                    <a:bodyPr wrap="square"/>
                    <a:lstStyle/>
                    <a:p>
                      <a:pPr algn="l">
                        <a:lnSpc>
                          <a:spcPct val="118000"/>
                        </a:lnSpc>
                      </a:pPr>
                      <a:r>
                        <a:rPr sz="1300" b="0">
                          <a:solidFill>
                            <a:srgbClr val="1B2733"/>
                          </a:solidFill>
                          <a:latin typeface="Calibri" panose="020F0502020204030204"/>
                        </a:rPr>
                        <a:t>Analis dan tim perbaikan</a:t>
                      </a:r>
                      <a:endParaRPr sz="1300" b="0">
                        <a:solidFill>
                          <a:srgbClr val="1B2733"/>
                        </a:solidFill>
                        <a:latin typeface="Calibri" panose="020F0502020204030204"/>
                      </a:endParaRPr>
                    </a:p>
                  </a:txBody>
                  <a:tcPr marL="128016" marR="128016" marT="64008" marB="64008" anchor="ctr">
                    <a:solidFill>
                      <a:srgbClr val="F4F9FA"/>
                    </a:solidFill>
                  </a:tcPr>
                </a:tc>
                <a:tc>
                  <a:txBody>
                    <a:bodyPr wrap="square"/>
                    <a:lstStyle/>
                    <a:p>
                      <a:pPr algn="l">
                        <a:lnSpc>
                          <a:spcPct val="118000"/>
                        </a:lnSpc>
                      </a:pPr>
                      <a:r>
                        <a:rPr sz="1300" b="0">
                          <a:solidFill>
                            <a:srgbClr val="1B2733"/>
                          </a:solidFill>
                          <a:latin typeface="Calibri" panose="020F0502020204030204"/>
                        </a:rPr>
                        <a:t>Lengkap dengan eksepsi, data, dan titik ukur</a:t>
                      </a:r>
                      <a:endParaRPr sz="1300" b="0">
                        <a:solidFill>
                          <a:srgbClr val="1B2733"/>
                        </a:solidFill>
                        <a:latin typeface="Calibri" panose="020F0502020204030204"/>
                      </a:endParaRPr>
                    </a:p>
                  </a:txBody>
                  <a:tcPr marL="128016" marR="128016" marT="64008" marB="64008" anchor="ctr">
                    <a:solidFill>
                      <a:srgbClr val="F4F9FA"/>
                    </a:solidFill>
                  </a:tcPr>
                </a:tc>
              </a:tr>
              <a:tr h="658368">
                <a:tc>
                  <a:txBody>
                    <a:bodyPr wrap="square"/>
                    <a:lstStyle/>
                    <a:p>
                      <a:pPr algn="l">
                        <a:lnSpc>
                          <a:spcPct val="118000"/>
                        </a:lnSpc>
                      </a:pPr>
                      <a:r>
                        <a:rPr sz="1300" b="1">
                          <a:solidFill>
                            <a:srgbClr val="1B2733"/>
                          </a:solidFill>
                          <a:latin typeface="Calibri" panose="020F0502020204030204"/>
                        </a:rPr>
                        <a:t>Executable</a:t>
                      </a:r>
                      <a:endParaRPr sz="1300" b="1">
                        <a:solidFill>
                          <a:srgbClr val="1B2733"/>
                        </a:solidFill>
                        <a:latin typeface="Calibri" panose="020F0502020204030204"/>
                      </a:endParaRPr>
                    </a:p>
                  </a:txBody>
                  <a:tcPr marL="128016" marR="128016" marT="64008" marB="64008" anchor="ctr">
                    <a:solidFill>
                      <a:srgbClr val="FFFFFF"/>
                    </a:solidFill>
                  </a:tcPr>
                </a:tc>
                <a:tc>
                  <a:txBody>
                    <a:bodyPr wrap="square"/>
                    <a:lstStyle/>
                    <a:p>
                      <a:pPr algn="l">
                        <a:lnSpc>
                          <a:spcPct val="118000"/>
                        </a:lnSpc>
                      </a:pPr>
                      <a:r>
                        <a:rPr sz="1300" b="0">
                          <a:solidFill>
                            <a:srgbClr val="1B2733"/>
                          </a:solidFill>
                          <a:latin typeface="Calibri" panose="020F0502020204030204"/>
                        </a:rPr>
                        <a:t>Mesin proses atau agen</a:t>
                      </a:r>
                      <a:endParaRPr sz="1300" b="0">
                        <a:solidFill>
                          <a:srgbClr val="1B2733"/>
                        </a:solidFill>
                        <a:latin typeface="Calibri" panose="020F0502020204030204"/>
                      </a:endParaRPr>
                    </a:p>
                  </a:txBody>
                  <a:tcPr marL="128016" marR="128016" marT="64008" marB="64008" anchor="ctr">
                    <a:solidFill>
                      <a:srgbClr val="FFFFFF"/>
                    </a:solidFill>
                  </a:tcPr>
                </a:tc>
                <a:tc>
                  <a:txBody>
                    <a:bodyPr wrap="square"/>
                    <a:lstStyle/>
                    <a:p>
                      <a:pPr algn="l">
                        <a:lnSpc>
                          <a:spcPct val="118000"/>
                        </a:lnSpc>
                      </a:pPr>
                      <a:r>
                        <a:rPr sz="1300" b="0">
                          <a:solidFill>
                            <a:srgbClr val="1B2733"/>
                          </a:solidFill>
                          <a:latin typeface="Calibri" panose="020F0502020204030204"/>
                        </a:rPr>
                        <a:t>Detail penuh, siap dieksekusi sistem</a:t>
                      </a:r>
                      <a:endParaRPr sz="1300" b="0">
                        <a:solidFill>
                          <a:srgbClr val="1B2733"/>
                        </a:solidFill>
                        <a:latin typeface="Calibri" panose="020F0502020204030204"/>
                      </a:endParaRPr>
                    </a:p>
                  </a:txBody>
                  <a:tcPr marL="128016" marR="128016" marT="64008" marB="64008" anchor="ctr">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RINGKASAN MODUL 2</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Enam kesalahan yang paling sering</a:t>
            </a:r>
            <a:endParaRPr sz="3000" b="1" i="0">
              <a:solidFill>
                <a:srgbClr val="1B2733"/>
              </a:solidFill>
              <a:latin typeface="Calibri" panose="020F0502020204030204"/>
            </a:endParaRP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tIns="0" rIns="0" bIns="0" anchor="t">
            <a:spAutoFit/>
          </a:bodyPr>
          <a:lstStyle/>
          <a:p>
            <a:pPr algn="l">
              <a:lnSpc>
                <a:spcPct val="118000"/>
              </a:lnSpc>
              <a:spcAft>
                <a:spcPts val="0"/>
              </a:spcAft>
            </a:pPr>
            <a:r>
              <a:rPr sz="1350" b="1" i="0">
                <a:solidFill>
                  <a:srgbClr val="1B2733"/>
                </a:solidFill>
                <a:latin typeface="Calibri" panose="020F0502020204030204"/>
              </a:rPr>
              <a:t>Kesalahan nomor 6 yang paling mahal, dan paling susah ketahuan.</a:t>
            </a:r>
            <a:endParaRPr sz="1350" b="1" i="0">
              <a:solidFill>
                <a:srgbClr val="1B2733"/>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22</a:t>
            </a:r>
            <a:endParaRPr sz="850" b="0" i="0">
              <a:solidFill>
                <a:srgbClr val="8A96A3"/>
              </a:solidFill>
              <a:latin typeface="Calibri" panose="020F0502020204030204"/>
            </a:endParaRPr>
          </a:p>
        </p:txBody>
      </p:sp>
      <p:sp>
        <p:nvSpPr>
          <p:cNvPr id="8" name="Oval 7"/>
          <p:cNvSpPr/>
          <p:nvPr/>
        </p:nvSpPr>
        <p:spPr>
          <a:xfrm>
            <a:off x="658368" y="1597914"/>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652778"/>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1</a:t>
            </a:r>
            <a:endParaRPr sz="1200" b="1" i="0">
              <a:solidFill>
                <a:srgbClr val="FFFFFF"/>
              </a:solidFill>
              <a:latin typeface="Calibri" panose="020F0502020204030204"/>
            </a:endParaRPr>
          </a:p>
        </p:txBody>
      </p:sp>
      <p:sp>
        <p:nvSpPr>
          <p:cNvPr id="10" name="TextBox 9"/>
          <p:cNvSpPr txBox="1"/>
          <p:nvPr/>
        </p:nvSpPr>
        <p:spPr>
          <a:xfrm>
            <a:off x="1225295" y="1579626"/>
            <a:ext cx="10308336" cy="420623"/>
          </a:xfrm>
          <a:prstGeom prst="rect">
            <a:avLst/>
          </a:prstGeom>
          <a:noFill/>
        </p:spPr>
        <p:txBody>
          <a:bodyPr wrap="square" lIns="0" tIns="0" rIns="0" bIns="0" anchor="t">
            <a:spAutoFit/>
          </a:bodyPr>
          <a:lstStyle/>
          <a:p>
            <a:pPr algn="l">
              <a:lnSpc>
                <a:spcPct val="130000"/>
              </a:lnSpc>
              <a:spcAft>
                <a:spcPts val="0"/>
              </a:spcAft>
            </a:pPr>
            <a:r>
              <a:rPr sz="1350" b="0" i="0">
                <a:solidFill>
                  <a:srgbClr val="1B2733"/>
                </a:solidFill>
                <a:latin typeface="Calibri" panose="020F0502020204030204"/>
              </a:rPr>
              <a:t>Cuma menggambar happy path.</a:t>
            </a:r>
            <a:endParaRPr sz="1350" b="0" i="0">
              <a:solidFill>
                <a:srgbClr val="1B2733"/>
              </a:solidFill>
              <a:latin typeface="Calibri" panose="020F0502020204030204"/>
            </a:endParaRPr>
          </a:p>
        </p:txBody>
      </p:sp>
      <p:sp>
        <p:nvSpPr>
          <p:cNvPr id="11" name="Oval 10"/>
          <p:cNvSpPr/>
          <p:nvPr/>
        </p:nvSpPr>
        <p:spPr>
          <a:xfrm>
            <a:off x="658368" y="2215134"/>
            <a:ext cx="365760" cy="36576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269998"/>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2</a:t>
            </a:r>
            <a:endParaRPr sz="1200" b="1" i="0">
              <a:solidFill>
                <a:srgbClr val="FFFFFF"/>
              </a:solidFill>
              <a:latin typeface="Calibri" panose="020F0502020204030204"/>
            </a:endParaRPr>
          </a:p>
        </p:txBody>
      </p:sp>
      <p:sp>
        <p:nvSpPr>
          <p:cNvPr id="13" name="TextBox 12"/>
          <p:cNvSpPr txBox="1"/>
          <p:nvPr/>
        </p:nvSpPr>
        <p:spPr>
          <a:xfrm>
            <a:off x="1225295" y="2196846"/>
            <a:ext cx="10308336" cy="420623"/>
          </a:xfrm>
          <a:prstGeom prst="rect">
            <a:avLst/>
          </a:prstGeom>
          <a:noFill/>
        </p:spPr>
        <p:txBody>
          <a:bodyPr wrap="square" lIns="0" tIns="0" rIns="0" bIns="0" anchor="t">
            <a:spAutoFit/>
          </a:bodyPr>
          <a:lstStyle/>
          <a:p>
            <a:pPr algn="l">
              <a:lnSpc>
                <a:spcPct val="130000"/>
              </a:lnSpc>
              <a:spcAft>
                <a:spcPts val="0"/>
              </a:spcAft>
            </a:pPr>
            <a:r>
              <a:rPr sz="1350" b="0" i="0">
                <a:solidFill>
                  <a:srgbClr val="1B2733"/>
                </a:solidFill>
                <a:latin typeface="Calibri" panose="020F0502020204030204"/>
              </a:rPr>
              <a:t>Gateway tidak ditutup.</a:t>
            </a:r>
            <a:endParaRPr sz="1350" b="0" i="0">
              <a:solidFill>
                <a:srgbClr val="1B2733"/>
              </a:solidFill>
              <a:latin typeface="Calibri" panose="020F0502020204030204"/>
            </a:endParaRPr>
          </a:p>
        </p:txBody>
      </p:sp>
      <p:sp>
        <p:nvSpPr>
          <p:cNvPr id="14" name="Oval 13"/>
          <p:cNvSpPr/>
          <p:nvPr/>
        </p:nvSpPr>
        <p:spPr>
          <a:xfrm>
            <a:off x="658368" y="2832353"/>
            <a:ext cx="365760" cy="365760"/>
          </a:xfrm>
          <a:prstGeom prst="ellipse">
            <a:avLst/>
          </a:prstGeom>
          <a:solidFill>
            <a:srgbClr val="5B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887218"/>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3</a:t>
            </a:r>
            <a:endParaRPr sz="1200" b="1" i="0">
              <a:solidFill>
                <a:srgbClr val="FFFFFF"/>
              </a:solidFill>
              <a:latin typeface="Calibri" panose="020F0502020204030204"/>
            </a:endParaRPr>
          </a:p>
        </p:txBody>
      </p:sp>
      <p:sp>
        <p:nvSpPr>
          <p:cNvPr id="16" name="TextBox 15"/>
          <p:cNvSpPr txBox="1"/>
          <p:nvPr/>
        </p:nvSpPr>
        <p:spPr>
          <a:xfrm>
            <a:off x="1225295" y="2814065"/>
            <a:ext cx="10308336" cy="420623"/>
          </a:xfrm>
          <a:prstGeom prst="rect">
            <a:avLst/>
          </a:prstGeom>
          <a:noFill/>
        </p:spPr>
        <p:txBody>
          <a:bodyPr wrap="square" lIns="0" tIns="0" rIns="0" bIns="0" anchor="t">
            <a:spAutoFit/>
          </a:bodyPr>
          <a:lstStyle/>
          <a:p>
            <a:pPr algn="l">
              <a:lnSpc>
                <a:spcPct val="130000"/>
              </a:lnSpc>
              <a:spcAft>
                <a:spcPts val="0"/>
              </a:spcAft>
            </a:pPr>
            <a:r>
              <a:rPr sz="1350" b="0" i="0">
                <a:solidFill>
                  <a:srgbClr val="1B2733"/>
                </a:solidFill>
                <a:latin typeface="Calibri" panose="020F0502020204030204"/>
              </a:rPr>
              <a:t>Lane mencampur peran.</a:t>
            </a:r>
            <a:endParaRPr sz="1350" b="0" i="0">
              <a:solidFill>
                <a:srgbClr val="1B2733"/>
              </a:solidFill>
              <a:latin typeface="Calibri" panose="020F0502020204030204"/>
            </a:endParaRPr>
          </a:p>
        </p:txBody>
      </p:sp>
      <p:sp>
        <p:nvSpPr>
          <p:cNvPr id="17" name="Oval 16"/>
          <p:cNvSpPr/>
          <p:nvPr/>
        </p:nvSpPr>
        <p:spPr>
          <a:xfrm>
            <a:off x="658368" y="3449573"/>
            <a:ext cx="365760" cy="365760"/>
          </a:xfrm>
          <a:prstGeom prst="ellipse">
            <a:avLst/>
          </a:prstGeom>
          <a:solidFill>
            <a:srgbClr val="C97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3504437"/>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4</a:t>
            </a:r>
            <a:endParaRPr sz="1200" b="1" i="0">
              <a:solidFill>
                <a:srgbClr val="FFFFFF"/>
              </a:solidFill>
              <a:latin typeface="Calibri" panose="020F0502020204030204"/>
            </a:endParaRPr>
          </a:p>
        </p:txBody>
      </p:sp>
      <p:sp>
        <p:nvSpPr>
          <p:cNvPr id="19" name="TextBox 18"/>
          <p:cNvSpPr txBox="1"/>
          <p:nvPr/>
        </p:nvSpPr>
        <p:spPr>
          <a:xfrm>
            <a:off x="1225295" y="3431285"/>
            <a:ext cx="10308336" cy="420623"/>
          </a:xfrm>
          <a:prstGeom prst="rect">
            <a:avLst/>
          </a:prstGeom>
          <a:noFill/>
        </p:spPr>
        <p:txBody>
          <a:bodyPr wrap="square" lIns="0" tIns="0" rIns="0" bIns="0" anchor="t">
            <a:spAutoFit/>
          </a:bodyPr>
          <a:lstStyle/>
          <a:p>
            <a:pPr algn="l">
              <a:lnSpc>
                <a:spcPct val="130000"/>
              </a:lnSpc>
              <a:spcAft>
                <a:spcPts val="0"/>
              </a:spcAft>
            </a:pPr>
            <a:r>
              <a:rPr sz="1350" b="0" i="0">
                <a:solidFill>
                  <a:srgbClr val="1B2733"/>
                </a:solidFill>
                <a:latin typeface="Calibri" panose="020F0502020204030204"/>
              </a:rPr>
              <a:t>Aktivitas dinamai kata benda.</a:t>
            </a:r>
            <a:endParaRPr sz="1350" b="0" i="0">
              <a:solidFill>
                <a:srgbClr val="1B2733"/>
              </a:solidFill>
              <a:latin typeface="Calibri" panose="020F0502020204030204"/>
            </a:endParaRPr>
          </a:p>
        </p:txBody>
      </p:sp>
      <p:sp>
        <p:nvSpPr>
          <p:cNvPr id="20" name="Oval 19"/>
          <p:cNvSpPr/>
          <p:nvPr/>
        </p:nvSpPr>
        <p:spPr>
          <a:xfrm>
            <a:off x="658368" y="4066793"/>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4121657"/>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5</a:t>
            </a:r>
            <a:endParaRPr sz="1200" b="1" i="0">
              <a:solidFill>
                <a:srgbClr val="FFFFFF"/>
              </a:solidFill>
              <a:latin typeface="Calibri" panose="020F0502020204030204"/>
            </a:endParaRPr>
          </a:p>
        </p:txBody>
      </p:sp>
      <p:sp>
        <p:nvSpPr>
          <p:cNvPr id="22" name="TextBox 21"/>
          <p:cNvSpPr txBox="1"/>
          <p:nvPr/>
        </p:nvSpPr>
        <p:spPr>
          <a:xfrm>
            <a:off x="1225295" y="4048505"/>
            <a:ext cx="10308336" cy="420623"/>
          </a:xfrm>
          <a:prstGeom prst="rect">
            <a:avLst/>
          </a:prstGeom>
          <a:noFill/>
        </p:spPr>
        <p:txBody>
          <a:bodyPr wrap="square" lIns="0" tIns="0" rIns="0" bIns="0" anchor="t">
            <a:spAutoFit/>
          </a:bodyPr>
          <a:lstStyle/>
          <a:p>
            <a:pPr algn="l">
              <a:lnSpc>
                <a:spcPct val="130000"/>
              </a:lnSpc>
              <a:spcAft>
                <a:spcPts val="0"/>
              </a:spcAft>
            </a:pPr>
            <a:r>
              <a:rPr sz="1350" b="0" i="0">
                <a:solidFill>
                  <a:srgbClr val="1B2733"/>
                </a:solidFill>
                <a:latin typeface="Calibri" panose="020F0502020204030204"/>
              </a:rPr>
              <a:t>Tingkat kerincian tidak konsisten dalam satu diagram.</a:t>
            </a:r>
            <a:endParaRPr sz="1350" b="0" i="0">
              <a:solidFill>
                <a:srgbClr val="1B2733"/>
              </a:solidFill>
              <a:latin typeface="Calibri" panose="020F0502020204030204"/>
            </a:endParaRPr>
          </a:p>
        </p:txBody>
      </p:sp>
      <p:sp>
        <p:nvSpPr>
          <p:cNvPr id="23" name="Oval 22"/>
          <p:cNvSpPr/>
          <p:nvPr/>
        </p:nvSpPr>
        <p:spPr>
          <a:xfrm>
            <a:off x="658368" y="4684013"/>
            <a:ext cx="365760" cy="36576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738877"/>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6</a:t>
            </a:r>
            <a:endParaRPr sz="1200" b="1" i="0">
              <a:solidFill>
                <a:srgbClr val="FFFFFF"/>
              </a:solidFill>
              <a:latin typeface="Calibri" panose="020F0502020204030204"/>
            </a:endParaRPr>
          </a:p>
        </p:txBody>
      </p:sp>
      <p:sp>
        <p:nvSpPr>
          <p:cNvPr id="25" name="TextBox 24"/>
          <p:cNvSpPr txBox="1"/>
          <p:nvPr/>
        </p:nvSpPr>
        <p:spPr>
          <a:xfrm>
            <a:off x="1225295" y="4665725"/>
            <a:ext cx="10308336" cy="420623"/>
          </a:xfrm>
          <a:prstGeom prst="rect">
            <a:avLst/>
          </a:prstGeom>
          <a:noFill/>
        </p:spPr>
        <p:txBody>
          <a:bodyPr wrap="square" lIns="0" tIns="0" rIns="0" bIns="0" anchor="t">
            <a:spAutoFit/>
          </a:bodyPr>
          <a:lstStyle/>
          <a:p>
            <a:pPr algn="l">
              <a:lnSpc>
                <a:spcPct val="130000"/>
              </a:lnSpc>
              <a:spcAft>
                <a:spcPts val="0"/>
              </a:spcAft>
            </a:pPr>
            <a:r>
              <a:rPr sz="1350" b="0" i="0">
                <a:solidFill>
                  <a:srgbClr val="1B2733"/>
                </a:solidFill>
                <a:latin typeface="Calibri" panose="020F0502020204030204"/>
              </a:rPr>
              <a:t>Menggambar proses yang kamu bayangkan, bukan yang kamu temukan.</a:t>
            </a:r>
            <a:endParaRPr sz="1350" b="0" i="0">
              <a:solidFill>
                <a:srgbClr val="1B2733"/>
              </a:solidFill>
              <a:latin typeface="Calibri" panose="020F050202020403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E7C86"/>
        </a:solidFill>
        <a:effectLst/>
      </p:bgPr>
    </p:bg>
    <p:spTree>
      <p:nvGrpSpPr>
        <p:cNvPr id="1" name=""/>
        <p:cNvGrpSpPr/>
        <p:nvPr/>
      </p:nvGrpSpPr>
      <p:grpSpPr/>
      <p:sp>
        <p:nvSpPr>
          <p:cNvPr id="2" name="Oval 1"/>
          <p:cNvSpPr/>
          <p:nvPr/>
        </p:nvSpPr>
        <p:spPr>
          <a:xfrm>
            <a:off x="9601200" y="-1097280"/>
            <a:ext cx="4023360" cy="402336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41280" y="3840480"/>
            <a:ext cx="3291840" cy="3291840"/>
          </a:xfrm>
          <a:prstGeom prst="ellipse">
            <a:avLst/>
          </a:prstGeom>
          <a:solidFill>
            <a:srgbClr val="5B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2286000"/>
            <a:ext cx="5486400" cy="320040"/>
          </a:xfrm>
          <a:prstGeom prst="rect">
            <a:avLst/>
          </a:prstGeom>
          <a:noFill/>
        </p:spPr>
        <p:txBody>
          <a:bodyPr wrap="square" lIns="0" tIns="0" rIns="0" bIns="0" anchor="t">
            <a:spAutoFit/>
          </a:bodyPr>
          <a:lstStyle/>
          <a:p>
            <a:pPr algn="l">
              <a:lnSpc>
                <a:spcPct val="100000"/>
              </a:lnSpc>
              <a:spcAft>
                <a:spcPts val="0"/>
              </a:spcAft>
            </a:pPr>
            <a:r>
              <a:rPr sz="1300" b="1" i="0">
                <a:solidFill>
                  <a:srgbClr val="AFE4E9"/>
                </a:solidFill>
                <a:latin typeface="Calibri" panose="020F0502020204030204"/>
              </a:rPr>
              <a:t>MODUL 3</a:t>
            </a:r>
            <a:endParaRPr sz="1300" b="1" i="0">
              <a:solidFill>
                <a:srgbClr val="AFE4E9"/>
              </a:solidFill>
              <a:latin typeface="Calibri" panose="020F0502020204030204"/>
            </a:endParaRPr>
          </a:p>
        </p:txBody>
      </p:sp>
      <p:sp>
        <p:nvSpPr>
          <p:cNvPr id="5" name="TextBox 4"/>
          <p:cNvSpPr txBox="1"/>
          <p:nvPr/>
        </p:nvSpPr>
        <p:spPr>
          <a:xfrm>
            <a:off x="658368" y="2670048"/>
            <a:ext cx="9326880" cy="1371600"/>
          </a:xfrm>
          <a:prstGeom prst="rect">
            <a:avLst/>
          </a:prstGeom>
          <a:noFill/>
        </p:spPr>
        <p:txBody>
          <a:bodyPr wrap="square" lIns="0" tIns="0" rIns="0" bIns="0" anchor="t">
            <a:spAutoFit/>
          </a:bodyPr>
          <a:lstStyle/>
          <a:p>
            <a:pPr algn="l">
              <a:lnSpc>
                <a:spcPct val="105000"/>
              </a:lnSpc>
              <a:spcAft>
                <a:spcPts val="0"/>
              </a:spcAft>
            </a:pPr>
            <a:r>
              <a:rPr sz="3800" b="1" i="0">
                <a:solidFill>
                  <a:srgbClr val="FFFFFF"/>
                </a:solidFill>
                <a:latin typeface="Calibri" panose="020F0502020204030204"/>
              </a:rPr>
              <a:t>Satu SOP, Tiga Orang, Empat Cerita</a:t>
            </a:r>
            <a:endParaRPr sz="3800" b="1" i="0">
              <a:solidFill>
                <a:srgbClr val="FFFFFF"/>
              </a:solidFill>
              <a:latin typeface="Calibri" panose="020F0502020204030204"/>
            </a:endParaRPr>
          </a:p>
        </p:txBody>
      </p:sp>
      <p:sp>
        <p:nvSpPr>
          <p:cNvPr id="6" name="TextBox 5"/>
          <p:cNvSpPr txBox="1"/>
          <p:nvPr/>
        </p:nvSpPr>
        <p:spPr>
          <a:xfrm>
            <a:off x="658368" y="4160520"/>
            <a:ext cx="8778240" cy="548640"/>
          </a:xfrm>
          <a:prstGeom prst="rect">
            <a:avLst/>
          </a:prstGeom>
          <a:noFill/>
        </p:spPr>
        <p:txBody>
          <a:bodyPr wrap="square" lIns="0" tIns="0" rIns="0" bIns="0" anchor="t">
            <a:spAutoFit/>
          </a:bodyPr>
          <a:lstStyle/>
          <a:p>
            <a:pPr algn="l">
              <a:lnSpc>
                <a:spcPct val="120000"/>
              </a:lnSpc>
              <a:spcAft>
                <a:spcPts val="0"/>
              </a:spcAft>
            </a:pPr>
            <a:r>
              <a:rPr sz="1600" b="0" i="0">
                <a:solidFill>
                  <a:srgbClr val="AFE4E9"/>
                </a:solidFill>
                <a:latin typeface="Calibri" panose="020F0502020204030204"/>
              </a:rPr>
              <a:t>Studi kasus proses klaim kendaraan bermotor.</a:t>
            </a:r>
            <a:endParaRPr sz="1600" b="0" i="0">
              <a:solidFill>
                <a:srgbClr val="AFE4E9"/>
              </a:solidFill>
              <a:latin typeface="Calibri" panose="020F0502020204030204"/>
            </a:endParaRPr>
          </a:p>
        </p:txBody>
      </p:sp>
      <p:sp>
        <p:nvSpPr>
          <p:cNvPr id="7" name="TextBox 6"/>
          <p:cNvSpPr txBox="1"/>
          <p:nvPr/>
        </p:nvSpPr>
        <p:spPr>
          <a:xfrm>
            <a:off x="658368" y="5852160"/>
            <a:ext cx="7315200" cy="320040"/>
          </a:xfrm>
          <a:prstGeom prst="rect">
            <a:avLst/>
          </a:prstGeom>
          <a:noFill/>
        </p:spPr>
        <p:txBody>
          <a:bodyPr wrap="square" lIns="0" tIns="0" rIns="0" bIns="0" anchor="t">
            <a:spAutoFit/>
          </a:bodyPr>
          <a:lstStyle/>
          <a:p>
            <a:pPr algn="l">
              <a:lnSpc>
                <a:spcPct val="100000"/>
              </a:lnSpc>
              <a:spcAft>
                <a:spcPts val="0"/>
              </a:spcAft>
            </a:pPr>
            <a:r>
              <a:rPr sz="1200" b="0" i="0">
                <a:solidFill>
                  <a:srgbClr val="AFE4E9"/>
                </a:solidFill>
                <a:latin typeface="Calibri" panose="020F0502020204030204"/>
              </a:rPr>
              <a:t>sekitar 35 menit  |  25 menit kerja, 10 menit presentasi</a:t>
            </a:r>
            <a:endParaRPr sz="1200" b="0" i="0">
              <a:solidFill>
                <a:srgbClr val="AFE4E9"/>
              </a:solidFill>
              <a:latin typeface="Calibri" panose="020F050202020403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STUDI KASUS</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Situasinya</a:t>
            </a:r>
            <a:endParaRPr sz="3000" b="1" i="0">
              <a:solidFill>
                <a:srgbClr val="1B2733"/>
              </a:solidFill>
              <a:latin typeface="Calibri" panose="020F0502020204030204"/>
            </a:endParaRP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tIns="0" rIns="0" bIns="0" anchor="t">
            <a:spAutoFit/>
          </a:bodyPr>
          <a:lstStyle/>
          <a:p>
            <a:pPr algn="l">
              <a:lnSpc>
                <a:spcPct val="118000"/>
              </a:lnSpc>
              <a:spcAft>
                <a:spcPts val="0"/>
              </a:spcAft>
            </a:pPr>
            <a:r>
              <a:rPr sz="1350" b="1" i="0">
                <a:solidFill>
                  <a:srgbClr val="1B2733"/>
                </a:solidFill>
                <a:latin typeface="Calibri" panose="020F0502020204030204"/>
              </a:rPr>
              <a:t>Kasus ini fiktif dan disederhanakan, tapi bentuk masalahnya diambil dari proses nyata.</a:t>
            </a:r>
            <a:endParaRPr sz="1350" b="1" i="0">
              <a:solidFill>
                <a:srgbClr val="1B2733"/>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24</a:t>
            </a:r>
            <a:endParaRPr sz="850" b="0" i="0">
              <a:solidFill>
                <a:srgbClr val="8A96A3"/>
              </a:solidFill>
              <a:latin typeface="Calibri" panose="020F0502020204030204"/>
            </a:endParaRPr>
          </a:p>
        </p:txBody>
      </p:sp>
      <p:sp>
        <p:nvSpPr>
          <p:cNvPr id="8" name="Rectangle 7"/>
          <p:cNvSpPr/>
          <p:nvPr/>
        </p:nvSpPr>
        <p:spPr>
          <a:xfrm>
            <a:off x="658368" y="2167128"/>
            <a:ext cx="10875264" cy="105156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2276856"/>
            <a:ext cx="9960864" cy="832103"/>
          </a:xfrm>
          <a:prstGeom prst="rect">
            <a:avLst/>
          </a:prstGeom>
          <a:noFill/>
        </p:spPr>
        <p:txBody>
          <a:bodyPr wrap="square" lIns="0" tIns="0" rIns="0" bIns="0" anchor="ctr">
            <a:spAutoFit/>
          </a:bodyPr>
          <a:lstStyle/>
          <a:p>
            <a:pPr algn="l">
              <a:lnSpc>
                <a:spcPct val="118000"/>
              </a:lnSpc>
              <a:spcAft>
                <a:spcPts val="0"/>
              </a:spcAft>
            </a:pPr>
            <a:r>
              <a:rPr sz="2000" b="1" i="0">
                <a:solidFill>
                  <a:srgbClr val="FFFFFF"/>
                </a:solidFill>
                <a:latin typeface="Calibri" panose="020F0502020204030204"/>
              </a:rPr>
              <a:t>Kamu analis yang baru ditugaskan memetakan proses klaim kendaraan bermotor di sebuah cabang.</a:t>
            </a:r>
            <a:endParaRPr sz="2000" b="1" i="0">
              <a:solidFill>
                <a:srgbClr val="FFFFFF"/>
              </a:solidFill>
              <a:latin typeface="Calibri" panose="020F0502020204030204"/>
            </a:endParaRPr>
          </a:p>
        </p:txBody>
      </p:sp>
      <p:sp>
        <p:nvSpPr>
          <p:cNvPr id="10" name="TextBox 9"/>
          <p:cNvSpPr txBox="1"/>
          <p:nvPr/>
        </p:nvSpPr>
        <p:spPr>
          <a:xfrm>
            <a:off x="658368" y="3529584"/>
            <a:ext cx="9352727" cy="1280160"/>
          </a:xfrm>
          <a:prstGeom prst="rect">
            <a:avLst/>
          </a:prstGeom>
          <a:noFill/>
        </p:spPr>
        <p:txBody>
          <a:bodyPr wrap="square" lIns="0" tIns="0" rIns="0" bIns="0" anchor="t">
            <a:spAutoFit/>
          </a:bodyPr>
          <a:lstStyle/>
          <a:p>
            <a:pPr algn="l">
              <a:lnSpc>
                <a:spcPct val="135000"/>
              </a:lnSpc>
              <a:spcAft>
                <a:spcPts val="1200"/>
              </a:spcAft>
            </a:pPr>
            <a:r>
              <a:rPr sz="1500" b="0" i="0">
                <a:solidFill>
                  <a:srgbClr val="5A6672"/>
                </a:solidFill>
                <a:latin typeface="Calibri" panose="020F0502020204030204"/>
              </a:rPr>
              <a:t>Kamu punya empat sumber: kutipan SOP resmi, plus wawancara dengan petugas cabang, surveyor lapangan, dan staf akseptasi.</a:t>
            </a:r>
            <a:endParaRPr sz="1500" b="0" i="0">
              <a:solidFill>
                <a:srgbClr val="5A6672"/>
              </a:solidFill>
              <a:latin typeface="Calibri" panose="020F0502020204030204"/>
            </a:endParaRPr>
          </a:p>
          <a:p>
            <a:pPr algn="l">
              <a:lnSpc>
                <a:spcPct val="135000"/>
              </a:lnSpc>
              <a:spcAft>
                <a:spcPts val="1200"/>
              </a:spcAft>
            </a:pPr>
            <a:r>
              <a:rPr sz="1500" b="0" i="0">
                <a:solidFill>
                  <a:srgbClr val="5A6672"/>
                </a:solidFill>
                <a:latin typeface="Calibri" panose="020F0502020204030204"/>
              </a:rPr>
              <a:t>Keempatnya tidak cocok satu sama lain.</a:t>
            </a:r>
            <a:endParaRPr sz="1500" b="0" i="0">
              <a:solidFill>
                <a:srgbClr val="5A6672"/>
              </a:solidFill>
              <a:latin typeface="Calibri" panose="020F050202020403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AKTIVITAS</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Aturan kerjanya</a:t>
            </a:r>
            <a:endParaRPr sz="3000" b="1" i="0">
              <a:solidFill>
                <a:srgbClr val="1B2733"/>
              </a:solidFill>
              <a:latin typeface="Calibri" panose="020F0502020204030204"/>
            </a:endParaRP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tIns="0" rIns="0" bIns="0" anchor="t">
            <a:spAutoFit/>
          </a:bodyPr>
          <a:lstStyle/>
          <a:p>
            <a:pPr algn="l">
              <a:lnSpc>
                <a:spcPct val="118000"/>
              </a:lnSpc>
              <a:spcAft>
                <a:spcPts val="0"/>
              </a:spcAft>
            </a:pPr>
            <a:r>
              <a:rPr sz="1350" b="1" i="0">
                <a:solidFill>
                  <a:srgbClr val="1B2733"/>
                </a:solidFill>
                <a:latin typeface="Calibri" panose="020F0502020204030204"/>
              </a:rPr>
              <a:t>Nomor 5 yang paling menentukan. Sisanya hampir semua kelompok bisa.</a:t>
            </a:r>
            <a:endParaRPr sz="1350" b="1" i="0">
              <a:solidFill>
                <a:srgbClr val="1B2733"/>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25</a:t>
            </a:r>
            <a:endParaRPr sz="850" b="0" i="0">
              <a:solidFill>
                <a:srgbClr val="8A96A3"/>
              </a:solidFill>
              <a:latin typeface="Calibri" panose="020F0502020204030204"/>
            </a:endParaRPr>
          </a:p>
        </p:txBody>
      </p:sp>
      <p:sp>
        <p:nvSpPr>
          <p:cNvPr id="8" name="Oval 7"/>
          <p:cNvSpPr/>
          <p:nvPr/>
        </p:nvSpPr>
        <p:spPr>
          <a:xfrm>
            <a:off x="658368" y="1659636"/>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714500"/>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1</a:t>
            </a:r>
            <a:endParaRPr sz="1200" b="1" i="0">
              <a:solidFill>
                <a:srgbClr val="FFFFFF"/>
              </a:solidFill>
              <a:latin typeface="Calibri" panose="020F0502020204030204"/>
            </a:endParaRPr>
          </a:p>
        </p:txBody>
      </p:sp>
      <p:sp>
        <p:nvSpPr>
          <p:cNvPr id="10" name="TextBox 9"/>
          <p:cNvSpPr txBox="1"/>
          <p:nvPr/>
        </p:nvSpPr>
        <p:spPr>
          <a:xfrm>
            <a:off x="1225295" y="1641348"/>
            <a:ext cx="10308336" cy="420623"/>
          </a:xfrm>
          <a:prstGeom prst="rect">
            <a:avLst/>
          </a:prstGeom>
          <a:noFill/>
        </p:spPr>
        <p:txBody>
          <a:bodyPr wrap="square" lIns="0" tIns="0" rIns="0" bIns="0" anchor="t">
            <a:spAutoFit/>
          </a:bodyPr>
          <a:lstStyle/>
          <a:p>
            <a:pPr algn="l">
              <a:lnSpc>
                <a:spcPct val="130000"/>
              </a:lnSpc>
              <a:spcAft>
                <a:spcPts val="0"/>
              </a:spcAft>
            </a:pPr>
            <a:r>
              <a:rPr sz="1350" b="0" i="0">
                <a:solidFill>
                  <a:srgbClr val="1B2733"/>
                </a:solidFill>
                <a:latin typeface="Calibri" panose="020F0502020204030204"/>
              </a:rPr>
              <a:t>Kelompok 4 sampai 5 orang. 25 menit kerja.</a:t>
            </a:r>
            <a:endParaRPr sz="1350" b="0" i="0">
              <a:solidFill>
                <a:srgbClr val="1B2733"/>
              </a:solidFill>
              <a:latin typeface="Calibri" panose="020F0502020204030204"/>
            </a:endParaRPr>
          </a:p>
        </p:txBody>
      </p:sp>
      <p:sp>
        <p:nvSpPr>
          <p:cNvPr id="11" name="Oval 10"/>
          <p:cNvSpPr/>
          <p:nvPr/>
        </p:nvSpPr>
        <p:spPr>
          <a:xfrm>
            <a:off x="658368" y="2400300"/>
            <a:ext cx="365760" cy="36576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455164"/>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2</a:t>
            </a:r>
            <a:endParaRPr sz="1200" b="1" i="0">
              <a:solidFill>
                <a:srgbClr val="FFFFFF"/>
              </a:solidFill>
              <a:latin typeface="Calibri" panose="020F0502020204030204"/>
            </a:endParaRPr>
          </a:p>
        </p:txBody>
      </p:sp>
      <p:sp>
        <p:nvSpPr>
          <p:cNvPr id="13" name="TextBox 12"/>
          <p:cNvSpPr txBox="1"/>
          <p:nvPr/>
        </p:nvSpPr>
        <p:spPr>
          <a:xfrm>
            <a:off x="1225295" y="2382012"/>
            <a:ext cx="10308336" cy="420623"/>
          </a:xfrm>
          <a:prstGeom prst="rect">
            <a:avLst/>
          </a:prstGeom>
          <a:noFill/>
        </p:spPr>
        <p:txBody>
          <a:bodyPr wrap="square" lIns="0" tIns="0" rIns="0" bIns="0" anchor="t">
            <a:spAutoFit/>
          </a:bodyPr>
          <a:lstStyle/>
          <a:p>
            <a:pPr algn="l">
              <a:lnSpc>
                <a:spcPct val="130000"/>
              </a:lnSpc>
              <a:spcAft>
                <a:spcPts val="0"/>
              </a:spcAft>
            </a:pPr>
            <a:r>
              <a:rPr sz="1350" b="0" i="0">
                <a:solidFill>
                  <a:srgbClr val="1B2733"/>
                </a:solidFill>
                <a:latin typeface="Calibri" panose="020F0502020204030204"/>
              </a:rPr>
              <a:t>Baca keempat sumber. Tandai tiap titik yang bertentangan.</a:t>
            </a:r>
            <a:endParaRPr sz="1350" b="0" i="0">
              <a:solidFill>
                <a:srgbClr val="1B2733"/>
              </a:solidFill>
              <a:latin typeface="Calibri" panose="020F0502020204030204"/>
            </a:endParaRPr>
          </a:p>
        </p:txBody>
      </p:sp>
      <p:sp>
        <p:nvSpPr>
          <p:cNvPr id="14" name="Oval 13"/>
          <p:cNvSpPr/>
          <p:nvPr/>
        </p:nvSpPr>
        <p:spPr>
          <a:xfrm>
            <a:off x="658368" y="3140964"/>
            <a:ext cx="365760" cy="365760"/>
          </a:xfrm>
          <a:prstGeom prst="ellipse">
            <a:avLst/>
          </a:prstGeom>
          <a:solidFill>
            <a:srgbClr val="5B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3195828"/>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3</a:t>
            </a:r>
            <a:endParaRPr sz="1200" b="1" i="0">
              <a:solidFill>
                <a:srgbClr val="FFFFFF"/>
              </a:solidFill>
              <a:latin typeface="Calibri" panose="020F0502020204030204"/>
            </a:endParaRPr>
          </a:p>
        </p:txBody>
      </p:sp>
      <p:sp>
        <p:nvSpPr>
          <p:cNvPr id="16" name="TextBox 15"/>
          <p:cNvSpPr txBox="1"/>
          <p:nvPr/>
        </p:nvSpPr>
        <p:spPr>
          <a:xfrm>
            <a:off x="1225295" y="3122676"/>
            <a:ext cx="10308336" cy="420623"/>
          </a:xfrm>
          <a:prstGeom prst="rect">
            <a:avLst/>
          </a:prstGeom>
          <a:noFill/>
        </p:spPr>
        <p:txBody>
          <a:bodyPr wrap="square" lIns="0" tIns="0" rIns="0" bIns="0" anchor="t">
            <a:spAutoFit/>
          </a:bodyPr>
          <a:lstStyle/>
          <a:p>
            <a:pPr algn="l">
              <a:lnSpc>
                <a:spcPct val="130000"/>
              </a:lnSpc>
              <a:spcAft>
                <a:spcPts val="0"/>
              </a:spcAft>
            </a:pPr>
            <a:r>
              <a:rPr sz="1350" b="0" i="0">
                <a:solidFill>
                  <a:srgbClr val="1B2733"/>
                </a:solidFill>
                <a:latin typeface="Calibri" panose="020F0502020204030204"/>
              </a:rPr>
              <a:t>Gambar satu model BPMN as-is. Minimal 3 lane, minimal 12 aktivitas, minimal 2 gateway, minimal 1 rework loop.</a:t>
            </a:r>
            <a:endParaRPr sz="1350" b="0" i="0">
              <a:solidFill>
                <a:srgbClr val="1B2733"/>
              </a:solidFill>
              <a:latin typeface="Calibri" panose="020F0502020204030204"/>
            </a:endParaRPr>
          </a:p>
        </p:txBody>
      </p:sp>
      <p:sp>
        <p:nvSpPr>
          <p:cNvPr id="17" name="Oval 16"/>
          <p:cNvSpPr/>
          <p:nvPr/>
        </p:nvSpPr>
        <p:spPr>
          <a:xfrm>
            <a:off x="658368" y="3881627"/>
            <a:ext cx="365760" cy="365760"/>
          </a:xfrm>
          <a:prstGeom prst="ellipse">
            <a:avLst/>
          </a:prstGeom>
          <a:solidFill>
            <a:srgbClr val="C97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3936491"/>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4</a:t>
            </a:r>
            <a:endParaRPr sz="1200" b="1" i="0">
              <a:solidFill>
                <a:srgbClr val="FFFFFF"/>
              </a:solidFill>
              <a:latin typeface="Calibri" panose="020F0502020204030204"/>
            </a:endParaRPr>
          </a:p>
        </p:txBody>
      </p:sp>
      <p:sp>
        <p:nvSpPr>
          <p:cNvPr id="19" name="TextBox 18"/>
          <p:cNvSpPr txBox="1"/>
          <p:nvPr/>
        </p:nvSpPr>
        <p:spPr>
          <a:xfrm>
            <a:off x="1225295" y="3863339"/>
            <a:ext cx="10308336" cy="420623"/>
          </a:xfrm>
          <a:prstGeom prst="rect">
            <a:avLst/>
          </a:prstGeom>
          <a:noFill/>
        </p:spPr>
        <p:txBody>
          <a:bodyPr wrap="square" lIns="0" tIns="0" rIns="0" bIns="0" anchor="t">
            <a:spAutoFit/>
          </a:bodyPr>
          <a:lstStyle/>
          <a:p>
            <a:pPr algn="l">
              <a:lnSpc>
                <a:spcPct val="130000"/>
              </a:lnSpc>
              <a:spcAft>
                <a:spcPts val="0"/>
              </a:spcAft>
            </a:pPr>
            <a:r>
              <a:rPr sz="1350" b="0" i="0">
                <a:solidFill>
                  <a:srgbClr val="1B2733"/>
                </a:solidFill>
                <a:latin typeface="Calibri" panose="020F0502020204030204"/>
              </a:rPr>
              <a:t>Untuk tiap konflik, tulis versi siapa yang kamu pakai dan kenapa.</a:t>
            </a:r>
            <a:endParaRPr sz="1350" b="0" i="0">
              <a:solidFill>
                <a:srgbClr val="1B2733"/>
              </a:solidFill>
              <a:latin typeface="Calibri" panose="020F0502020204030204"/>
            </a:endParaRPr>
          </a:p>
        </p:txBody>
      </p:sp>
      <p:sp>
        <p:nvSpPr>
          <p:cNvPr id="20" name="Oval 19"/>
          <p:cNvSpPr/>
          <p:nvPr/>
        </p:nvSpPr>
        <p:spPr>
          <a:xfrm>
            <a:off x="658368" y="4622291"/>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4677155"/>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5</a:t>
            </a:r>
            <a:endParaRPr sz="1200" b="1" i="0">
              <a:solidFill>
                <a:srgbClr val="FFFFFF"/>
              </a:solidFill>
              <a:latin typeface="Calibri" panose="020F0502020204030204"/>
            </a:endParaRPr>
          </a:p>
        </p:txBody>
      </p:sp>
      <p:sp>
        <p:nvSpPr>
          <p:cNvPr id="22" name="TextBox 21"/>
          <p:cNvSpPr txBox="1"/>
          <p:nvPr/>
        </p:nvSpPr>
        <p:spPr>
          <a:xfrm>
            <a:off x="1225295" y="4604003"/>
            <a:ext cx="10308336" cy="420623"/>
          </a:xfrm>
          <a:prstGeom prst="rect">
            <a:avLst/>
          </a:prstGeom>
          <a:noFill/>
        </p:spPr>
        <p:txBody>
          <a:bodyPr wrap="square" lIns="0" tIns="0" rIns="0" bIns="0" anchor="t">
            <a:spAutoFit/>
          </a:bodyPr>
          <a:lstStyle/>
          <a:p>
            <a:pPr algn="l">
              <a:lnSpc>
                <a:spcPct val="130000"/>
              </a:lnSpc>
              <a:spcAft>
                <a:spcPts val="0"/>
              </a:spcAft>
            </a:pPr>
            <a:r>
              <a:rPr sz="1350" b="0" i="0">
                <a:solidFill>
                  <a:srgbClr val="1B2733"/>
                </a:solidFill>
                <a:latin typeface="Calibri" panose="020F0502020204030204"/>
              </a:rPr>
              <a:t>Wajib: tulis minimal satu hal yang tidak ada seorang pun menyebutkannya.</a:t>
            </a:r>
            <a:endParaRPr sz="1350" b="0" i="0">
              <a:solidFill>
                <a:srgbClr val="1B2733"/>
              </a:solidFill>
              <a:latin typeface="Calibri" panose="020F05020202040302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RAMBU RAMBU</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Rambu rambu</a:t>
            </a:r>
            <a:endParaRPr sz="3000" b="1" i="0">
              <a:solidFill>
                <a:srgbClr val="1B2733"/>
              </a:solidFill>
              <a:latin typeface="Calibri" panose="020F0502020204030204"/>
            </a:endParaRP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tIns="0" rIns="0" bIns="0" anchor="t">
            <a:spAutoFit/>
          </a:bodyPr>
          <a:lstStyle/>
          <a:p>
            <a:pPr algn="l">
              <a:lnSpc>
                <a:spcPct val="118000"/>
              </a:lnSpc>
              <a:spcAft>
                <a:spcPts val="0"/>
              </a:spcAft>
            </a:pPr>
            <a:r>
              <a:rPr sz="1350" b="1" i="0">
                <a:solidFill>
                  <a:srgbClr val="1B2733"/>
                </a:solidFill>
                <a:latin typeface="Calibri" panose="020F0502020204030204"/>
              </a:rPr>
              <a:t>Model yang jujur lebih berguna daripada model yang sok yakin.</a:t>
            </a:r>
            <a:endParaRPr sz="1350" b="1" i="0">
              <a:solidFill>
                <a:srgbClr val="1B2733"/>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26</a:t>
            </a:r>
            <a:endParaRPr sz="850" b="0" i="0">
              <a:solidFill>
                <a:srgbClr val="8A96A3"/>
              </a:solidFill>
              <a:latin typeface="Calibri" panose="020F0502020204030204"/>
            </a:endParaRPr>
          </a:p>
        </p:txBody>
      </p:sp>
      <p:sp>
        <p:nvSpPr>
          <p:cNvPr id="8" name="Oval 7"/>
          <p:cNvSpPr/>
          <p:nvPr/>
        </p:nvSpPr>
        <p:spPr>
          <a:xfrm>
            <a:off x="704088" y="2427732"/>
            <a:ext cx="118872" cy="11887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281428"/>
            <a:ext cx="10509504" cy="420623"/>
          </a:xfrm>
          <a:prstGeom prst="rect">
            <a:avLst/>
          </a:prstGeom>
          <a:noFill/>
        </p:spPr>
        <p:txBody>
          <a:bodyPr wrap="square" lIns="0" tIns="0" rIns="0" bIns="0" anchor="t">
            <a:spAutoFit/>
          </a:bodyPr>
          <a:lstStyle/>
          <a:p>
            <a:pPr algn="l">
              <a:lnSpc>
                <a:spcPct val="130000"/>
              </a:lnSpc>
              <a:spcAft>
                <a:spcPts val="0"/>
              </a:spcAft>
            </a:pPr>
            <a:r>
              <a:rPr sz="1500" b="0" i="0">
                <a:solidFill>
                  <a:srgbClr val="1B2733"/>
                </a:solidFill>
                <a:latin typeface="Calibri" panose="020F0502020204030204"/>
              </a:rPr>
              <a:t>Kamu tidak boleh menelepon siapa pun untuk konfirmasi. Kerjakan dengan informasi yang ada.</a:t>
            </a:r>
            <a:endParaRPr sz="1500" b="0" i="0">
              <a:solidFill>
                <a:srgbClr val="1B2733"/>
              </a:solidFill>
              <a:latin typeface="Calibri" panose="020F0502020204030204"/>
            </a:endParaRPr>
          </a:p>
        </p:txBody>
      </p:sp>
      <p:sp>
        <p:nvSpPr>
          <p:cNvPr id="10" name="Oval 9"/>
          <p:cNvSpPr/>
          <p:nvPr/>
        </p:nvSpPr>
        <p:spPr>
          <a:xfrm>
            <a:off x="704088" y="3268980"/>
            <a:ext cx="118872" cy="11887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3122676"/>
            <a:ext cx="10509504" cy="420623"/>
          </a:xfrm>
          <a:prstGeom prst="rect">
            <a:avLst/>
          </a:prstGeom>
          <a:noFill/>
        </p:spPr>
        <p:txBody>
          <a:bodyPr wrap="square" lIns="0" tIns="0" rIns="0" bIns="0" anchor="t">
            <a:spAutoFit/>
          </a:bodyPr>
          <a:lstStyle/>
          <a:p>
            <a:pPr algn="l">
              <a:lnSpc>
                <a:spcPct val="130000"/>
              </a:lnSpc>
              <a:spcAft>
                <a:spcPts val="0"/>
              </a:spcAft>
            </a:pPr>
            <a:r>
              <a:rPr sz="1500" b="0" i="0">
                <a:solidFill>
                  <a:srgbClr val="1B2733"/>
                </a:solidFill>
                <a:latin typeface="Calibri" panose="020F0502020204030204"/>
              </a:rPr>
              <a:t>Kalau sebuah konflik tidak bisa kamu putuskan, gambar versi yang paling mungkin lalu beri tanda tanya.</a:t>
            </a:r>
            <a:endParaRPr sz="1500" b="0" i="0">
              <a:solidFill>
                <a:srgbClr val="1B2733"/>
              </a:solidFill>
              <a:latin typeface="Calibri" panose="020F0502020204030204"/>
            </a:endParaRPr>
          </a:p>
        </p:txBody>
      </p:sp>
      <p:sp>
        <p:nvSpPr>
          <p:cNvPr id="12" name="Oval 11"/>
          <p:cNvSpPr/>
          <p:nvPr/>
        </p:nvSpPr>
        <p:spPr>
          <a:xfrm>
            <a:off x="704088" y="4110228"/>
            <a:ext cx="118872" cy="11887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3963924"/>
            <a:ext cx="10509504" cy="420623"/>
          </a:xfrm>
          <a:prstGeom prst="rect">
            <a:avLst/>
          </a:prstGeom>
          <a:noFill/>
        </p:spPr>
        <p:txBody>
          <a:bodyPr wrap="square" lIns="0" tIns="0" rIns="0" bIns="0" anchor="t">
            <a:spAutoFit/>
          </a:bodyPr>
          <a:lstStyle/>
          <a:p>
            <a:pPr algn="l">
              <a:lnSpc>
                <a:spcPct val="130000"/>
              </a:lnSpc>
              <a:spcAft>
                <a:spcPts val="0"/>
              </a:spcAft>
            </a:pPr>
            <a:r>
              <a:rPr sz="1500" b="0" i="0">
                <a:solidFill>
                  <a:srgbClr val="1B2733"/>
                </a:solidFill>
                <a:latin typeface="Calibri" panose="020F0502020204030204"/>
              </a:rPr>
              <a:t>10 menit terakhir dipakai dua kelompok untuk presentasi.</a:t>
            </a:r>
            <a:endParaRPr sz="1500" b="0" i="0">
              <a:solidFill>
                <a:srgbClr val="1B2733"/>
              </a:solidFill>
              <a:latin typeface="Calibri" panose="020F050202020403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PEMBAHASAN BERSAMA</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Yang biasanya terjadi</a:t>
            </a:r>
            <a:endParaRPr sz="3000" b="1" i="0">
              <a:solidFill>
                <a:srgbClr val="1B2733"/>
              </a:solidFill>
              <a:latin typeface="Calibri" panose="020F0502020204030204"/>
            </a:endParaRPr>
          </a:p>
        </p:txBody>
      </p:sp>
      <p:sp>
        <p:nvSpPr>
          <p:cNvPr id="4" name="Rounded Rectangle 3"/>
          <p:cNvSpPr/>
          <p:nvPr/>
        </p:nvSpPr>
        <p:spPr>
          <a:xfrm>
            <a:off x="9019032" y="438912"/>
            <a:ext cx="2514600" cy="274320"/>
          </a:xfrm>
          <a:prstGeom prst="roundRect">
            <a:avLst/>
          </a:prstGeom>
          <a:solidFill>
            <a:srgbClr val="FFF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19032" y="484632"/>
            <a:ext cx="2514600" cy="237744"/>
          </a:xfrm>
          <a:prstGeom prst="rect">
            <a:avLst/>
          </a:prstGeom>
          <a:noFill/>
        </p:spPr>
        <p:txBody>
          <a:bodyPr wrap="square" lIns="0" tIns="0" rIns="0" bIns="0" anchor="t">
            <a:spAutoFit/>
          </a:bodyPr>
          <a:lstStyle/>
          <a:p>
            <a:pPr algn="ctr">
              <a:lnSpc>
                <a:spcPct val="100000"/>
              </a:lnSpc>
              <a:spcAft>
                <a:spcPts val="0"/>
              </a:spcAft>
            </a:pPr>
            <a:r>
              <a:rPr sz="950" b="1" i="0">
                <a:solidFill>
                  <a:srgbClr val="C97A0A"/>
                </a:solidFill>
                <a:latin typeface="Calibri" panose="020F0502020204030204"/>
              </a:rPr>
              <a:t>Tampilkan setelah presentasi</a:t>
            </a:r>
            <a:endParaRPr sz="950" b="1" i="0">
              <a:solidFill>
                <a:srgbClr val="C97A0A"/>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27</a:t>
            </a:r>
            <a:endParaRPr sz="850" b="0" i="0">
              <a:solidFill>
                <a:srgbClr val="8A96A3"/>
              </a:solidFill>
              <a:latin typeface="Calibri" panose="020F0502020204030204"/>
            </a:endParaRPr>
          </a:p>
        </p:txBody>
      </p:sp>
      <p:sp>
        <p:nvSpPr>
          <p:cNvPr id="8" name="Oval 7"/>
          <p:cNvSpPr/>
          <p:nvPr/>
        </p:nvSpPr>
        <p:spPr>
          <a:xfrm>
            <a:off x="658368" y="1879092"/>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933956"/>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1</a:t>
            </a:r>
            <a:endParaRPr sz="1200" b="1" i="0">
              <a:solidFill>
                <a:srgbClr val="FFFFFF"/>
              </a:solidFill>
              <a:latin typeface="Calibri" panose="020F0502020204030204"/>
            </a:endParaRPr>
          </a:p>
        </p:txBody>
      </p:sp>
      <p:sp>
        <p:nvSpPr>
          <p:cNvPr id="10" name="TextBox 9"/>
          <p:cNvSpPr txBox="1"/>
          <p:nvPr/>
        </p:nvSpPr>
        <p:spPr>
          <a:xfrm>
            <a:off x="1225295" y="1860804"/>
            <a:ext cx="10308336" cy="694944"/>
          </a:xfrm>
          <a:prstGeom prst="rect">
            <a:avLst/>
          </a:prstGeom>
          <a:noFill/>
        </p:spPr>
        <p:txBody>
          <a:bodyPr wrap="square" lIns="0" tIns="0" rIns="0" bIns="0" anchor="t">
            <a:spAutoFit/>
          </a:bodyPr>
          <a:lstStyle/>
          <a:p>
            <a:pPr algn="l">
              <a:lnSpc>
                <a:spcPct val="130000"/>
              </a:lnSpc>
              <a:spcAft>
                <a:spcPts val="0"/>
              </a:spcAft>
            </a:pPr>
            <a:r>
              <a:rPr sz="1500" b="0" i="0">
                <a:solidFill>
                  <a:srgbClr val="1B2733"/>
                </a:solidFill>
                <a:latin typeface="Calibri" panose="020F0502020204030204"/>
              </a:rPr>
              <a:t>Hampir semua kelompok memilih versi SOP, karena terdengar paling resmi. Padahal SOP-nya yang paling jarang benar.</a:t>
            </a:r>
            <a:endParaRPr sz="1500" b="0" i="0">
              <a:solidFill>
                <a:srgbClr val="1B2733"/>
              </a:solidFill>
              <a:latin typeface="Calibri" panose="020F0502020204030204"/>
            </a:endParaRPr>
          </a:p>
        </p:txBody>
      </p:sp>
      <p:sp>
        <p:nvSpPr>
          <p:cNvPr id="11" name="Oval 10"/>
          <p:cNvSpPr/>
          <p:nvPr/>
        </p:nvSpPr>
        <p:spPr>
          <a:xfrm>
            <a:off x="658368" y="2994660"/>
            <a:ext cx="365760" cy="36576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3049524"/>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2</a:t>
            </a:r>
            <a:endParaRPr sz="1200" b="1" i="0">
              <a:solidFill>
                <a:srgbClr val="FFFFFF"/>
              </a:solidFill>
              <a:latin typeface="Calibri" panose="020F0502020204030204"/>
            </a:endParaRPr>
          </a:p>
        </p:txBody>
      </p:sp>
      <p:sp>
        <p:nvSpPr>
          <p:cNvPr id="13" name="TextBox 12"/>
          <p:cNvSpPr txBox="1"/>
          <p:nvPr/>
        </p:nvSpPr>
        <p:spPr>
          <a:xfrm>
            <a:off x="1225295" y="2976372"/>
            <a:ext cx="10308336" cy="694944"/>
          </a:xfrm>
          <a:prstGeom prst="rect">
            <a:avLst/>
          </a:prstGeom>
          <a:noFill/>
        </p:spPr>
        <p:txBody>
          <a:bodyPr wrap="square" lIns="0" tIns="0" rIns="0" bIns="0" anchor="t">
            <a:spAutoFit/>
          </a:bodyPr>
          <a:lstStyle/>
          <a:p>
            <a:pPr algn="l">
              <a:lnSpc>
                <a:spcPct val="130000"/>
              </a:lnSpc>
              <a:spcAft>
                <a:spcPts val="0"/>
              </a:spcAft>
            </a:pPr>
            <a:r>
              <a:rPr sz="1500" b="0" i="0">
                <a:solidFill>
                  <a:srgbClr val="1B2733"/>
                </a:solidFill>
                <a:latin typeface="Calibri" panose="020F0502020204030204"/>
              </a:rPr>
              <a:t>Konflik urutan dokumen dan survei biasanya diselesaikan dengan menggambar keduanya paralel. Itu menghindari masalah, bukan menyelesaikannya.</a:t>
            </a:r>
            <a:endParaRPr sz="1500" b="0" i="0">
              <a:solidFill>
                <a:srgbClr val="1B2733"/>
              </a:solidFill>
              <a:latin typeface="Calibri" panose="020F0502020204030204"/>
            </a:endParaRPr>
          </a:p>
        </p:txBody>
      </p:sp>
      <p:sp>
        <p:nvSpPr>
          <p:cNvPr id="14" name="Oval 13"/>
          <p:cNvSpPr/>
          <p:nvPr/>
        </p:nvSpPr>
        <p:spPr>
          <a:xfrm>
            <a:off x="658368" y="4110227"/>
            <a:ext cx="365760" cy="365760"/>
          </a:xfrm>
          <a:prstGeom prst="ellipse">
            <a:avLst/>
          </a:prstGeom>
          <a:solidFill>
            <a:srgbClr val="5B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4165091"/>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3</a:t>
            </a:r>
            <a:endParaRPr sz="1200" b="1" i="0">
              <a:solidFill>
                <a:srgbClr val="FFFFFF"/>
              </a:solidFill>
              <a:latin typeface="Calibri" panose="020F0502020204030204"/>
            </a:endParaRPr>
          </a:p>
        </p:txBody>
      </p:sp>
      <p:sp>
        <p:nvSpPr>
          <p:cNvPr id="16" name="TextBox 15"/>
          <p:cNvSpPr txBox="1"/>
          <p:nvPr/>
        </p:nvSpPr>
        <p:spPr>
          <a:xfrm>
            <a:off x="1225295" y="4091939"/>
            <a:ext cx="10308336" cy="420623"/>
          </a:xfrm>
          <a:prstGeom prst="rect">
            <a:avLst/>
          </a:prstGeom>
          <a:noFill/>
        </p:spPr>
        <p:txBody>
          <a:bodyPr wrap="square" lIns="0" tIns="0" rIns="0" bIns="0" anchor="t">
            <a:spAutoFit/>
          </a:bodyPr>
          <a:lstStyle/>
          <a:p>
            <a:pPr algn="l">
              <a:lnSpc>
                <a:spcPct val="130000"/>
              </a:lnSpc>
              <a:spcAft>
                <a:spcPts val="0"/>
              </a:spcAft>
            </a:pPr>
            <a:r>
              <a:rPr sz="1500" b="0" i="0">
                <a:solidFill>
                  <a:srgbClr val="1B2733"/>
                </a:solidFill>
                <a:latin typeface="Calibri" panose="020F0502020204030204"/>
              </a:rPr>
              <a:t>Jarang ada kelompok yang menggambar rework loop dokumen, padahal itu penyumbang waktu tunggu terbesar.</a:t>
            </a:r>
            <a:endParaRPr sz="1500" b="0" i="0">
              <a:solidFill>
                <a:srgbClr val="1B2733"/>
              </a:solidFill>
              <a:latin typeface="Calibri" panose="020F0502020204030204"/>
            </a:endParaRPr>
          </a:p>
        </p:txBody>
      </p:sp>
      <p:sp>
        <p:nvSpPr>
          <p:cNvPr id="17" name="Oval 16"/>
          <p:cNvSpPr/>
          <p:nvPr/>
        </p:nvSpPr>
        <p:spPr>
          <a:xfrm>
            <a:off x="658368" y="4951475"/>
            <a:ext cx="365760" cy="365760"/>
          </a:xfrm>
          <a:prstGeom prst="ellipse">
            <a:avLst/>
          </a:prstGeom>
          <a:solidFill>
            <a:srgbClr val="C97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006340"/>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4</a:t>
            </a:r>
            <a:endParaRPr sz="1200" b="1" i="0">
              <a:solidFill>
                <a:srgbClr val="FFFFFF"/>
              </a:solidFill>
              <a:latin typeface="Calibri" panose="020F0502020204030204"/>
            </a:endParaRPr>
          </a:p>
        </p:txBody>
      </p:sp>
      <p:sp>
        <p:nvSpPr>
          <p:cNvPr id="19" name="TextBox 18"/>
          <p:cNvSpPr txBox="1"/>
          <p:nvPr/>
        </p:nvSpPr>
        <p:spPr>
          <a:xfrm>
            <a:off x="1225295" y="4933188"/>
            <a:ext cx="10308336" cy="694944"/>
          </a:xfrm>
          <a:prstGeom prst="rect">
            <a:avLst/>
          </a:prstGeom>
          <a:noFill/>
        </p:spPr>
        <p:txBody>
          <a:bodyPr wrap="square" lIns="0" tIns="0" rIns="0" bIns="0" anchor="t">
            <a:spAutoFit/>
          </a:bodyPr>
          <a:lstStyle/>
          <a:p>
            <a:pPr algn="l">
              <a:lnSpc>
                <a:spcPct val="130000"/>
              </a:lnSpc>
              <a:spcAft>
                <a:spcPts val="0"/>
              </a:spcAft>
            </a:pPr>
            <a:r>
              <a:rPr sz="1500" b="0" i="0">
                <a:solidFill>
                  <a:srgbClr val="1B2733"/>
                </a:solidFill>
                <a:latin typeface="Calibri" panose="020F0502020204030204"/>
              </a:rPr>
              <a:t>Nyaris tidak ada yang menyadari bahwa tidak ada seorang pun menjelaskan apa yang terjadi kalau nasabah menolak hasil taksiran.</a:t>
            </a:r>
            <a:endParaRPr sz="1500" b="0" i="0">
              <a:solidFill>
                <a:srgbClr val="1B2733"/>
              </a:solidFill>
              <a:latin typeface="Calibri" panose="020F050202020403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INTI SESI</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Pelajaran dari kasus ini</a:t>
            </a:r>
            <a:endParaRPr sz="3000" b="1" i="0">
              <a:solidFill>
                <a:srgbClr val="1B2733"/>
              </a:solidFill>
              <a:latin typeface="Calibri" panose="020F0502020204030204"/>
            </a:endParaRP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tIns="0" rIns="0" bIns="0" anchor="t">
            <a:spAutoFit/>
          </a:bodyPr>
          <a:lstStyle/>
          <a:p>
            <a:pPr algn="l">
              <a:lnSpc>
                <a:spcPct val="118000"/>
              </a:lnSpc>
              <a:spcAft>
                <a:spcPts val="0"/>
              </a:spcAft>
            </a:pPr>
            <a:r>
              <a:rPr sz="1350" b="1" i="0">
                <a:solidFill>
                  <a:srgbClr val="1B2733"/>
                </a:solidFill>
                <a:latin typeface="Calibri" panose="020F0502020204030204"/>
              </a:rPr>
              <a:t>Analis yang baik dinilai dari pertanyaan yang dia ajukan setelah wawancara, bukan dari diagram yang dia gambar.</a:t>
            </a:r>
            <a:endParaRPr sz="1350" b="1" i="0">
              <a:solidFill>
                <a:srgbClr val="1B2733"/>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28</a:t>
            </a:r>
            <a:endParaRPr sz="850" b="0" i="0">
              <a:solidFill>
                <a:srgbClr val="8A96A3"/>
              </a:solidFill>
              <a:latin typeface="Calibri" panose="020F0502020204030204"/>
            </a:endParaRPr>
          </a:p>
        </p:txBody>
      </p:sp>
      <p:sp>
        <p:nvSpPr>
          <p:cNvPr id="8" name="Rectangle 7"/>
          <p:cNvSpPr/>
          <p:nvPr/>
        </p:nvSpPr>
        <p:spPr>
          <a:xfrm>
            <a:off x="658368" y="2514600"/>
            <a:ext cx="10875264" cy="105156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2624328"/>
            <a:ext cx="9960864" cy="832103"/>
          </a:xfrm>
          <a:prstGeom prst="rect">
            <a:avLst/>
          </a:prstGeom>
          <a:noFill/>
        </p:spPr>
        <p:txBody>
          <a:bodyPr wrap="square" lIns="0" tIns="0" rIns="0" bIns="0" anchor="ctr">
            <a:spAutoFit/>
          </a:bodyPr>
          <a:lstStyle/>
          <a:p>
            <a:pPr algn="l">
              <a:lnSpc>
                <a:spcPct val="118000"/>
              </a:lnSpc>
              <a:spcAft>
                <a:spcPts val="0"/>
              </a:spcAft>
            </a:pPr>
            <a:r>
              <a:rPr sz="2000" b="1" i="0">
                <a:solidFill>
                  <a:srgbClr val="FFFFFF"/>
                </a:solidFill>
                <a:latin typeface="Calibri" panose="020F0502020204030204"/>
              </a:rPr>
              <a:t>Yang bertentangan itu gampang, tinggal dipilih. Yang kosong itu yang berbahaya.</a:t>
            </a:r>
            <a:endParaRPr sz="2000" b="1" i="0">
              <a:solidFill>
                <a:srgbClr val="FFFFFF"/>
              </a:solidFill>
              <a:latin typeface="Calibri" panose="020F0502020204030204"/>
            </a:endParaRPr>
          </a:p>
        </p:txBody>
      </p:sp>
      <p:sp>
        <p:nvSpPr>
          <p:cNvPr id="10" name="TextBox 9"/>
          <p:cNvSpPr txBox="1"/>
          <p:nvPr/>
        </p:nvSpPr>
        <p:spPr>
          <a:xfrm>
            <a:off x="658368" y="3877056"/>
            <a:ext cx="9352727" cy="585216"/>
          </a:xfrm>
          <a:prstGeom prst="rect">
            <a:avLst/>
          </a:prstGeom>
          <a:noFill/>
        </p:spPr>
        <p:txBody>
          <a:bodyPr wrap="square" lIns="0" tIns="0" rIns="0" bIns="0" anchor="t">
            <a:spAutoFit/>
          </a:bodyPr>
          <a:lstStyle/>
          <a:p>
            <a:pPr algn="l">
              <a:lnSpc>
                <a:spcPct val="135000"/>
              </a:lnSpc>
              <a:spcAft>
                <a:spcPts val="1200"/>
              </a:spcAft>
            </a:pPr>
            <a:r>
              <a:rPr sz="1500" b="0" i="0">
                <a:solidFill>
                  <a:srgbClr val="5A6672"/>
                </a:solidFill>
                <a:latin typeface="Calibri" panose="020F0502020204030204"/>
              </a:rPr>
              <a:t>Lubang di proses biasanya persis di tempat kasus paling sulit mendarat.</a:t>
            </a:r>
            <a:endParaRPr sz="1500" b="0" i="0">
              <a:solidFill>
                <a:srgbClr val="5A6672"/>
              </a:solidFill>
              <a:latin typeface="Calibri" panose="020F050202020403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DIBAWA PULANG</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Tiga hal yang dibawa pulang</a:t>
            </a:r>
            <a:endParaRPr sz="3000" b="1" i="0">
              <a:solidFill>
                <a:srgbClr val="1B2733"/>
              </a:solidFill>
              <a:latin typeface="Calibri" panose="020F0502020204030204"/>
            </a:endParaRPr>
          </a:p>
        </p:txBody>
      </p:sp>
      <p:sp>
        <p:nvSpPr>
          <p:cNvPr id="4" name="TextBox 3"/>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5" name="TextBox 4"/>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29</a:t>
            </a:r>
            <a:endParaRPr sz="850" b="0" i="0">
              <a:solidFill>
                <a:srgbClr val="8A96A3"/>
              </a:solidFill>
              <a:latin typeface="Calibri" panose="020F0502020204030204"/>
            </a:endParaRPr>
          </a:p>
        </p:txBody>
      </p:sp>
      <p:sp>
        <p:nvSpPr>
          <p:cNvPr id="6" name="Oval 5"/>
          <p:cNvSpPr/>
          <p:nvPr/>
        </p:nvSpPr>
        <p:spPr>
          <a:xfrm>
            <a:off x="658368" y="2711196"/>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766060"/>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1</a:t>
            </a:r>
            <a:endParaRPr sz="1200" b="1" i="0">
              <a:solidFill>
                <a:srgbClr val="FFFFFF"/>
              </a:solidFill>
              <a:latin typeface="Calibri" panose="020F0502020204030204"/>
            </a:endParaRPr>
          </a:p>
        </p:txBody>
      </p:sp>
      <p:sp>
        <p:nvSpPr>
          <p:cNvPr id="8" name="TextBox 7"/>
          <p:cNvSpPr txBox="1"/>
          <p:nvPr/>
        </p:nvSpPr>
        <p:spPr>
          <a:xfrm>
            <a:off x="1225295" y="2692908"/>
            <a:ext cx="10308336" cy="420623"/>
          </a:xfrm>
          <a:prstGeom prst="rect">
            <a:avLst/>
          </a:prstGeom>
          <a:noFill/>
        </p:spPr>
        <p:txBody>
          <a:bodyPr wrap="square" lIns="0" tIns="0" rIns="0" bIns="0" anchor="t">
            <a:spAutoFit/>
          </a:bodyPr>
          <a:lstStyle/>
          <a:p>
            <a:pPr algn="l">
              <a:lnSpc>
                <a:spcPct val="130000"/>
              </a:lnSpc>
              <a:spcAft>
                <a:spcPts val="0"/>
              </a:spcAft>
            </a:pPr>
            <a:r>
              <a:rPr sz="1500" b="0" i="0">
                <a:solidFill>
                  <a:srgbClr val="1B2733"/>
                </a:solidFill>
                <a:latin typeface="Calibri" panose="020F0502020204030204"/>
              </a:rPr>
              <a:t>Proses punya tiga versi. Tugasmu mendamaikan, bukan menyalin salah satunya.</a:t>
            </a:r>
            <a:endParaRPr sz="1500" b="0" i="0">
              <a:solidFill>
                <a:srgbClr val="1B2733"/>
              </a:solidFill>
              <a:latin typeface="Calibri" panose="020F0502020204030204"/>
            </a:endParaRPr>
          </a:p>
        </p:txBody>
      </p:sp>
      <p:sp>
        <p:nvSpPr>
          <p:cNvPr id="9" name="Oval 8"/>
          <p:cNvSpPr/>
          <p:nvPr/>
        </p:nvSpPr>
        <p:spPr>
          <a:xfrm>
            <a:off x="658368" y="3552444"/>
            <a:ext cx="365760" cy="36576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607308"/>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2</a:t>
            </a:r>
            <a:endParaRPr sz="1200" b="1" i="0">
              <a:solidFill>
                <a:srgbClr val="FFFFFF"/>
              </a:solidFill>
              <a:latin typeface="Calibri" panose="020F0502020204030204"/>
            </a:endParaRPr>
          </a:p>
        </p:txBody>
      </p:sp>
      <p:sp>
        <p:nvSpPr>
          <p:cNvPr id="11" name="TextBox 10"/>
          <p:cNvSpPr txBox="1"/>
          <p:nvPr/>
        </p:nvSpPr>
        <p:spPr>
          <a:xfrm>
            <a:off x="1225295" y="3534156"/>
            <a:ext cx="10308336" cy="420623"/>
          </a:xfrm>
          <a:prstGeom prst="rect">
            <a:avLst/>
          </a:prstGeom>
          <a:noFill/>
        </p:spPr>
        <p:txBody>
          <a:bodyPr wrap="square" lIns="0" tIns="0" rIns="0" bIns="0" anchor="t">
            <a:spAutoFit/>
          </a:bodyPr>
          <a:lstStyle/>
          <a:p>
            <a:pPr algn="l">
              <a:lnSpc>
                <a:spcPct val="130000"/>
              </a:lnSpc>
              <a:spcAft>
                <a:spcPts val="0"/>
              </a:spcAft>
            </a:pPr>
            <a:r>
              <a:rPr sz="1500" b="0" i="0">
                <a:solidFill>
                  <a:srgbClr val="1B2733"/>
                </a:solidFill>
                <a:latin typeface="Calibri" panose="020F0502020204030204"/>
              </a:rPr>
              <a:t>BPMN itu bahasa bersama. Gateway yang dibuka wajib ditutup, dan rework loop wajib digambar.</a:t>
            </a:r>
            <a:endParaRPr sz="1500" b="0" i="0">
              <a:solidFill>
                <a:srgbClr val="1B2733"/>
              </a:solidFill>
              <a:latin typeface="Calibri" panose="020F0502020204030204"/>
            </a:endParaRPr>
          </a:p>
        </p:txBody>
      </p:sp>
      <p:sp>
        <p:nvSpPr>
          <p:cNvPr id="12" name="Oval 11"/>
          <p:cNvSpPr/>
          <p:nvPr/>
        </p:nvSpPr>
        <p:spPr>
          <a:xfrm>
            <a:off x="658368" y="4393692"/>
            <a:ext cx="365760" cy="365760"/>
          </a:xfrm>
          <a:prstGeom prst="ellipse">
            <a:avLst/>
          </a:prstGeom>
          <a:solidFill>
            <a:srgbClr val="5B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448556"/>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3</a:t>
            </a:r>
            <a:endParaRPr sz="1200" b="1" i="0">
              <a:solidFill>
                <a:srgbClr val="FFFFFF"/>
              </a:solidFill>
              <a:latin typeface="Calibri" panose="020F0502020204030204"/>
            </a:endParaRPr>
          </a:p>
        </p:txBody>
      </p:sp>
      <p:sp>
        <p:nvSpPr>
          <p:cNvPr id="14" name="TextBox 13"/>
          <p:cNvSpPr txBox="1"/>
          <p:nvPr/>
        </p:nvSpPr>
        <p:spPr>
          <a:xfrm>
            <a:off x="1225295" y="4375404"/>
            <a:ext cx="10308336" cy="420623"/>
          </a:xfrm>
          <a:prstGeom prst="rect">
            <a:avLst/>
          </a:prstGeom>
          <a:noFill/>
        </p:spPr>
        <p:txBody>
          <a:bodyPr wrap="square" lIns="0" tIns="0" rIns="0" bIns="0" anchor="t">
            <a:spAutoFit/>
          </a:bodyPr>
          <a:lstStyle/>
          <a:p>
            <a:pPr algn="l">
              <a:lnSpc>
                <a:spcPct val="130000"/>
              </a:lnSpc>
              <a:spcAft>
                <a:spcPts val="0"/>
              </a:spcAft>
            </a:pPr>
            <a:r>
              <a:rPr sz="1500" b="0" i="0">
                <a:solidFill>
                  <a:srgbClr val="1B2733"/>
                </a:solidFill>
                <a:latin typeface="Calibri" panose="020F0502020204030204"/>
              </a:rPr>
              <a:t>Yang tidak disebut siapa pun lebih penting daripada yang bertentangan.</a:t>
            </a:r>
            <a:endParaRPr sz="1500" b="0" i="0">
              <a:solidFill>
                <a:srgbClr val="1B2733"/>
              </a:solidFill>
              <a:latin typeface="Calibri" panose="020F05020202040302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TUGAS MANDIRI</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Tugas mandiri</a:t>
            </a:r>
            <a:endParaRPr sz="3000" b="1" i="0">
              <a:solidFill>
                <a:srgbClr val="1B2733"/>
              </a:solidFill>
              <a:latin typeface="Calibri" panose="020F0502020204030204"/>
            </a:endParaRPr>
          </a:p>
        </p:txBody>
      </p:sp>
      <p:sp>
        <p:nvSpPr>
          <p:cNvPr id="4" name="Rectangle 3"/>
          <p:cNvSpPr/>
          <p:nvPr/>
        </p:nvSpPr>
        <p:spPr>
          <a:xfrm>
            <a:off x="658368" y="5276088"/>
            <a:ext cx="1005840" cy="3200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40680"/>
            <a:ext cx="10875264" cy="502920"/>
          </a:xfrm>
          <a:prstGeom prst="rect">
            <a:avLst/>
          </a:prstGeom>
          <a:noFill/>
        </p:spPr>
        <p:txBody>
          <a:bodyPr wrap="square" lIns="0" tIns="0" rIns="0" bIns="0" anchor="t">
            <a:spAutoFit/>
          </a:bodyPr>
          <a:lstStyle/>
          <a:p>
            <a:pPr algn="l">
              <a:lnSpc>
                <a:spcPct val="118000"/>
              </a:lnSpc>
              <a:spcAft>
                <a:spcPts val="0"/>
              </a:spcAft>
            </a:pPr>
            <a:r>
              <a:rPr sz="1350" b="1" i="0">
                <a:solidFill>
                  <a:srgbClr val="1B2733"/>
                </a:solidFill>
                <a:latin typeface="Calibri" panose="020F0502020204030204"/>
              </a:rPr>
              <a:t>Lembar tugas lengkap dengan rubrik dibagikan terpisah.</a:t>
            </a:r>
            <a:endParaRPr sz="1350" b="1" i="0">
              <a:solidFill>
                <a:srgbClr val="1B2733"/>
              </a:solidFill>
              <a:latin typeface="Calibri" panose="020F0502020204030204"/>
            </a:endParaRPr>
          </a:p>
        </p:txBody>
      </p:sp>
      <p:sp>
        <p:nvSpPr>
          <p:cNvPr id="6" name="TextBox 5"/>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7" name="TextBox 6"/>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30</a:t>
            </a:r>
            <a:endParaRPr sz="850" b="0" i="0">
              <a:solidFill>
                <a:srgbClr val="8A96A3"/>
              </a:solidFill>
              <a:latin typeface="Calibri" panose="020F0502020204030204"/>
            </a:endParaRPr>
          </a:p>
        </p:txBody>
      </p:sp>
      <p:sp>
        <p:nvSpPr>
          <p:cNvPr id="8" name="Rectangle 7"/>
          <p:cNvSpPr/>
          <p:nvPr/>
        </p:nvSpPr>
        <p:spPr>
          <a:xfrm>
            <a:off x="658368" y="2167128"/>
            <a:ext cx="10875264" cy="105156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2276856"/>
            <a:ext cx="9960864" cy="832103"/>
          </a:xfrm>
          <a:prstGeom prst="rect">
            <a:avLst/>
          </a:prstGeom>
          <a:noFill/>
        </p:spPr>
        <p:txBody>
          <a:bodyPr wrap="square" lIns="0" tIns="0" rIns="0" bIns="0" anchor="ctr">
            <a:spAutoFit/>
          </a:bodyPr>
          <a:lstStyle/>
          <a:p>
            <a:pPr algn="l">
              <a:lnSpc>
                <a:spcPct val="118000"/>
              </a:lnSpc>
              <a:spcAft>
                <a:spcPts val="0"/>
              </a:spcAft>
            </a:pPr>
            <a:r>
              <a:rPr sz="2000" b="1" i="0">
                <a:solidFill>
                  <a:srgbClr val="FFFFFF"/>
                </a:solidFill>
                <a:latin typeface="Calibri" panose="020F0502020204030204"/>
              </a:rPr>
              <a:t>Latihan 1: Model Proses dari Wawancara.</a:t>
            </a:r>
            <a:endParaRPr sz="2000" b="1" i="0">
              <a:solidFill>
                <a:srgbClr val="FFFFFF"/>
              </a:solidFill>
              <a:latin typeface="Calibri" panose="020F0502020204030204"/>
            </a:endParaRPr>
          </a:p>
        </p:txBody>
      </p:sp>
      <p:sp>
        <p:nvSpPr>
          <p:cNvPr id="10" name="TextBox 9"/>
          <p:cNvSpPr txBox="1"/>
          <p:nvPr/>
        </p:nvSpPr>
        <p:spPr>
          <a:xfrm>
            <a:off x="658368" y="3529584"/>
            <a:ext cx="9352727" cy="1280160"/>
          </a:xfrm>
          <a:prstGeom prst="rect">
            <a:avLst/>
          </a:prstGeom>
          <a:noFill/>
        </p:spPr>
        <p:txBody>
          <a:bodyPr wrap="square" lIns="0" tIns="0" rIns="0" bIns="0" anchor="t">
            <a:spAutoFit/>
          </a:bodyPr>
          <a:lstStyle/>
          <a:p>
            <a:pPr algn="l">
              <a:lnSpc>
                <a:spcPct val="135000"/>
              </a:lnSpc>
              <a:spcAft>
                <a:spcPts val="1200"/>
              </a:spcAft>
            </a:pPr>
            <a:r>
              <a:rPr sz="1500" b="0" i="0">
                <a:solidFill>
                  <a:srgbClr val="5A6672"/>
                </a:solidFill>
                <a:latin typeface="Calibri" panose="020F0502020204030204"/>
              </a:rPr>
              <a:t>Individu. Dikumpulkan sebelum Pertemuan 3 dimulai.</a:t>
            </a:r>
            <a:endParaRPr sz="1500" b="0" i="0">
              <a:solidFill>
                <a:srgbClr val="5A6672"/>
              </a:solidFill>
              <a:latin typeface="Calibri" panose="020F0502020204030204"/>
            </a:endParaRPr>
          </a:p>
          <a:p>
            <a:pPr algn="l">
              <a:lnSpc>
                <a:spcPct val="135000"/>
              </a:lnSpc>
              <a:spcAft>
                <a:spcPts val="1200"/>
              </a:spcAft>
            </a:pPr>
            <a:r>
              <a:rPr sz="1500" b="0" i="0">
                <a:solidFill>
                  <a:srgbClr val="5A6672"/>
                </a:solidFill>
                <a:latin typeface="Calibri" panose="020F0502020204030204"/>
              </a:rPr>
              <a:t>Ini cikal bakal Tugas 1 di Pertemuan 4, jadi kerjakan serius. Yang mengerjakan asal asalan akan kerja dua kali.</a:t>
            </a:r>
            <a:endParaRPr sz="1500" b="0" i="0">
              <a:solidFill>
                <a:srgbClr val="5A6672"/>
              </a:solidFill>
              <a:latin typeface="Calibri" panose="020F050202020403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57200"/>
            <a:ext cx="10875264" cy="274320"/>
          </a:xfrm>
          <a:prstGeom prst="rect">
            <a:avLst/>
          </a:prstGeom>
          <a:noFill/>
        </p:spPr>
        <p:txBody>
          <a:bodyPr wrap="square" lIns="0" tIns="0" rIns="0" bIns="0" anchor="t">
            <a:spAutoFit/>
          </a:bodyPr>
          <a:lstStyle/>
          <a:p>
            <a:pPr algn="l">
              <a:lnSpc>
                <a:spcPct val="100000"/>
              </a:lnSpc>
              <a:spcAft>
                <a:spcPts val="0"/>
              </a:spcAft>
            </a:pPr>
            <a:r>
              <a:rPr sz="1100" b="1" i="0">
                <a:solidFill>
                  <a:srgbClr val="0E7C86"/>
                </a:solidFill>
                <a:latin typeface="Calibri" panose="020F0502020204030204"/>
              </a:rPr>
              <a:t>PERSIAPAN</a:t>
            </a:r>
            <a:endParaRPr sz="1100" b="1" i="0">
              <a:solidFill>
                <a:srgbClr val="0E7C86"/>
              </a:solidFill>
              <a:latin typeface="Calibri" panose="020F0502020204030204"/>
            </a:endParaRPr>
          </a:p>
        </p:txBody>
      </p:sp>
      <p:sp>
        <p:nvSpPr>
          <p:cNvPr id="3" name="TextBox 2"/>
          <p:cNvSpPr txBox="1"/>
          <p:nvPr/>
        </p:nvSpPr>
        <p:spPr>
          <a:xfrm>
            <a:off x="658368" y="749808"/>
            <a:ext cx="10875264" cy="658368"/>
          </a:xfrm>
          <a:prstGeom prst="rect">
            <a:avLst/>
          </a:prstGeom>
          <a:noFill/>
        </p:spPr>
        <p:txBody>
          <a:bodyPr wrap="square" lIns="0" tIns="0" rIns="0" bIns="0" anchor="t">
            <a:spAutoFit/>
          </a:bodyPr>
          <a:lstStyle/>
          <a:p>
            <a:pPr algn="l">
              <a:lnSpc>
                <a:spcPct val="100000"/>
              </a:lnSpc>
              <a:spcAft>
                <a:spcPts val="0"/>
              </a:spcAft>
            </a:pPr>
            <a:r>
              <a:rPr sz="3000" b="1" i="0">
                <a:solidFill>
                  <a:srgbClr val="1B2733"/>
                </a:solidFill>
                <a:latin typeface="Calibri" panose="020F0502020204030204"/>
              </a:rPr>
              <a:t>Persiapan Pertemuan 3</a:t>
            </a:r>
            <a:endParaRPr sz="3000" b="1" i="0">
              <a:solidFill>
                <a:srgbClr val="1B2733"/>
              </a:solidFill>
              <a:latin typeface="Calibri" panose="020F0502020204030204"/>
            </a:endParaRPr>
          </a:p>
        </p:txBody>
      </p:sp>
      <p:sp>
        <p:nvSpPr>
          <p:cNvPr id="4" name="TextBox 3"/>
          <p:cNvSpPr txBox="1"/>
          <p:nvPr/>
        </p:nvSpPr>
        <p:spPr>
          <a:xfrm>
            <a:off x="658368" y="6327648"/>
            <a:ext cx="7315200" cy="256032"/>
          </a:xfrm>
          <a:prstGeom prst="rect">
            <a:avLst/>
          </a:prstGeom>
          <a:noFill/>
        </p:spPr>
        <p:txBody>
          <a:bodyPr wrap="square" lIns="0" tIns="0" rIns="0" bIns="0" anchor="t">
            <a:spAutoFit/>
          </a:bodyPr>
          <a:lstStyle/>
          <a:p>
            <a:pPr algn="l">
              <a:lnSpc>
                <a:spcPct val="100000"/>
              </a:lnSpc>
              <a:spcAft>
                <a:spcPts val="0"/>
              </a:spcAft>
            </a:pPr>
            <a:r>
              <a:rPr sz="850" b="0" i="0">
                <a:solidFill>
                  <a:srgbClr val="8A96A3"/>
                </a:solidFill>
                <a:latin typeface="Calibri" panose="020F0502020204030204"/>
              </a:rPr>
              <a:t>Process Discovery dan Pemodelan BPMN  |  Mahasiswa Informatika UKSW</a:t>
            </a:r>
            <a:endParaRPr sz="850" b="0" i="0">
              <a:solidFill>
                <a:srgbClr val="8A96A3"/>
              </a:solidFill>
              <a:latin typeface="Calibri" panose="020F0502020204030204"/>
            </a:endParaRPr>
          </a:p>
        </p:txBody>
      </p:sp>
      <p:sp>
        <p:nvSpPr>
          <p:cNvPr id="5" name="TextBox 4"/>
          <p:cNvSpPr txBox="1"/>
          <p:nvPr/>
        </p:nvSpPr>
        <p:spPr>
          <a:xfrm>
            <a:off x="10893552" y="6327648"/>
            <a:ext cx="640080" cy="256032"/>
          </a:xfrm>
          <a:prstGeom prst="rect">
            <a:avLst/>
          </a:prstGeom>
          <a:noFill/>
        </p:spPr>
        <p:txBody>
          <a:bodyPr wrap="square" lIns="0" tIns="0" rIns="0" bIns="0" anchor="t">
            <a:spAutoFit/>
          </a:bodyPr>
          <a:lstStyle/>
          <a:p>
            <a:pPr algn="r">
              <a:lnSpc>
                <a:spcPct val="100000"/>
              </a:lnSpc>
              <a:spcAft>
                <a:spcPts val="0"/>
              </a:spcAft>
            </a:pPr>
            <a:r>
              <a:rPr sz="850" b="0" i="0">
                <a:solidFill>
                  <a:srgbClr val="8A96A3"/>
                </a:solidFill>
                <a:latin typeface="Calibri" panose="020F0502020204030204"/>
              </a:rPr>
              <a:t>31</a:t>
            </a:r>
            <a:endParaRPr sz="850" b="0" i="0">
              <a:solidFill>
                <a:srgbClr val="8A96A3"/>
              </a:solidFill>
              <a:latin typeface="Calibri" panose="020F0502020204030204"/>
            </a:endParaRPr>
          </a:p>
        </p:txBody>
      </p:sp>
      <p:sp>
        <p:nvSpPr>
          <p:cNvPr id="6" name="Rectangle 5"/>
          <p:cNvSpPr/>
          <p:nvPr/>
        </p:nvSpPr>
        <p:spPr>
          <a:xfrm>
            <a:off x="658368" y="2884932"/>
            <a:ext cx="3442208" cy="1719072"/>
          </a:xfrm>
          <a:prstGeom prst="rect">
            <a:avLst/>
          </a:prstGeom>
          <a:solidFill>
            <a:srgbClr val="ECF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3122676"/>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177540"/>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1</a:t>
            </a:r>
            <a:endParaRPr sz="1200" b="1" i="0">
              <a:solidFill>
                <a:srgbClr val="FFFFFF"/>
              </a:solidFill>
              <a:latin typeface="Calibri" panose="020F0502020204030204"/>
            </a:endParaRPr>
          </a:p>
        </p:txBody>
      </p:sp>
      <p:sp>
        <p:nvSpPr>
          <p:cNvPr id="9" name="TextBox 8"/>
          <p:cNvSpPr txBox="1"/>
          <p:nvPr/>
        </p:nvSpPr>
        <p:spPr>
          <a:xfrm>
            <a:off x="1371600" y="3159252"/>
            <a:ext cx="2527808" cy="310896"/>
          </a:xfrm>
          <a:prstGeom prst="rect">
            <a:avLst/>
          </a:prstGeom>
          <a:noFill/>
        </p:spPr>
        <p:txBody>
          <a:bodyPr wrap="square" lIns="0" tIns="0" rIns="0" bIns="0" anchor="t">
            <a:spAutoFit/>
          </a:bodyPr>
          <a:lstStyle/>
          <a:p>
            <a:pPr algn="l">
              <a:lnSpc>
                <a:spcPct val="105000"/>
              </a:lnSpc>
              <a:spcAft>
                <a:spcPts val="0"/>
              </a:spcAft>
            </a:pPr>
            <a:r>
              <a:rPr sz="1600" b="1" i="0">
                <a:solidFill>
                  <a:srgbClr val="1B2733"/>
                </a:solidFill>
                <a:latin typeface="Calibri" panose="020F0502020204030204"/>
              </a:rPr>
              <a:t>Baca</a:t>
            </a:r>
            <a:endParaRPr sz="1600" b="1" i="0">
              <a:solidFill>
                <a:srgbClr val="1B2733"/>
              </a:solidFill>
              <a:latin typeface="Calibri" panose="020F0502020204030204"/>
            </a:endParaRPr>
          </a:p>
        </p:txBody>
      </p:sp>
      <p:sp>
        <p:nvSpPr>
          <p:cNvPr id="10" name="TextBox 9"/>
          <p:cNvSpPr txBox="1"/>
          <p:nvPr/>
        </p:nvSpPr>
        <p:spPr>
          <a:xfrm>
            <a:off x="914400" y="3616452"/>
            <a:ext cx="2930144" cy="804672"/>
          </a:xfrm>
          <a:prstGeom prst="rect">
            <a:avLst/>
          </a:prstGeom>
          <a:noFill/>
        </p:spPr>
        <p:txBody>
          <a:bodyPr wrap="square" lIns="0" tIns="0" rIns="0" bIns="0" anchor="t">
            <a:spAutoFit/>
          </a:bodyPr>
          <a:lstStyle/>
          <a:p>
            <a:pPr algn="l">
              <a:lnSpc>
                <a:spcPct val="132000"/>
              </a:lnSpc>
              <a:spcAft>
                <a:spcPts val="0"/>
              </a:spcAft>
            </a:pPr>
            <a:r>
              <a:rPr sz="1250" b="0" i="0">
                <a:solidFill>
                  <a:srgbClr val="5A6672"/>
                </a:solidFill>
                <a:latin typeface="Calibri" panose="020F0502020204030204"/>
              </a:rPr>
              <a:t>Dumas dkk Bab 4, bagian exception handling.</a:t>
            </a:r>
            <a:endParaRPr sz="1250" b="0" i="0">
              <a:solidFill>
                <a:srgbClr val="5A6672"/>
              </a:solidFill>
              <a:latin typeface="Calibri" panose="020F0502020204030204"/>
            </a:endParaRPr>
          </a:p>
        </p:txBody>
      </p:sp>
      <p:sp>
        <p:nvSpPr>
          <p:cNvPr id="11" name="Rectangle 10"/>
          <p:cNvSpPr/>
          <p:nvPr/>
        </p:nvSpPr>
        <p:spPr>
          <a:xfrm>
            <a:off x="4374896" y="2884932"/>
            <a:ext cx="3442208" cy="1719072"/>
          </a:xfrm>
          <a:prstGeom prst="rect">
            <a:avLst/>
          </a:prstGeom>
          <a:solidFill>
            <a:srgbClr val="EDF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630928" y="3122676"/>
            <a:ext cx="365760" cy="365760"/>
          </a:xfrm>
          <a:prstGeom prst="ellipse">
            <a:avLst/>
          </a:prstGeom>
          <a:solidFill>
            <a:srgbClr val="12A5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0928" y="3177540"/>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2</a:t>
            </a:r>
            <a:endParaRPr sz="1200" b="1" i="0">
              <a:solidFill>
                <a:srgbClr val="FFFFFF"/>
              </a:solidFill>
              <a:latin typeface="Calibri" panose="020F0502020204030204"/>
            </a:endParaRPr>
          </a:p>
        </p:txBody>
      </p:sp>
      <p:sp>
        <p:nvSpPr>
          <p:cNvPr id="14" name="TextBox 13"/>
          <p:cNvSpPr txBox="1"/>
          <p:nvPr/>
        </p:nvSpPr>
        <p:spPr>
          <a:xfrm>
            <a:off x="5088128" y="3159252"/>
            <a:ext cx="2527808" cy="310896"/>
          </a:xfrm>
          <a:prstGeom prst="rect">
            <a:avLst/>
          </a:prstGeom>
          <a:noFill/>
        </p:spPr>
        <p:txBody>
          <a:bodyPr wrap="square" lIns="0" tIns="0" rIns="0" bIns="0" anchor="t">
            <a:spAutoFit/>
          </a:bodyPr>
          <a:lstStyle/>
          <a:p>
            <a:pPr algn="l">
              <a:lnSpc>
                <a:spcPct val="105000"/>
              </a:lnSpc>
              <a:spcAft>
                <a:spcPts val="0"/>
              </a:spcAft>
            </a:pPr>
            <a:r>
              <a:rPr sz="1600" b="1" i="0">
                <a:solidFill>
                  <a:srgbClr val="1B2733"/>
                </a:solidFill>
                <a:latin typeface="Calibri" panose="020F0502020204030204"/>
              </a:rPr>
              <a:t>Bawa</a:t>
            </a:r>
            <a:endParaRPr sz="1600" b="1" i="0">
              <a:solidFill>
                <a:srgbClr val="1B2733"/>
              </a:solidFill>
              <a:latin typeface="Calibri" panose="020F0502020204030204"/>
            </a:endParaRPr>
          </a:p>
        </p:txBody>
      </p:sp>
      <p:sp>
        <p:nvSpPr>
          <p:cNvPr id="15" name="TextBox 14"/>
          <p:cNvSpPr txBox="1"/>
          <p:nvPr/>
        </p:nvSpPr>
        <p:spPr>
          <a:xfrm>
            <a:off x="4630928" y="3616452"/>
            <a:ext cx="2930144" cy="804672"/>
          </a:xfrm>
          <a:prstGeom prst="rect">
            <a:avLst/>
          </a:prstGeom>
          <a:noFill/>
        </p:spPr>
        <p:txBody>
          <a:bodyPr wrap="square" lIns="0" tIns="0" rIns="0" bIns="0" anchor="t">
            <a:spAutoFit/>
          </a:bodyPr>
          <a:lstStyle/>
          <a:p>
            <a:pPr algn="l">
              <a:lnSpc>
                <a:spcPct val="132000"/>
              </a:lnSpc>
              <a:spcAft>
                <a:spcPts val="0"/>
              </a:spcAft>
            </a:pPr>
            <a:r>
              <a:rPr sz="1250" b="0" i="0">
                <a:solidFill>
                  <a:srgbClr val="5A6672"/>
                </a:solidFill>
                <a:latin typeface="Calibri" panose="020F0502020204030204"/>
              </a:rPr>
              <a:t>Model BPMN hasil latihanmu, versi cetak.</a:t>
            </a:r>
            <a:endParaRPr sz="1250" b="0" i="0">
              <a:solidFill>
                <a:srgbClr val="5A6672"/>
              </a:solidFill>
              <a:latin typeface="Calibri" panose="020F0502020204030204"/>
            </a:endParaRPr>
          </a:p>
        </p:txBody>
      </p:sp>
      <p:sp>
        <p:nvSpPr>
          <p:cNvPr id="16" name="Rectangle 15"/>
          <p:cNvSpPr/>
          <p:nvPr/>
        </p:nvSpPr>
        <p:spPr>
          <a:xfrm>
            <a:off x="8091424" y="2884932"/>
            <a:ext cx="3442208" cy="1719072"/>
          </a:xfrm>
          <a:prstGeom prst="rect">
            <a:avLst/>
          </a:prstGeom>
          <a:solidFill>
            <a:srgbClr val="F3F2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347456" y="3122676"/>
            <a:ext cx="365760" cy="365760"/>
          </a:xfrm>
          <a:prstGeom prst="ellipse">
            <a:avLst/>
          </a:prstGeom>
          <a:solidFill>
            <a:srgbClr val="5B4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47456" y="3177540"/>
            <a:ext cx="365760" cy="274320"/>
          </a:xfrm>
          <a:prstGeom prst="rect">
            <a:avLst/>
          </a:prstGeom>
          <a:noFill/>
        </p:spPr>
        <p:txBody>
          <a:bodyPr wrap="square" lIns="0" tIns="0" rIns="0" bIns="0" anchor="t">
            <a:spAutoFit/>
          </a:bodyPr>
          <a:lstStyle/>
          <a:p>
            <a:pPr algn="ctr">
              <a:lnSpc>
                <a:spcPct val="100000"/>
              </a:lnSpc>
              <a:spcAft>
                <a:spcPts val="0"/>
              </a:spcAft>
            </a:pPr>
            <a:r>
              <a:rPr sz="1200" b="1" i="0">
                <a:solidFill>
                  <a:srgbClr val="FFFFFF"/>
                </a:solidFill>
                <a:latin typeface="Calibri" panose="020F0502020204030204"/>
              </a:rPr>
              <a:t>3</a:t>
            </a:r>
            <a:endParaRPr sz="1200" b="1" i="0">
              <a:solidFill>
                <a:srgbClr val="FFFFFF"/>
              </a:solidFill>
              <a:latin typeface="Calibri" panose="020F0502020204030204"/>
            </a:endParaRPr>
          </a:p>
        </p:txBody>
      </p:sp>
      <p:sp>
        <p:nvSpPr>
          <p:cNvPr id="19" name="TextBox 18"/>
          <p:cNvSpPr txBox="1"/>
          <p:nvPr/>
        </p:nvSpPr>
        <p:spPr>
          <a:xfrm>
            <a:off x="8804656" y="3159252"/>
            <a:ext cx="2527808" cy="310896"/>
          </a:xfrm>
          <a:prstGeom prst="rect">
            <a:avLst/>
          </a:prstGeom>
          <a:noFill/>
        </p:spPr>
        <p:txBody>
          <a:bodyPr wrap="square" lIns="0" tIns="0" rIns="0" bIns="0" anchor="t">
            <a:spAutoFit/>
          </a:bodyPr>
          <a:lstStyle/>
          <a:p>
            <a:pPr algn="l">
              <a:lnSpc>
                <a:spcPct val="105000"/>
              </a:lnSpc>
              <a:spcAft>
                <a:spcPts val="0"/>
              </a:spcAft>
            </a:pPr>
            <a:r>
              <a:rPr sz="1600" b="1" i="0">
                <a:solidFill>
                  <a:srgbClr val="1B2733"/>
                </a:solidFill>
                <a:latin typeface="Calibri" panose="020F0502020204030204"/>
              </a:rPr>
              <a:t>Pikirkan</a:t>
            </a:r>
            <a:endParaRPr sz="1600" b="1" i="0">
              <a:solidFill>
                <a:srgbClr val="1B2733"/>
              </a:solidFill>
              <a:latin typeface="Calibri" panose="020F0502020204030204"/>
            </a:endParaRPr>
          </a:p>
        </p:txBody>
      </p:sp>
      <p:sp>
        <p:nvSpPr>
          <p:cNvPr id="20" name="TextBox 19"/>
          <p:cNvSpPr txBox="1"/>
          <p:nvPr/>
        </p:nvSpPr>
        <p:spPr>
          <a:xfrm>
            <a:off x="8347456" y="3616452"/>
            <a:ext cx="2930144" cy="804672"/>
          </a:xfrm>
          <a:prstGeom prst="rect">
            <a:avLst/>
          </a:prstGeom>
          <a:noFill/>
        </p:spPr>
        <p:txBody>
          <a:bodyPr wrap="square" lIns="0" tIns="0" rIns="0" bIns="0" anchor="t">
            <a:spAutoFit/>
          </a:bodyPr>
          <a:lstStyle/>
          <a:p>
            <a:pPr algn="l">
              <a:lnSpc>
                <a:spcPct val="132000"/>
              </a:lnSpc>
              <a:spcAft>
                <a:spcPts val="0"/>
              </a:spcAft>
            </a:pPr>
            <a:r>
              <a:rPr sz="1250" b="0" i="0">
                <a:solidFill>
                  <a:srgbClr val="5A6672"/>
                </a:solidFill>
                <a:latin typeface="Calibri" panose="020F0502020204030204"/>
              </a:rPr>
              <a:t>Di prosesmu, aturan mana yang bisa ditulis jadi tabel jika kondisi A maka hasil B?</a:t>
            </a:r>
            <a:endParaRPr sz="1250" b="0" i="0">
              <a:solidFill>
                <a:srgbClr val="5A6672"/>
              </a:solidFill>
              <a:latin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12042</Words>
  <Application>WPS Presentation</Application>
  <PresentationFormat>On-screen Show (16:9)</PresentationFormat>
  <Paragraphs>698</Paragraphs>
  <Slides>31</Slides>
  <Notes>34</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31</vt:i4>
      </vt:variant>
    </vt:vector>
  </HeadingPairs>
  <TitlesOfParts>
    <vt:vector size="38" baseType="lpstr">
      <vt:lpstr>Arial</vt:lpstr>
      <vt:lpstr>SimSun</vt:lpstr>
      <vt:lpstr>Wingdings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Pertemuan 1 - Dari BPM ke Agentic Enterprise</dc:title>
  <dc:creator>Fernando Widjaja</dc:creator>
  <dc:subject>PptxGenJS Presentation</dc:subject>
  <cp:lastModifiedBy>Fernando Widjaja</cp:lastModifiedBy>
  <cp:revision>2</cp:revision>
  <dcterms:created xsi:type="dcterms:W3CDTF">2026-09-08T08:05:00Z</dcterms:created>
  <dcterms:modified xsi:type="dcterms:W3CDTF">2026-09-16T02:20:00Z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6A1EE80E1FC345F1B73D0338DC3B019B_12</vt:lpwstr>
  </property>
  <property fmtid="{D5CDD505-2E9C-101B-9397-08002B2CF9AE}" pid="3" name="KSOProductBuildVer">
    <vt:lpwstr>1033-12.1.0.25830</vt:lpwstr>
  </property>
</Properties>
</file>